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C2321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C2321"/>
                </a:solidFill>
                <a:latin typeface="Calibri"/>
              </a:rPr>
              <a:t>Unidades en stock frente al punto de reorden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Stock actual</c:v>
                </c:pt>
              </c:strCache>
            </c:strRef>
          </c:tx>
          <c:spPr>
            <a:solidFill>
              <a:srgbClr val="00A3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D6B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Vitaminas 60 tabs</c:v>
                  </c:pt>
                  <c:pt idx="1">
                    <c:v>Alimento cachorro 3 kg</c:v>
                  </c:pt>
                  <c:pt idx="2">
                    <c:v>Antipulgas pipeta</c:v>
                  </c:pt>
                  <c:pt idx="3">
                    <c:v>Correa retráctil</c:v>
                  </c:pt>
                  <c:pt idx="4">
                    <c:v>Alimento perro 15 kg</c:v>
                  </c:pt>
                  <c:pt idx="5">
                    <c:v>Arena sanitaria 10 kg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</c:v>
                </c:pt>
                <c:pt idx="1">
                  <c:v>6</c:v>
                </c:pt>
                <c:pt idx="2">
                  <c:v>9</c:v>
                </c:pt>
                <c:pt idx="3">
                  <c:v>12</c:v>
                </c:pt>
                <c:pt idx="4">
                  <c:v>24</c:v>
                </c:pt>
                <c:pt idx="5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Punto de reorden</c:v>
                </c:pt>
              </c:strCache>
            </c:strRef>
          </c:tx>
          <c:spPr>
            <a:solidFill>
              <a:srgbClr val="BE731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5D6B66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Vitaminas 60 tabs</c:v>
                  </c:pt>
                  <c:pt idx="1">
                    <c:v>Alimento cachorro 3 kg</c:v>
                  </c:pt>
                  <c:pt idx="2">
                    <c:v>Antipulgas pipeta</c:v>
                  </c:pt>
                  <c:pt idx="3">
                    <c:v>Correa retráctil</c:v>
                  </c:pt>
                  <c:pt idx="4">
                    <c:v>Alimento perro 15 kg</c:v>
                  </c:pt>
                  <c:pt idx="5">
                    <c:v>Arena sanitaria 10 kg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</c:v>
                </c:pt>
                <c:pt idx="1">
                  <c:v>8</c:v>
                </c:pt>
                <c:pt idx="2">
                  <c:v>6</c:v>
                </c:pt>
                <c:pt idx="3">
                  <c:v>5</c:v>
                </c:pt>
                <c:pt idx="4">
                  <c:v>10</c:v>
                </c:pt>
                <c:pt idx="5">
                  <c:v>12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5D6B66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D6B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"/>
        </c:scaling>
        <c:delete val="0"/>
        <c:axPos val="b"/>
        <c:majorGridlines>
          <c:spPr>
            <a:ln w="12700" cap="flat">
              <a:solidFill>
                <a:srgbClr val="D9E5D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D6B66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C232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 la Entrega 2. En la Entrega 1 definimos el modelo de negocio; aquí lo traducimos a una arquitectura de software concreta: requerimientos, modelo de datos y diseño de pantallas.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problemas centrales del diagnóstico y como los resuelve el diseño. La idea clave: las reglas críticas no quedan en la aplicación, quedan en la base de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requerimientos funcionales. Los RF-01 a RF-03 sostienen el comercio electrónico, el RF-04 y RF-05 la parte de salud animal, y el RF-06 conecta ambos con el inventario.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RNF-03 es el mas exigente y es el que guia el diseño del procedimiento de compra que veremos mas adelante.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tablas. Las relaciones principales: un cliente tiene muchas mascotas y muchos pedidos; un pedido contiene varios productos; cada cita genera un único registro clinico.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punto de fondo: una regla escrita en la base de datos no se puede saltar, mientras que una regla escrita solo en la aplicación 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criterio de diseño parte de un hecho: la mayor parte del trafico viene de dueños que compran desde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tres productos en rojo del ejemplo son los que dispararian la solicitud de reposición al proveedor, que es el componente SRM del ecosistema descrito en la Entrega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regla principal es no duplicar líneas. Si el profesor pregunta por que no se guarda el subtotal: porque un dato derivado almacenado se desincroniza en cuanto cambia la cantidad.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pasos 5 y 6 no los dispara el usuario: los ejecuta el sistema dentro de la misma transacción, por eso no puede quedar un pedido pagado sin stock descontado.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idea que hay que transmitir: no se confia en una sola comprobación. Si el orden de las operaciones falla, la restricción del motor sigue impidiendo el dato invalido.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sitio es la evidencia practica de la entrega. No es la plataforma en funcionamiento: es el sitio institucional que presenta el negocio y su propuesta digital.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Recordar que esta entrega es de diseño: los requerimientos, el modelo de datos y el algoritmo estan definidos y verificados, y la implementación completa es el paso siguiente.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VetPetSurco/b8d13659-c8d7-578f-913d-52522fae5ff2/scratchpad/ppt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212848"/>
            <a:ext cx="1234440" cy="12344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514600" y="2084832"/>
            <a:ext cx="8778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VetPet Connect</a:t>
            </a:r>
            <a:endParaRPr lang="en-US" sz="4800" dirty="0"/>
          </a:p>
        </p:txBody>
      </p:sp>
      <p:sp>
        <p:nvSpPr>
          <p:cNvPr id="4" name="Text 1"/>
          <p:cNvSpPr txBox="1"/>
          <p:nvPr/>
        </p:nvSpPr>
        <p:spPr>
          <a:xfrm>
            <a:off x="2514600" y="2962656"/>
            <a:ext cx="8778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2  ·  Arquitectura de Software y Core Transaccional</a:t>
            </a:r>
            <a:endParaRPr lang="en-US" sz="1900" dirty="0"/>
          </a:p>
        </p:txBody>
      </p:sp>
      <p:sp>
        <p:nvSpPr>
          <p:cNvPr id="5" name="Text 2"/>
          <p:cNvSpPr txBox="1"/>
          <p:nvPr/>
        </p:nvSpPr>
        <p:spPr>
          <a:xfrm>
            <a:off x="2514600" y="340156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integral de comercio electrónico y salud animal para centros veterinarios y pet shops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525780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VetPet Surco E.I.R.L.  ·  Modelo B2C</a:t>
            </a:r>
            <a:endParaRPr lang="en-US" sz="13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de E-business  ·  Semana 5  ·  Equipo 4  ·  Lima, Perú —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la Entrega 1 a la Entrega 2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problema del diagnóstico tiene ahora una respuesta concreta en la arquitectura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4846320" cy="1298448"/>
          </a:xfrm>
          <a:prstGeom prst="roundRect">
            <a:avLst>
              <a:gd name="adj" fmla="val 352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190195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por teléfono y WhatsApp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212848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cruzan los horarios y se pierden clientes que no logran comunicarse.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623560" y="2139696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6446520" y="1755648"/>
            <a:ext cx="5102352" cy="1298448"/>
          </a:xfrm>
          <a:prstGeom prst="roundRect">
            <a:avLst>
              <a:gd name="adj" fmla="val 3521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702552" y="1901952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citas con horario único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625328" y="190195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702552" y="2212848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restricción UNIQUE por veterinario y fecha bloquea el cruce en el motor.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273552"/>
            <a:ext cx="4846320" cy="1298448"/>
          </a:xfrm>
          <a:prstGeom prst="roundRect">
            <a:avLst>
              <a:gd name="adj" fmla="val 352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6112" y="341985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clínicas en papel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896112" y="3730752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se pierde y no puede consultarse de forma remota.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623560" y="36576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6446520" y="3273552"/>
            <a:ext cx="5102352" cy="1298448"/>
          </a:xfrm>
          <a:prstGeom prst="roundRect">
            <a:avLst>
              <a:gd name="adj" fmla="val 3521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02552" y="341985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 clínica digital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625328" y="34198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702552" y="3730752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atención guarda su próxima fecha, que alimenta el recordatorio automático.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40080" y="4791456"/>
            <a:ext cx="4846320" cy="1298448"/>
          </a:xfrm>
          <a:prstGeom prst="roundRect">
            <a:avLst>
              <a:gd name="adj" fmla="val 3521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6112" y="493776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 en un cuaderno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96112" y="5248656"/>
            <a:ext cx="43891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Quiebres de stock en los productos de mayor rotación.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623560" y="5175504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4" name="Shape 22"/>
          <p:cNvSpPr/>
          <p:nvPr/>
        </p:nvSpPr>
        <p:spPr>
          <a:xfrm>
            <a:off x="6446520" y="4791456"/>
            <a:ext cx="5102352" cy="1298448"/>
          </a:xfrm>
          <a:prstGeom prst="roundRect">
            <a:avLst>
              <a:gd name="adj" fmla="val 3521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02552" y="4937760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con punto de reorden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625328" y="49377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6702552" y="5248656"/>
            <a:ext cx="4617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pedido confirmado descuenta el stock y dispara la alerta de reposición.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funcionales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módulos, cada uno atado a un problema real del negocio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3429914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188366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77824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77824" y="2377440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77824" y="2779776"/>
            <a:ext cx="29544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de sesión con roles estrictos: Cliente, Veterinario y Administrador. Cada rol accede solo a sus módulos.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80890" y="1664208"/>
            <a:ext cx="3429914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8634" y="188366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18634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112410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618634" y="2377440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 y carrito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4618634" y="2779776"/>
            <a:ext cx="29544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por categoría, carrito de compras y generación del pedido con su detalle y monto total.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21701" y="1664208"/>
            <a:ext cx="3429914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59445" y="1883664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359445" y="18836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853221" y="190195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359445" y="2377440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Suscripción mensual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359445" y="2779776"/>
            <a:ext cx="29544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con frecuencia de despacho que genera el pedido recurrente en la fecha programada.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3877056"/>
            <a:ext cx="3429914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77824" y="409651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77824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137160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877824" y="4590288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 de citas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877824" y="4992624"/>
            <a:ext cx="29544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 de servicio, fecha y hora dentro de los horarios efectivamente disponibles del profesional.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380890" y="3877056"/>
            <a:ext cx="3429914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18634" y="409651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618634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112410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618634" y="4590288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Historia clínica y alertas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618634" y="4992624"/>
            <a:ext cx="29544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diagnóstico, tratamiento y vacunas, con aviso automático antes del próximo control.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8121701" y="3877056"/>
            <a:ext cx="3429914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59445" y="409651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359445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853221" y="411480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RF-06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8359445" y="4590288"/>
            <a:ext cx="295442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 en tiempo real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8359445" y="4992624"/>
            <a:ext cx="295442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pedido descuenta el stock y, al llegar al punto de reorden, alerta al Administrador.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Requerimientos no funcionales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condiciones de calidad que el sistema debe cumplir para ser usable en Surco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272888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48256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536192" y="2029968"/>
            <a:ext cx="4084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responsivo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36192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07792"/>
            <a:ext cx="472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interfaz es 100% adaptable a móvil: la mayoría de dueños compra y reserva desde el celular.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78728" y="1755648"/>
            <a:ext cx="5272888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53048" y="2048256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553048" y="2048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174840" y="2029968"/>
            <a:ext cx="4084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 y datos personales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7174840" y="2542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553048" y="2907792"/>
            <a:ext cx="472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cifradas con hash BCrypt y tratamiento conforme a la Ley N.° 29733 del Perú.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986784"/>
            <a:ext cx="5272888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14400" y="4279392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536192" y="4261104"/>
            <a:ext cx="4084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Persistencia y concurrencia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536192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RNF-03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5138928"/>
            <a:ext cx="472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y reservas simultáneas sin bloqueos ni sobreventa en las tablas críticas.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78728" y="3986784"/>
            <a:ext cx="5272888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53048" y="4279392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553048" y="4279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7174840" y="4261104"/>
            <a:ext cx="40841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Rendimiento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174840" y="47731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RNF-04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53048" y="5138928"/>
            <a:ext cx="472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catálogo carga en menos de 3 segundos con una conexión móvil estándar.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datos relacional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Ocho tablas normalizadas en MySQL 8.0, agrupadas según los tres pilares del modelo B2C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27632"/>
            <a:ext cx="3429914" cy="4343400"/>
          </a:xfrm>
          <a:prstGeom prst="roundRect">
            <a:avLst>
              <a:gd name="adj" fmla="val 133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6537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286000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Cuentas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914400" y="2761488"/>
            <a:ext cx="288127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97280" y="2834640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usuarios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127248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CLIENTE, VETERINARIO y ADMIN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14400" y="3584448"/>
            <a:ext cx="288127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657600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mascotas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3950208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del animal y su dueño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80890" y="1627632"/>
            <a:ext cx="3429914" cy="4343400"/>
          </a:xfrm>
          <a:prstGeom prst="roundRect">
            <a:avLst>
              <a:gd name="adj" fmla="val 133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5210" y="186537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655210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4655210" y="2286000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Comercio electrónico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4655210" y="2761488"/>
            <a:ext cx="288127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838090" y="2834640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4838090" y="3127248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Catálogo, stock y punto de reorden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655210" y="3584448"/>
            <a:ext cx="288127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38090" y="3657600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4838090" y="3950208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Cabecera, origen y estado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55210" y="4407408"/>
            <a:ext cx="288127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38090" y="4480560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detalle_pedidos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838090" y="4773168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carrito ya confirmado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55210" y="5230368"/>
            <a:ext cx="288127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838090" y="5303520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suscripciones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4838090" y="5596128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mensual y próximo despacho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8121701" y="1627632"/>
            <a:ext cx="3429914" cy="4343400"/>
          </a:xfrm>
          <a:prstGeom prst="roundRect">
            <a:avLst>
              <a:gd name="adj" fmla="val 1333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96021" y="1865376"/>
            <a:ext cx="329184" cy="329184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396021" y="18653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8396021" y="2286000"/>
            <a:ext cx="288127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Salud animal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8396021" y="2761488"/>
            <a:ext cx="288127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578901" y="2834640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citas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8578901" y="3127248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con horario único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8396021" y="3584448"/>
            <a:ext cx="2881274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78901" y="3657600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7A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historias_clinicas</a:t>
            </a:r>
            <a:endParaRPr lang="en-US" sz="1250" dirty="0"/>
          </a:p>
        </p:txBody>
      </p:sp>
      <p:sp>
        <p:nvSpPr>
          <p:cNvPr id="39" name="Text 37"/>
          <p:cNvSpPr txBox="1"/>
          <p:nvPr/>
        </p:nvSpPr>
        <p:spPr>
          <a:xfrm>
            <a:off x="8578901" y="3950208"/>
            <a:ext cx="251551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y próximo control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640080" y="629107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ejecutable en basedatos/01_esquema.sql  ·  motor InnoDB  ·  tres vistas de apoyo al dashboard administrativo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Cuatro decisiones que sostienen el modelo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 resueltas en el esquema, no en el código de la aplicación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810512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98448" y="1737360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uk_agenda (veterinario_id, fecha_hora)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298448" y="208483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Restricción UNIQUE que impide a dos clientes reservar el mismo horario con el mismo veterinario. El cruce de citas se vuelve imposible a nivel de motor.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2980944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980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298448" y="2907792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pedidos.tipo_origen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298448" y="3255264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Distingue una compra puntual de un despacho generado por la suscripción, y permite medir el ingreso recurrente que plantea el objetivo del proyecto.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4151376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1513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298448" y="4078224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productos.punto_reorden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298448" y="4425696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Sostiene la alerta automática de reposición hacia el proveedor sin necesidad de una tabla adicional ni de un proceso aparte.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5321808"/>
            <a:ext cx="457200" cy="45720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5321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298448" y="5248656"/>
            <a:ext cx="10515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historias_clinicas.proxima_fecha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298448" y="559612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el dato del que se alimenta el recordatorio de vacunación y desparasitación, el mecanismo con el que se reducen las inasistencias.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Diseño de interfaz: cuatro pantallas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resuelta en pocos pasos y con elementos de gran superficie táctil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5272888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75104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Catálogo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212184" y="2011680"/>
            <a:ext cx="1426464" cy="329184"/>
          </a:xfrm>
          <a:prstGeom prst="roundRect">
            <a:avLst>
              <a:gd name="adj" fmla="val 13888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212184" y="20116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523744"/>
            <a:ext cx="4724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Buscador y filtros por categoría. Cada producto en una tarjeta con imagen, precio e indicador de stock; el botón flotante de carrito muestra contador y subtotal.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78728" y="1755648"/>
            <a:ext cx="5272888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53048" y="1975104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 de cita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9850831" y="2011680"/>
            <a:ext cx="1426464" cy="329184"/>
          </a:xfrm>
          <a:prstGeom prst="roundRect">
            <a:avLst>
              <a:gd name="adj" fmla="val 13888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850831" y="2011680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553048" y="2523744"/>
            <a:ext cx="4724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tres pasos: mascota, servicio y horario. Los bloques ya ocupados aparecen deshabilitados, de modo que no se puede elegir uno no disponible.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5272888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4206240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Ficha clínica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4212184" y="4242816"/>
            <a:ext cx="1426464" cy="329184"/>
          </a:xfrm>
          <a:prstGeom prst="roundRect">
            <a:avLst>
              <a:gd name="adj" fmla="val 13888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212184" y="424281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Veterinario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754880"/>
            <a:ext cx="4724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base de la mascota a la izquierda e historial de atenciones en línea de tiempo a la derecha, con botón para registrar la nueva atención.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78728" y="3986784"/>
            <a:ext cx="5272888" cy="1975104"/>
          </a:xfrm>
          <a:prstGeom prst="roundRect">
            <a:avLst>
              <a:gd name="adj" fmla="val 2315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53048" y="4206240"/>
            <a:ext cx="32612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21" name="Shape 19"/>
          <p:cNvSpPr/>
          <p:nvPr/>
        </p:nvSpPr>
        <p:spPr>
          <a:xfrm>
            <a:off x="9850831" y="4242816"/>
            <a:ext cx="1426464" cy="329184"/>
          </a:xfrm>
          <a:prstGeom prst="roundRect">
            <a:avLst>
              <a:gd name="adj" fmla="val 138889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9850831" y="4242816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4754880"/>
            <a:ext cx="4724248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Ventas del mes, suscripciones activas y pedidos pendientes. El inventario se resalta con un semáforo según el punto de reorden.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semáforo de inventario del dashboard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Administrador ve de un vistazo que reponer, comparando el stock con su punto de reorden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27632"/>
          <a:ext cx="6858000" cy="431596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18120" y="170078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Regla del semáforo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818120" y="2286000"/>
            <a:ext cx="256032" cy="256032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83880" y="22311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ROJO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560320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igual o por debajo del punto de reorden. Reponer ahora.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818120" y="3346704"/>
            <a:ext cx="256032" cy="256032"/>
          </a:xfrm>
          <a:prstGeom prst="ellipse">
            <a:avLst/>
          </a:prstGeom>
          <a:solidFill>
            <a:srgbClr val="D98C00"/>
          </a:solidFill>
          <a:ln w="12700">
            <a:solidFill>
              <a:srgbClr val="D98C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183880" y="329184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ÁMBAR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183880" y="3621024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por debajo del doble del punto de reorden. Vigilar.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818120" y="4407408"/>
            <a:ext cx="256032" cy="256032"/>
          </a:xfrm>
          <a:prstGeom prst="ellipse">
            <a:avLst/>
          </a:prstGeom>
          <a:solidFill>
            <a:srgbClr val="2E7D5B"/>
          </a:solidFill>
          <a:ln w="12700">
            <a:solidFill>
              <a:srgbClr val="2E7D5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183880" y="43525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2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8183880" y="4681728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suficiente. No requiere acción.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7818120" y="5468112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como la vista v_semaforo_inventario, de modo que el dashboard consulta el estado ya calculado.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Algoritmo del carrito de compras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 CarritoCompra, en el paquete pe.vetpetsurco.carrito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664208"/>
            <a:ext cx="6537960" cy="4041648"/>
          </a:xfrm>
          <a:prstGeom prst="roundRect">
            <a:avLst>
              <a:gd name="adj" fmla="val 905"/>
            </a:avLst>
          </a:prstGeom>
          <a:solidFill>
            <a:srgbClr val="1C2321"/>
          </a:solidFill>
          <a:ln w="12700">
            <a:solidFill>
              <a:srgbClr val="1C23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883664"/>
            <a:ext cx="5989320" cy="3602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void agregarProducto(int productoId,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String nombre, double precio, int cantidad)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(ItemCarrito item : items)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if (item.getProductoId() == productoId) {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item.setCantidad(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 item.getCantidad() + cantidad);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return;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}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items.add(new ItemCarrito(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productoId, nombre, precio, cantidad));</a:t>
            </a:r>
            <a:endParaRPr lang="en-US" sz="11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E8ED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589520" y="177393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589520" y="1773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19872" y="17373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 líneas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19872" y="2084832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producto ya está en el carrito, solo acumula la cantidad. Eso respeta la restricción uk_linea_pedido del esquema.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89520" y="314553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9520" y="31455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119872" y="31089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subtotal no se guarda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119872" y="3456432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recalcula siempre como precio x cantidad, así que nunca queda desactualizado al cambiar la cantidad.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589520" y="4517136"/>
            <a:ext cx="365760" cy="36576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589520" y="45171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119872" y="4480560"/>
            <a:ext cx="3474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toca el inventario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119872" y="4828032"/>
            <a:ext cx="34747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carrito vive en la sesión del cliente; el stock se valida y se descuenta en la base de datos.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7589520" y="5852160"/>
            <a:ext cx="3977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7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clase DemoCarrito ejecuta el algoritmo y verifica estas reglas: compila y pasa en la integración continua del repositorio.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lógico de la transacción de compra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pasos desde la acción del cliente hasta la alerta de reposición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5564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700784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11680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el correo y el hash de la contraseña, y carga el rol CLIENTE.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40080" y="2798064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88720" y="2743200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Agrega productos al carrito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054096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 agregarProducto() y actualiza el contador y el subtotal.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88720" y="3785616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el pedido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96512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que el stock actual alcance para cada línea solicitada.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40080" y="4882896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882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88720" y="4828032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el pago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138928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Inserta pedidos y detalle_pedidos dentro de una misma transacción.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278728" y="1755648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728" y="17556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6827368" y="1700784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Descuenta el inventario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6827368" y="2011680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 el stock de cada producto en tiempo real.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278728" y="2798064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278728" y="2798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6827368" y="2743200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el punto de reorden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6827368" y="3054096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stock queda por debajo, genera la alerta de reposición.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78728" y="3840480"/>
            <a:ext cx="384048" cy="384048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78728" y="38404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6827368" y="3785616"/>
            <a:ext cx="47242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al cliente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6827368" y="4096512"/>
            <a:ext cx="47242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el correo de confirmación y limpia el carrito.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78728" y="4828032"/>
            <a:ext cx="5272888" cy="1170432"/>
          </a:xfrm>
          <a:prstGeom prst="roundRect">
            <a:avLst>
              <a:gd name="adj" fmla="val 3906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534760" y="4974336"/>
            <a:ext cx="476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el paso 3 el stock es insuficiente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6534760" y="5285232"/>
            <a:ext cx="47608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transacción no se registra: ROLLBACK completo y el cliente vuelve al carrito con la cantidad realmente disponible.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barreras contra la sobreventa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RNF-03 exige compras simultáneas sin sobreventa: se resuelve en capas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773936"/>
            <a:ext cx="3417722" cy="3566160"/>
          </a:xfrm>
          <a:prstGeom prst="roundRect">
            <a:avLst>
              <a:gd name="adj" fmla="val 133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56816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3054096"/>
            <a:ext cx="286908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Bloqueo de filas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40480"/>
            <a:ext cx="28690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cursor FOR UPDATE bloquea los productos del pedido mientras dura la transacción. Dos compras simultáneas del mismo artículo no pueden leer el mismo stock disponible.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6986" y="1773936"/>
            <a:ext cx="3417722" cy="3566160"/>
          </a:xfrm>
          <a:prstGeom prst="roundRect">
            <a:avLst>
              <a:gd name="adj" fmla="val 1338"/>
            </a:avLst>
          </a:prstGeom>
          <a:solidFill>
            <a:srgbClr val="EEF5F1"/>
          </a:solidFill>
          <a:ln w="12700">
            <a:solidFill>
              <a:srgbClr val="D9E5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661306" y="1956816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200" dirty="0"/>
          </a:p>
        </p:txBody>
      </p:sp>
      <p:sp>
        <p:nvSpPr>
          <p:cNvPr id="10" name="Text 8"/>
          <p:cNvSpPr txBox="1"/>
          <p:nvPr/>
        </p:nvSpPr>
        <p:spPr>
          <a:xfrm>
            <a:off x="4661306" y="3054096"/>
            <a:ext cx="286908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Validación previa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4661306" y="3840480"/>
            <a:ext cx="28690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alguna línea supera el stock, SIGNAL aborta el procedimiento y el EXIT HANDLER revierte todo. El mensaje devuelve la cantidad realmente disponible.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33893" y="1773936"/>
            <a:ext cx="3417722" cy="3566160"/>
          </a:xfrm>
          <a:prstGeom prst="roundRect">
            <a:avLst>
              <a:gd name="adj" fmla="val 1338"/>
            </a:avLst>
          </a:prstGeom>
          <a:solidFill>
            <a:srgbClr val="14524A"/>
          </a:solidFill>
          <a:ln w="12700">
            <a:solidFill>
              <a:srgbClr val="14524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408213" y="1956816"/>
            <a:ext cx="286908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200" dirty="0"/>
          </a:p>
        </p:txBody>
      </p:sp>
      <p:sp>
        <p:nvSpPr>
          <p:cNvPr id="14" name="Text 12"/>
          <p:cNvSpPr txBox="1"/>
          <p:nvPr/>
        </p:nvSpPr>
        <p:spPr>
          <a:xfrm>
            <a:off x="8408213" y="3054096"/>
            <a:ext cx="286908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Restricción del motor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8408213" y="3840480"/>
            <a:ext cx="286908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(stock_actual &gt;= 0) impide un inventario negativo aunque fallara todo lo anterior. Es la última línea de defensa.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629107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esto vive en el procedimiento sp_confirmar_pedido  ·  basedatos/03_transaccion_compra.sql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452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Evidencia: el sitio web institucional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Construido con HTML5 y CSS3, sin frameworks ni JavaScript</a:t>
            </a:r>
            <a:endParaRPr lang="en-US" sz="1400" dirty="0"/>
          </a:p>
        </p:txBody>
      </p:sp>
      <p:pic>
        <p:nvPicPr>
          <p:cNvPr id="4" name="Image 0" descr="/tmp/claude-0/-home-user-VetPetSurco/b8d13659-c8d7-578f-913d-52522fae5ff2/scratchpad/ppt/assets/web-escrito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700784"/>
            <a:ext cx="6035040" cy="3771900"/>
          </a:xfrm>
          <a:prstGeom prst="rect">
            <a:avLst/>
          </a:prstGeom>
        </p:spPr>
      </p:pic>
      <p:pic>
        <p:nvPicPr>
          <p:cNvPr id="5" name="Image 1" descr="/tmp/claude-0/-home-user-VetPetSurco/b8d13659-c8d7-578f-913d-52522fae5ff2/scratchpad/ppt/assets/web-movi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700784"/>
            <a:ext cx="1572768" cy="30632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8796528" y="173736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Responsivo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8796528" y="2048256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Flexbox y CSS Grid con un punto de quiebre en 760 px (RNF-01).</a:t>
            </a:r>
            <a:endParaRPr lang="en-US" sz="1150" dirty="0"/>
          </a:p>
        </p:txBody>
      </p:sp>
      <p:sp>
        <p:nvSpPr>
          <p:cNvPr id="8" name="Text 4"/>
          <p:cNvSpPr txBox="1"/>
          <p:nvPr/>
        </p:nvSpPr>
        <p:spPr>
          <a:xfrm>
            <a:off x="8796528" y="279806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Rápido</a:t>
            </a:r>
            <a:endParaRPr lang="en-US" sz="1350" dirty="0"/>
          </a:p>
        </p:txBody>
      </p:sp>
      <p:sp>
        <p:nvSpPr>
          <p:cNvPr id="9" name="Text 5"/>
          <p:cNvSpPr txBox="1"/>
          <p:nvPr/>
        </p:nvSpPr>
        <p:spPr>
          <a:xfrm>
            <a:off x="8796528" y="3108960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JavaScript ni librerías; los íconos son SVG de pocos kilobytes (RNF-04).</a:t>
            </a:r>
            <a:endParaRPr lang="en-US" sz="1150" dirty="0"/>
          </a:p>
        </p:txBody>
      </p:sp>
      <p:sp>
        <p:nvSpPr>
          <p:cNvPr id="10" name="Text 6"/>
          <p:cNvSpPr txBox="1"/>
          <p:nvPr/>
        </p:nvSpPr>
        <p:spPr>
          <a:xfrm>
            <a:off x="8796528" y="3858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Accesible</a:t>
            </a:r>
            <a:endParaRPr lang="en-US" sz="1350" dirty="0"/>
          </a:p>
        </p:txBody>
      </p:sp>
      <p:sp>
        <p:nvSpPr>
          <p:cNvPr id="11" name="Text 7"/>
          <p:cNvSpPr txBox="1"/>
          <p:nvPr/>
        </p:nvSpPr>
        <p:spPr>
          <a:xfrm>
            <a:off x="8796528" y="4169664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Marcado semántico, enlace para saltar al contenido y foco visible.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8796528" y="491947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5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Completo</a:t>
            </a:r>
            <a:endParaRPr lang="en-US" sz="1350" dirty="0"/>
          </a:p>
        </p:txBody>
      </p:sp>
      <p:sp>
        <p:nvSpPr>
          <p:cNvPr id="13" name="Text 9"/>
          <p:cNvSpPr txBox="1"/>
          <p:nvPr/>
        </p:nvSpPr>
        <p:spPr>
          <a:xfrm>
            <a:off x="8796528" y="5230368"/>
            <a:ext cx="2788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páginas más una página de error 404.</a:t>
            </a:r>
            <a:endParaRPr lang="en-US" sz="1150" dirty="0"/>
          </a:p>
        </p:txBody>
      </p:sp>
      <p:sp>
        <p:nvSpPr>
          <p:cNvPr id="14" name="Text 10"/>
          <p:cNvSpPr txBox="1"/>
          <p:nvPr/>
        </p:nvSpPr>
        <p:spPr>
          <a:xfrm>
            <a:off x="640080" y="6291072"/>
            <a:ext cx="109115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D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Vistas de escritorio (1280 px) y móvil (390 px) de la página de inicio, verificadas sin desbordamiento horizontal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52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deja esta entrega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de negocio de la Entrega 1 queda traducido a una arquitectura ejecutable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468880"/>
            <a:ext cx="2480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6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84448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requerimientos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especificados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3450260" y="2468880"/>
            <a:ext cx="2480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6800" dirty="0"/>
          </a:p>
        </p:txBody>
      </p:sp>
      <p:sp>
        <p:nvSpPr>
          <p:cNvPr id="7" name="Text 5"/>
          <p:cNvSpPr txBox="1"/>
          <p:nvPr/>
        </p:nvSpPr>
        <p:spPr>
          <a:xfrm>
            <a:off x="3450260" y="3584448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modeladas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260440" y="2468880"/>
            <a:ext cx="2480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6800" dirty="0"/>
          </a:p>
        </p:txBody>
      </p:sp>
      <p:sp>
        <p:nvSpPr>
          <p:cNvPr id="9" name="Text 7"/>
          <p:cNvSpPr txBox="1"/>
          <p:nvPr/>
        </p:nvSpPr>
        <p:spPr>
          <a:xfrm>
            <a:off x="6260440" y="3584448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transaccional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070619" y="2468880"/>
            <a:ext cx="24809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6800" dirty="0"/>
          </a:p>
        </p:txBody>
      </p:sp>
      <p:sp>
        <p:nvSpPr>
          <p:cNvPr id="11" name="Text 9"/>
          <p:cNvSpPr txBox="1"/>
          <p:nvPr/>
        </p:nvSpPr>
        <p:spPr>
          <a:xfrm>
            <a:off x="9070619" y="3584448"/>
            <a:ext cx="24809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páginas</a:t>
            </a:r>
            <a:endParaRPr lang="en-US" sz="13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publicadas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28032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sigue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5175504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el portal sobre este diseño: módulos de catálogo, agenda e historia clínica conectados al esquema, y el despliegue de la plataforma.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035040"/>
            <a:ext cx="109115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FE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4  ·  Curso de E-business  ·  VetPet Surco E.I.R.L.  ·  Lima,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VetPet Surco E.I.R.L.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VetPet Connect - Entrega 2</dc:title>
  <dc:subject>PptxGenJS Presentation</dc:subject>
  <dc:creator>Equipo 4 - Curso de E-business</dc:creator>
  <cp:lastModifiedBy>Equipo 4 - Curso de E-business</cp:lastModifiedBy>
  <cp:revision>1</cp:revision>
  <dcterms:created xsi:type="dcterms:W3CDTF">2026-09-08T22:54:11Z</dcterms:created>
  <dcterms:modified xsi:type="dcterms:W3CDTF">2026-09-08T22:54:11Z</dcterms:modified>
</cp:coreProperties>
</file>