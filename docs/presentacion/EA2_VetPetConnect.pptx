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EA2. La presentación tiene tres partes: para qué existe el negocio, cómo lo estamos construyendo y qué se puede comprobar hoy. Todas las cifras de las últimas láminas salen de ejecutar el proyecto, no de los documentos.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Aviso de ruta para el jurado: primero el negocio, después el método, al final la evidencia.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corazón del negocio no es vender una bolsa de alimento: es quedarse con la recompra mensual de esa bolsa. Eso es lo que convierte un local de barrio en un negocio con ingreso previsible.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cinco problemas son el origen de todo lo que viene después: cada requerimiento del sistema responde a uno de ellos, y eso está trazado en la matriz del documento de requerimientos.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el jurado pregunta cómo se medirá: OE-1 comparando la venta recurrente antes y después; OE-2 con el desenlace de cada cita, que el sistema obliga a registrar; OE-3 con el reporte de quiebres de 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cuotas y las unidades no son una etiqueta comercial: la cantidad se usa de verdad al generar el pedido, así que se ve en el detalle y en el stock descontado.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preguntan por qué no Scrum: Scrum necesita un equipo con roles y ceremonias sostenidas en el tiempo. Para un proyecto con tres incrementos aplicamos el ciclo iterativo e incremental, que es el que realmente seguimos. Saber la diferencia vale más que repetir la palabra de moda.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honesto y a la vez fuerte: la especificación formal llegó en el tercer incremento, después de construir. En un modelo evolutivo eso no es un defecto, es el método: se construye para aprender qué hacía falta y luego se consolida.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documento está redactado desde el pedido de la empresa, sin nombrar tecnología, y cierra con un acta de conformidad. Lo que no está ahí se trata como solicitud de cambio.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lámina técnica que más pesa: las reglas de negocio no viven en la pantalla, donde cualquier cambio las rompe, sino en el servicio y en el motor de datos. Es lo que exige el RNF-08 del documento de requerimientos.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preguntan si el chatbot usa IA: no, y es una decisión, no una carencia. Un motor de palabras clave con una configuración revisable es auditable, no inventa respuestas y no tiene costo por consulta. Para las preguntas frecuentes de una veterinaria es suficiente.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el jurado pide demostración en vivo: la suite corre en siete segundos y el recorrido completo de compra se puede mostrar en el navegador.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Si hay una sola idea que quede: las reglas del negocio están escritas en el sistema y se comprueban solas. Eso es lo que separa un prototipo de un producto.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524A"/>
        </a:solidFill>
      </p:bgPr>
    </p:bg>
    <p:spTree>
      <p:nvGrpSpPr>
        <p:cNvPr id="1" name=""/>
        <p:cNvGrpSpPr/>
        <p:nvPr/>
      </p:nvGrpSpPr>
      <p:grpSpPr>
        <a:xfrm>
          <a:off x="0" y="0"/>
          <a:ext cx="0" cy="0"/>
          <a:chOff x="0" y="0"/>
          <a:chExt cx="0" cy="0"/>
        </a:xfrm>
      </p:grpSpPr>
      <p:pic>
        <p:nvPicPr>
          <p:cNvPr id="2" name="Image 0" descr="/tmp/claude-0/-home-user-VetPetSurco/b8d13659-c8d7-578f-913d-52522fae5ff2/scratchpad/ppt/assets/logo.png">    </p:cNvPr>
          <p:cNvPicPr>
            <a:picLocks noChangeAspect="1"/>
          </p:cNvPicPr>
          <p:nvPr/>
        </p:nvPicPr>
        <p:blipFill>
          <a:blip r:embed="rId1"/>
          <a:stretch>
            <a:fillRect/>
          </a:stretch>
        </p:blipFill>
        <p:spPr>
          <a:xfrm>
            <a:off x="914400" y="2103120"/>
            <a:ext cx="1234440" cy="1234440"/>
          </a:xfrm>
          <a:prstGeom prst="rect">
            <a:avLst/>
          </a:prstGeom>
        </p:spPr>
      </p:pic>
      <p:sp>
        <p:nvSpPr>
          <p:cNvPr id="3" name="Text 0"/>
          <p:cNvSpPr txBox="1"/>
          <p:nvPr/>
        </p:nvSpPr>
        <p:spPr>
          <a:xfrm>
            <a:off x="2514600" y="1865376"/>
            <a:ext cx="8778240" cy="548640"/>
          </a:xfrm>
          <a:prstGeom prst="rect">
            <a:avLst/>
          </a:prstGeom>
          <a:noFill/>
          <a:ln/>
        </p:spPr>
        <p:txBody>
          <a:bodyPr wrap="square" lIns="0" tIns="0" rIns="0" bIns="0" rtlCol="0" anchor="ctr"/>
          <a:lstStyle/>
          <a:p>
            <a:pPr indent="0" marL="0">
              <a:buNone/>
            </a:pPr>
            <a:r>
              <a:rPr lang="en-US" sz="1900" b="1" dirty="0">
                <a:solidFill>
                  <a:srgbClr val="E8A33D"/>
                </a:solidFill>
                <a:latin typeface="Calibri" pitchFamily="34" charset="0"/>
                <a:ea typeface="Calibri" pitchFamily="34" charset="-122"/>
                <a:cs typeface="Calibri" pitchFamily="34" charset="-120"/>
              </a:rPr>
              <a:t>Evaluación de Avance 2</a:t>
            </a:r>
            <a:endParaRPr lang="en-US" sz="1900" dirty="0"/>
          </a:p>
        </p:txBody>
      </p:sp>
      <p:sp>
        <p:nvSpPr>
          <p:cNvPr id="4" name="Text 1"/>
          <p:cNvSpPr txBox="1"/>
          <p:nvPr/>
        </p:nvSpPr>
        <p:spPr>
          <a:xfrm>
            <a:off x="2514600" y="2322576"/>
            <a:ext cx="877824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VetPet Connect</a:t>
            </a:r>
            <a:endParaRPr lang="en-US" sz="4400" dirty="0"/>
          </a:p>
        </p:txBody>
      </p:sp>
      <p:sp>
        <p:nvSpPr>
          <p:cNvPr id="5" name="Text 2"/>
          <p:cNvSpPr txBox="1"/>
          <p:nvPr/>
        </p:nvSpPr>
        <p:spPr>
          <a:xfrm>
            <a:off x="2514600" y="3200400"/>
            <a:ext cx="8595360" cy="402336"/>
          </a:xfrm>
          <a:prstGeom prst="rect">
            <a:avLst/>
          </a:prstGeom>
          <a:noFill/>
          <a:ln/>
        </p:spPr>
        <p:txBody>
          <a:bodyPr wrap="square" lIns="0" tIns="0" rIns="0" bIns="0" rtlCol="0" anchor="ctr"/>
          <a:lstStyle/>
          <a:p>
            <a:pPr indent="0" marL="0">
              <a:buNone/>
            </a:pPr>
            <a:r>
              <a:rPr lang="en-US" sz="1500" dirty="0">
                <a:solidFill>
                  <a:srgbClr val="CFE3DC"/>
                </a:solidFill>
                <a:latin typeface="Calibri" pitchFamily="34" charset="0"/>
                <a:ea typeface="Calibri" pitchFamily="34" charset="-122"/>
                <a:cs typeface="Calibri" pitchFamily="34" charset="-120"/>
              </a:rPr>
              <a:t>Visión de negocio, metodología de desarrollo y estado verificable del sistema</a:t>
            </a:r>
            <a:endParaRPr lang="en-US" sz="1500" dirty="0"/>
          </a:p>
        </p:txBody>
      </p:sp>
      <p:sp>
        <p:nvSpPr>
          <p:cNvPr id="6" name="Shape 3"/>
          <p:cNvSpPr/>
          <p:nvPr/>
        </p:nvSpPr>
        <p:spPr>
          <a:xfrm>
            <a:off x="2514600" y="3767328"/>
            <a:ext cx="4206240" cy="384048"/>
          </a:xfrm>
          <a:prstGeom prst="roundRect">
            <a:avLst>
              <a:gd name="adj" fmla="val 119048"/>
            </a:avLst>
          </a:prstGeom>
          <a:solidFill>
            <a:srgbClr val="2C7A6B"/>
          </a:solidFill>
          <a:ln w="12700">
            <a:solidFill>
              <a:srgbClr val="2C7A6B"/>
            </a:solidFill>
            <a:prstDash val="solid"/>
          </a:ln>
        </p:spPr>
      </p:sp>
      <p:sp>
        <p:nvSpPr>
          <p:cNvPr id="7" name="Text 4"/>
          <p:cNvSpPr txBox="1"/>
          <p:nvPr/>
        </p:nvSpPr>
        <p:spPr>
          <a:xfrm>
            <a:off x="2514600" y="3767328"/>
            <a:ext cx="42062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Plataforma B2C  ·  Comercio + salud animal</a:t>
            </a:r>
            <a:endParaRPr lang="en-US" sz="1100" dirty="0"/>
          </a:p>
        </p:txBody>
      </p:sp>
      <p:sp>
        <p:nvSpPr>
          <p:cNvPr id="8" name="Text 5"/>
          <p:cNvSpPr txBox="1"/>
          <p:nvPr/>
        </p:nvSpPr>
        <p:spPr>
          <a:xfrm>
            <a:off x="914400" y="5230368"/>
            <a:ext cx="10332720" cy="731520"/>
          </a:xfrm>
          <a:prstGeom prst="rect">
            <a:avLst/>
          </a:prstGeom>
          <a:noFill/>
          <a:ln/>
        </p:spPr>
        <p:txBody>
          <a:bodyPr wrap="square" lIns="0" tIns="0" rIns="0" bIns="0" rtlCol="0" anchor="ctr"/>
          <a:lstStyle/>
          <a:p>
            <a:pPr indent="0" marL="0">
              <a:lnSpc>
                <a:spcPts val="2000"/>
              </a:lnSpc>
              <a:buNone/>
            </a:pPr>
            <a:r>
              <a:rPr lang="en-US" sz="1300" b="1" dirty="0">
                <a:solidFill>
                  <a:srgbClr val="CFE3DC"/>
                </a:solidFill>
                <a:latin typeface="Calibri" pitchFamily="34" charset="0"/>
                <a:ea typeface="Calibri" pitchFamily="34" charset="-122"/>
                <a:cs typeface="Calibri" pitchFamily="34" charset="-120"/>
              </a:rPr>
              <a:t>VetPet Surco E.I.R.L.  ·  Santiago de Surco, Lima</a:t>
            </a:r>
            <a:endParaRPr lang="en-US" sz="1300" dirty="0"/>
          </a:p>
          <a:p>
            <a:pPr indent="0" marL="0">
              <a:lnSpc>
                <a:spcPts val="2000"/>
              </a:lnSpc>
              <a:buNone/>
            </a:pPr>
            <a:r>
              <a:rPr lang="en-US" sz="1300" dirty="0">
                <a:solidFill>
                  <a:srgbClr val="CFE3DC"/>
                </a:solidFill>
                <a:latin typeface="Calibri" pitchFamily="34" charset="0"/>
                <a:ea typeface="Calibri" pitchFamily="34" charset="-122"/>
                <a:cs typeface="Calibri" pitchFamily="34" charset="-120"/>
              </a:rPr>
              <a:t>Equipo 4  ·  2026  ·  Caso de estudio con fines académicos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384048"/>
            <a:ext cx="10911535" cy="658368"/>
          </a:xfrm>
          <a:prstGeom prst="rect">
            <a:avLst/>
          </a:prstGeom>
          <a:noFill/>
          <a:ln/>
        </p:spPr>
        <p:txBody>
          <a:bodyPr wrap="square" lIns="0" tIns="0" rIns="0" bIns="0" rtlCol="0" anchor="ctr"/>
          <a:lstStyle/>
          <a:p>
            <a:pPr indent="0" marL="0">
              <a:buNone/>
            </a:pPr>
            <a:r>
              <a:rPr lang="en-US" sz="3200" b="1" dirty="0">
                <a:solidFill>
                  <a:srgbClr val="14524A"/>
                </a:solidFill>
                <a:latin typeface="Cambria" pitchFamily="34" charset="0"/>
                <a:ea typeface="Cambria" pitchFamily="34" charset="-122"/>
                <a:cs typeface="Cambria" pitchFamily="34" charset="-120"/>
              </a:rPr>
              <a:t>Lo que veremos</a:t>
            </a:r>
            <a:endParaRPr lang="en-US" sz="3200" dirty="0"/>
          </a:p>
        </p:txBody>
      </p:sp>
      <p:sp>
        <p:nvSpPr>
          <p:cNvPr id="3" name="Text 1"/>
          <p:cNvSpPr txBox="1"/>
          <p:nvPr/>
        </p:nvSpPr>
        <p:spPr>
          <a:xfrm>
            <a:off x="640080" y="1042416"/>
            <a:ext cx="10911535" cy="384048"/>
          </a:xfrm>
          <a:prstGeom prst="rect">
            <a:avLst/>
          </a:prstGeom>
          <a:noFill/>
          <a:ln/>
        </p:spPr>
        <p:txBody>
          <a:bodyPr wrap="square" lIns="0" tIns="0" rIns="0" bIns="0" rtlCol="0" anchor="ctr"/>
          <a:lstStyle/>
          <a:p>
            <a:pPr indent="0" marL="0">
              <a:buNone/>
            </a:pPr>
            <a:r>
              <a:rPr lang="en-US" sz="1400" dirty="0">
                <a:solidFill>
                  <a:srgbClr val="5D6B66"/>
                </a:solidFill>
                <a:latin typeface="Calibri" pitchFamily="34" charset="0"/>
                <a:ea typeface="Calibri" pitchFamily="34" charset="-122"/>
                <a:cs typeface="Calibri" pitchFamily="34" charset="-120"/>
              </a:rPr>
              <a:t>Tres preguntas: por qué, cómo y qué hay hoy</a:t>
            </a:r>
            <a:endParaRPr lang="en-US" sz="1400" dirty="0"/>
          </a:p>
        </p:txBody>
      </p:sp>
      <p:sp>
        <p:nvSpPr>
          <p:cNvPr id="4" name="Shape 2"/>
          <p:cNvSpPr/>
          <p:nvPr/>
        </p:nvSpPr>
        <p:spPr>
          <a:xfrm>
            <a:off x="640080" y="1719072"/>
            <a:ext cx="10911535" cy="749808"/>
          </a:xfrm>
          <a:prstGeom prst="roundRect">
            <a:avLst>
              <a:gd name="adj" fmla="val 6098"/>
            </a:avLst>
          </a:prstGeom>
          <a:solidFill>
            <a:srgbClr val="EEF5F1"/>
          </a:solidFill>
          <a:ln w="12700">
            <a:solidFill>
              <a:srgbClr val="D9E5DF"/>
            </a:solidFill>
            <a:prstDash val="solid"/>
          </a:ln>
        </p:spPr>
      </p:sp>
      <p:sp>
        <p:nvSpPr>
          <p:cNvPr id="5" name="Shape 3"/>
          <p:cNvSpPr/>
          <p:nvPr/>
        </p:nvSpPr>
        <p:spPr>
          <a:xfrm>
            <a:off x="859536" y="1892808"/>
            <a:ext cx="402336" cy="402336"/>
          </a:xfrm>
          <a:prstGeom prst="ellipse">
            <a:avLst/>
          </a:prstGeom>
          <a:solidFill>
            <a:srgbClr val="14524A"/>
          </a:solidFill>
          <a:ln w="12700">
            <a:solidFill>
              <a:srgbClr val="14524A"/>
            </a:solidFill>
            <a:prstDash val="solid"/>
          </a:ln>
        </p:spPr>
      </p:sp>
      <p:sp>
        <p:nvSpPr>
          <p:cNvPr id="6" name="Text 4"/>
          <p:cNvSpPr txBox="1"/>
          <p:nvPr/>
        </p:nvSpPr>
        <p:spPr>
          <a:xfrm>
            <a:off x="859536" y="189280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426464" y="1801368"/>
            <a:ext cx="3657600" cy="292608"/>
          </a:xfrm>
          <a:prstGeom prst="rect">
            <a:avLst/>
          </a:prstGeom>
          <a:noFill/>
          <a:ln/>
        </p:spPr>
        <p:txBody>
          <a:bodyPr wrap="square" lIns="0" tIns="0" rIns="0" bIns="0" rtlCol="0" anchor="ctr"/>
          <a:lstStyle/>
          <a:p>
            <a:pPr indent="0" marL="0">
              <a:buNone/>
            </a:pPr>
            <a:r>
              <a:rPr lang="en-US" sz="1500" b="1" dirty="0">
                <a:solidFill>
                  <a:srgbClr val="14524A"/>
                </a:solidFill>
                <a:latin typeface="Cambria" pitchFamily="34" charset="0"/>
                <a:ea typeface="Cambria" pitchFamily="34" charset="-122"/>
                <a:cs typeface="Cambria" pitchFamily="34" charset="-120"/>
              </a:rPr>
              <a:t>La visión de negocio</a:t>
            </a:r>
            <a:endParaRPr lang="en-US" sz="1500" dirty="0"/>
          </a:p>
        </p:txBody>
      </p:sp>
      <p:sp>
        <p:nvSpPr>
          <p:cNvPr id="8" name="Text 6"/>
          <p:cNvSpPr txBox="1"/>
          <p:nvPr/>
        </p:nvSpPr>
        <p:spPr>
          <a:xfrm>
            <a:off x="1426464" y="2103120"/>
            <a:ext cx="8778240" cy="274320"/>
          </a:xfrm>
          <a:prstGeom prst="rect">
            <a:avLst/>
          </a:prstGeom>
          <a:noFill/>
          <a:ln/>
        </p:spPr>
        <p:txBody>
          <a:bodyPr wrap="square" lIns="0" tIns="0" rIns="0" bIns="0" rtlCol="0" anchor="ctr"/>
          <a:lstStyle/>
          <a:p>
            <a:pPr indent="0" marL="0">
              <a:buNone/>
            </a:pPr>
            <a:r>
              <a:rPr lang="en-US" sz="1150" dirty="0">
                <a:solidFill>
                  <a:srgbClr val="5D6B66"/>
                </a:solidFill>
                <a:latin typeface="Calibri" pitchFamily="34" charset="0"/>
                <a:ea typeface="Calibri" pitchFamily="34" charset="-122"/>
                <a:cs typeface="Calibri" pitchFamily="34" charset="-120"/>
              </a:rPr>
              <a:t>Qué gasto queremos capturar y por qué hoy se escapa</a:t>
            </a:r>
            <a:endParaRPr lang="en-US" sz="1150" dirty="0"/>
          </a:p>
        </p:txBody>
      </p:sp>
      <p:sp>
        <p:nvSpPr>
          <p:cNvPr id="9" name="Shape 7"/>
          <p:cNvSpPr/>
          <p:nvPr/>
        </p:nvSpPr>
        <p:spPr>
          <a:xfrm>
            <a:off x="640080" y="2578608"/>
            <a:ext cx="10911535" cy="749808"/>
          </a:xfrm>
          <a:prstGeom prst="roundRect">
            <a:avLst>
              <a:gd name="adj" fmla="val 6098"/>
            </a:avLst>
          </a:prstGeom>
          <a:solidFill>
            <a:srgbClr val="EEF5F1"/>
          </a:solidFill>
          <a:ln w="12700">
            <a:solidFill>
              <a:srgbClr val="D9E5DF"/>
            </a:solidFill>
            <a:prstDash val="solid"/>
          </a:ln>
        </p:spPr>
      </p:sp>
      <p:sp>
        <p:nvSpPr>
          <p:cNvPr id="10" name="Shape 8"/>
          <p:cNvSpPr/>
          <p:nvPr/>
        </p:nvSpPr>
        <p:spPr>
          <a:xfrm>
            <a:off x="859536" y="2752344"/>
            <a:ext cx="402336" cy="402336"/>
          </a:xfrm>
          <a:prstGeom prst="ellipse">
            <a:avLst/>
          </a:prstGeom>
          <a:solidFill>
            <a:srgbClr val="14524A"/>
          </a:solidFill>
          <a:ln w="12700">
            <a:solidFill>
              <a:srgbClr val="14524A"/>
            </a:solidFill>
            <a:prstDash val="solid"/>
          </a:ln>
        </p:spPr>
      </p:sp>
      <p:sp>
        <p:nvSpPr>
          <p:cNvPr id="11" name="Text 9"/>
          <p:cNvSpPr txBox="1"/>
          <p:nvPr/>
        </p:nvSpPr>
        <p:spPr>
          <a:xfrm>
            <a:off x="859536" y="275234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1426464" y="2660904"/>
            <a:ext cx="3657600" cy="292608"/>
          </a:xfrm>
          <a:prstGeom prst="rect">
            <a:avLst/>
          </a:prstGeom>
          <a:noFill/>
          <a:ln/>
        </p:spPr>
        <p:txBody>
          <a:bodyPr wrap="square" lIns="0" tIns="0" rIns="0" bIns="0" rtlCol="0" anchor="ctr"/>
          <a:lstStyle/>
          <a:p>
            <a:pPr indent="0" marL="0">
              <a:buNone/>
            </a:pPr>
            <a:r>
              <a:rPr lang="en-US" sz="1500" b="1" dirty="0">
                <a:solidFill>
                  <a:srgbClr val="14524A"/>
                </a:solidFill>
                <a:latin typeface="Cambria" pitchFamily="34" charset="0"/>
                <a:ea typeface="Cambria" pitchFamily="34" charset="-122"/>
                <a:cs typeface="Cambria" pitchFamily="34" charset="-120"/>
              </a:rPr>
              <a:t>Diagnóstico y objetivos</a:t>
            </a:r>
            <a:endParaRPr lang="en-US" sz="1500" dirty="0"/>
          </a:p>
        </p:txBody>
      </p:sp>
      <p:sp>
        <p:nvSpPr>
          <p:cNvPr id="13" name="Text 11"/>
          <p:cNvSpPr txBox="1"/>
          <p:nvPr/>
        </p:nvSpPr>
        <p:spPr>
          <a:xfrm>
            <a:off x="1426464" y="2962656"/>
            <a:ext cx="8778240" cy="274320"/>
          </a:xfrm>
          <a:prstGeom prst="rect">
            <a:avLst/>
          </a:prstGeom>
          <a:noFill/>
          <a:ln/>
        </p:spPr>
        <p:txBody>
          <a:bodyPr wrap="square" lIns="0" tIns="0" rIns="0" bIns="0" rtlCol="0" anchor="ctr"/>
          <a:lstStyle/>
          <a:p>
            <a:pPr indent="0" marL="0">
              <a:buNone/>
            </a:pPr>
            <a:r>
              <a:rPr lang="en-US" sz="1150" dirty="0">
                <a:solidFill>
                  <a:srgbClr val="5D6B66"/>
                </a:solidFill>
                <a:latin typeface="Calibri" pitchFamily="34" charset="0"/>
                <a:ea typeface="Calibri" pitchFamily="34" charset="-122"/>
                <a:cs typeface="Calibri" pitchFamily="34" charset="-120"/>
              </a:rPr>
              <a:t>Cinco problemas medidos y tres objetivos con métrica</a:t>
            </a:r>
            <a:endParaRPr lang="en-US" sz="1150" dirty="0"/>
          </a:p>
        </p:txBody>
      </p:sp>
      <p:sp>
        <p:nvSpPr>
          <p:cNvPr id="14" name="Shape 12"/>
          <p:cNvSpPr/>
          <p:nvPr/>
        </p:nvSpPr>
        <p:spPr>
          <a:xfrm>
            <a:off x="640080" y="3438144"/>
            <a:ext cx="10911535" cy="749808"/>
          </a:xfrm>
          <a:prstGeom prst="roundRect">
            <a:avLst>
              <a:gd name="adj" fmla="val 6098"/>
            </a:avLst>
          </a:prstGeom>
          <a:solidFill>
            <a:srgbClr val="EEF5F1"/>
          </a:solidFill>
          <a:ln w="12700">
            <a:solidFill>
              <a:srgbClr val="D9E5DF"/>
            </a:solidFill>
            <a:prstDash val="solid"/>
          </a:ln>
        </p:spPr>
      </p:sp>
      <p:sp>
        <p:nvSpPr>
          <p:cNvPr id="15" name="Shape 13"/>
          <p:cNvSpPr/>
          <p:nvPr/>
        </p:nvSpPr>
        <p:spPr>
          <a:xfrm>
            <a:off x="859536" y="3611880"/>
            <a:ext cx="402336" cy="402336"/>
          </a:xfrm>
          <a:prstGeom prst="ellipse">
            <a:avLst/>
          </a:prstGeom>
          <a:solidFill>
            <a:srgbClr val="14524A"/>
          </a:solidFill>
          <a:ln w="12700">
            <a:solidFill>
              <a:srgbClr val="14524A"/>
            </a:solidFill>
            <a:prstDash val="solid"/>
          </a:ln>
        </p:spPr>
      </p:sp>
      <p:sp>
        <p:nvSpPr>
          <p:cNvPr id="16" name="Text 14"/>
          <p:cNvSpPr txBox="1"/>
          <p:nvPr/>
        </p:nvSpPr>
        <p:spPr>
          <a:xfrm>
            <a:off x="859536" y="36118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1426464" y="3520440"/>
            <a:ext cx="3657600" cy="292608"/>
          </a:xfrm>
          <a:prstGeom prst="rect">
            <a:avLst/>
          </a:prstGeom>
          <a:noFill/>
          <a:ln/>
        </p:spPr>
        <p:txBody>
          <a:bodyPr wrap="square" lIns="0" tIns="0" rIns="0" bIns="0" rtlCol="0" anchor="ctr"/>
          <a:lstStyle/>
          <a:p>
            <a:pPr indent="0" marL="0">
              <a:buNone/>
            </a:pPr>
            <a:r>
              <a:rPr lang="en-US" sz="1500" b="1" dirty="0">
                <a:solidFill>
                  <a:srgbClr val="14524A"/>
                </a:solidFill>
                <a:latin typeface="Cambria" pitchFamily="34" charset="0"/>
                <a:ea typeface="Cambria" pitchFamily="34" charset="-122"/>
                <a:cs typeface="Cambria" pitchFamily="34" charset="-120"/>
              </a:rPr>
              <a:t>La metodología</a:t>
            </a:r>
            <a:endParaRPr lang="en-US" sz="1500" dirty="0"/>
          </a:p>
        </p:txBody>
      </p:sp>
      <p:sp>
        <p:nvSpPr>
          <p:cNvPr id="18" name="Text 16"/>
          <p:cNvSpPr txBox="1"/>
          <p:nvPr/>
        </p:nvSpPr>
        <p:spPr>
          <a:xfrm>
            <a:off x="1426464" y="3822192"/>
            <a:ext cx="8778240" cy="274320"/>
          </a:xfrm>
          <a:prstGeom prst="rect">
            <a:avLst/>
          </a:prstGeom>
          <a:noFill/>
          <a:ln/>
        </p:spPr>
        <p:txBody>
          <a:bodyPr wrap="square" lIns="0" tIns="0" rIns="0" bIns="0" rtlCol="0" anchor="ctr"/>
          <a:lstStyle/>
          <a:p>
            <a:pPr indent="0" marL="0">
              <a:buNone/>
            </a:pPr>
            <a:r>
              <a:rPr lang="en-US" sz="1150" dirty="0">
                <a:solidFill>
                  <a:srgbClr val="5D6B66"/>
                </a:solidFill>
                <a:latin typeface="Calibri" pitchFamily="34" charset="0"/>
                <a:ea typeface="Calibri" pitchFamily="34" charset="-122"/>
                <a:cs typeface="Calibri" pitchFamily="34" charset="-120"/>
              </a:rPr>
              <a:t>Modelo iterativo e incremental, y la evidencia de cada incremento</a:t>
            </a:r>
            <a:endParaRPr lang="en-US" sz="1150" dirty="0"/>
          </a:p>
        </p:txBody>
      </p:sp>
      <p:sp>
        <p:nvSpPr>
          <p:cNvPr id="19" name="Shape 17"/>
          <p:cNvSpPr/>
          <p:nvPr/>
        </p:nvSpPr>
        <p:spPr>
          <a:xfrm>
            <a:off x="640080" y="4297680"/>
            <a:ext cx="10911535" cy="749808"/>
          </a:xfrm>
          <a:prstGeom prst="roundRect">
            <a:avLst>
              <a:gd name="adj" fmla="val 6098"/>
            </a:avLst>
          </a:prstGeom>
          <a:solidFill>
            <a:srgbClr val="EEF5F1"/>
          </a:solidFill>
          <a:ln w="12700">
            <a:solidFill>
              <a:srgbClr val="D9E5DF"/>
            </a:solidFill>
            <a:prstDash val="solid"/>
          </a:ln>
        </p:spPr>
      </p:sp>
      <p:sp>
        <p:nvSpPr>
          <p:cNvPr id="20" name="Shape 18"/>
          <p:cNvSpPr/>
          <p:nvPr/>
        </p:nvSpPr>
        <p:spPr>
          <a:xfrm>
            <a:off x="859536" y="4471416"/>
            <a:ext cx="402336" cy="402336"/>
          </a:xfrm>
          <a:prstGeom prst="ellipse">
            <a:avLst/>
          </a:prstGeom>
          <a:solidFill>
            <a:srgbClr val="14524A"/>
          </a:solidFill>
          <a:ln w="12700">
            <a:solidFill>
              <a:srgbClr val="14524A"/>
            </a:solidFill>
            <a:prstDash val="solid"/>
          </a:ln>
        </p:spPr>
      </p:sp>
      <p:sp>
        <p:nvSpPr>
          <p:cNvPr id="21" name="Text 19"/>
          <p:cNvSpPr txBox="1"/>
          <p:nvPr/>
        </p:nvSpPr>
        <p:spPr>
          <a:xfrm>
            <a:off x="859536" y="447141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1426464" y="4379976"/>
            <a:ext cx="3657600" cy="292608"/>
          </a:xfrm>
          <a:prstGeom prst="rect">
            <a:avLst/>
          </a:prstGeom>
          <a:noFill/>
          <a:ln/>
        </p:spPr>
        <p:txBody>
          <a:bodyPr wrap="square" lIns="0" tIns="0" rIns="0" bIns="0" rtlCol="0" anchor="ctr"/>
          <a:lstStyle/>
          <a:p>
            <a:pPr indent="0" marL="0">
              <a:buNone/>
            </a:pPr>
            <a:r>
              <a:rPr lang="en-US" sz="1500" b="1" dirty="0">
                <a:solidFill>
                  <a:srgbClr val="14524A"/>
                </a:solidFill>
                <a:latin typeface="Cambria" pitchFamily="34" charset="0"/>
                <a:ea typeface="Cambria" pitchFamily="34" charset="-122"/>
                <a:cs typeface="Cambria" pitchFamily="34" charset="-120"/>
              </a:rPr>
              <a:t>Requerimientos y arquitectura</a:t>
            </a:r>
            <a:endParaRPr lang="en-US" sz="1500" dirty="0"/>
          </a:p>
        </p:txBody>
      </p:sp>
      <p:sp>
        <p:nvSpPr>
          <p:cNvPr id="23" name="Text 21"/>
          <p:cNvSpPr txBox="1"/>
          <p:nvPr/>
        </p:nvSpPr>
        <p:spPr>
          <a:xfrm>
            <a:off x="1426464" y="4681728"/>
            <a:ext cx="8778240" cy="274320"/>
          </a:xfrm>
          <a:prstGeom prst="rect">
            <a:avLst/>
          </a:prstGeom>
          <a:noFill/>
          <a:ln/>
        </p:spPr>
        <p:txBody>
          <a:bodyPr wrap="square" lIns="0" tIns="0" rIns="0" bIns="0" rtlCol="0" anchor="ctr"/>
          <a:lstStyle/>
          <a:p>
            <a:pPr indent="0" marL="0">
              <a:buNone/>
            </a:pPr>
            <a:r>
              <a:rPr lang="en-US" sz="1150" dirty="0">
                <a:solidFill>
                  <a:srgbClr val="5D6B66"/>
                </a:solidFill>
                <a:latin typeface="Calibri" pitchFamily="34" charset="0"/>
                <a:ea typeface="Calibri" pitchFamily="34" charset="-122"/>
                <a:cs typeface="Calibri" pitchFamily="34" charset="-120"/>
              </a:rPr>
              <a:t>17 funcionales, 22 reglas de negocio y cómo se hacen cumplir</a:t>
            </a:r>
            <a:endParaRPr lang="en-US" sz="1150" dirty="0"/>
          </a:p>
        </p:txBody>
      </p:sp>
      <p:sp>
        <p:nvSpPr>
          <p:cNvPr id="24" name="Shape 22"/>
          <p:cNvSpPr/>
          <p:nvPr/>
        </p:nvSpPr>
        <p:spPr>
          <a:xfrm>
            <a:off x="640080" y="5157216"/>
            <a:ext cx="10911535" cy="749808"/>
          </a:xfrm>
          <a:prstGeom prst="roundRect">
            <a:avLst>
              <a:gd name="adj" fmla="val 6098"/>
            </a:avLst>
          </a:prstGeom>
          <a:solidFill>
            <a:srgbClr val="EEF5F1"/>
          </a:solidFill>
          <a:ln w="12700">
            <a:solidFill>
              <a:srgbClr val="D9E5DF"/>
            </a:solidFill>
            <a:prstDash val="solid"/>
          </a:ln>
        </p:spPr>
      </p:sp>
      <p:sp>
        <p:nvSpPr>
          <p:cNvPr id="25" name="Shape 23"/>
          <p:cNvSpPr/>
          <p:nvPr/>
        </p:nvSpPr>
        <p:spPr>
          <a:xfrm>
            <a:off x="859536" y="5330952"/>
            <a:ext cx="402336" cy="402336"/>
          </a:xfrm>
          <a:prstGeom prst="ellipse">
            <a:avLst/>
          </a:prstGeom>
          <a:solidFill>
            <a:srgbClr val="14524A"/>
          </a:solidFill>
          <a:ln w="12700">
            <a:solidFill>
              <a:srgbClr val="14524A"/>
            </a:solidFill>
            <a:prstDash val="solid"/>
          </a:ln>
        </p:spPr>
      </p:sp>
      <p:sp>
        <p:nvSpPr>
          <p:cNvPr id="26" name="Text 24"/>
          <p:cNvSpPr txBox="1"/>
          <p:nvPr/>
        </p:nvSpPr>
        <p:spPr>
          <a:xfrm>
            <a:off x="859536" y="533095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Text 25"/>
          <p:cNvSpPr txBox="1"/>
          <p:nvPr/>
        </p:nvSpPr>
        <p:spPr>
          <a:xfrm>
            <a:off x="1426464" y="5239512"/>
            <a:ext cx="3657600" cy="292608"/>
          </a:xfrm>
          <a:prstGeom prst="rect">
            <a:avLst/>
          </a:prstGeom>
          <a:noFill/>
          <a:ln/>
        </p:spPr>
        <p:txBody>
          <a:bodyPr wrap="square" lIns="0" tIns="0" rIns="0" bIns="0" rtlCol="0" anchor="ctr"/>
          <a:lstStyle/>
          <a:p>
            <a:pPr indent="0" marL="0">
              <a:buNone/>
            </a:pPr>
            <a:r>
              <a:rPr lang="en-US" sz="1500" b="1" dirty="0">
                <a:solidFill>
                  <a:srgbClr val="14524A"/>
                </a:solidFill>
                <a:latin typeface="Cambria" pitchFamily="34" charset="0"/>
                <a:ea typeface="Cambria" pitchFamily="34" charset="-122"/>
                <a:cs typeface="Cambria" pitchFamily="34" charset="-120"/>
              </a:rPr>
              <a:t>Evidencia y estado</a:t>
            </a:r>
            <a:endParaRPr lang="en-US" sz="1500" dirty="0"/>
          </a:p>
        </p:txBody>
      </p:sp>
      <p:sp>
        <p:nvSpPr>
          <p:cNvPr id="28" name="Text 26"/>
          <p:cNvSpPr txBox="1"/>
          <p:nvPr/>
        </p:nvSpPr>
        <p:spPr>
          <a:xfrm>
            <a:off x="1426464" y="5541264"/>
            <a:ext cx="8778240" cy="274320"/>
          </a:xfrm>
          <a:prstGeom prst="rect">
            <a:avLst/>
          </a:prstGeom>
          <a:noFill/>
          <a:ln/>
        </p:spPr>
        <p:txBody>
          <a:bodyPr wrap="square" lIns="0" tIns="0" rIns="0" bIns="0" rtlCol="0" anchor="ctr"/>
          <a:lstStyle/>
          <a:p>
            <a:pPr indent="0" marL="0">
              <a:buNone/>
            </a:pPr>
            <a:r>
              <a:rPr lang="en-US" sz="1150" dirty="0">
                <a:solidFill>
                  <a:srgbClr val="5D6B66"/>
                </a:solidFill>
                <a:latin typeface="Calibri" pitchFamily="34" charset="0"/>
                <a:ea typeface="Calibri" pitchFamily="34" charset="-122"/>
                <a:cs typeface="Calibri" pitchFamily="34" charset="-120"/>
              </a:rPr>
              <a:t>137 pruebas ejecutadas y lo que falta para producción</a:t>
            </a:r>
            <a:endParaRPr lang="en-US" sz="1150" dirty="0"/>
          </a:p>
        </p:txBody>
      </p:sp>
      <p:sp>
        <p:nvSpPr>
          <p:cNvPr id="29" name="Text 27"/>
          <p:cNvSpPr txBox="1"/>
          <p:nvPr/>
        </p:nvSpPr>
        <p:spPr>
          <a:xfrm>
            <a:off x="640080" y="6327648"/>
            <a:ext cx="10911535" cy="292608"/>
          </a:xfrm>
          <a:prstGeom prst="rect">
            <a:avLst/>
          </a:prstGeom>
          <a:noFill/>
          <a:ln/>
        </p:spPr>
        <p:txBody>
          <a:bodyPr wrap="square" lIns="0" tIns="0" rIns="0" bIns="0" rtlCol="0" anchor="ctr"/>
          <a:lstStyle/>
          <a:p>
            <a:pPr indent="0" marL="0">
              <a:buNone/>
            </a:pPr>
            <a:r>
              <a:rPr lang="en-US" sz="1000" i="1" dirty="0">
                <a:solidFill>
                  <a:srgbClr val="5D6B66"/>
                </a:solidFill>
                <a:latin typeface="Calibri" pitchFamily="34" charset="0"/>
                <a:ea typeface="Calibri" pitchFamily="34" charset="-122"/>
                <a:cs typeface="Calibri" pitchFamily="34" charset="-120"/>
              </a:rPr>
              <a:t>Cada afirmación de esta presentación se puede verificar en el repositorio del proyecto.</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384048"/>
            <a:ext cx="10911535" cy="658368"/>
          </a:xfrm>
          <a:prstGeom prst="rect">
            <a:avLst/>
          </a:prstGeom>
          <a:noFill/>
          <a:ln/>
        </p:spPr>
        <p:txBody>
          <a:bodyPr wrap="square" lIns="0" tIns="0" rIns="0" bIns="0" rtlCol="0" anchor="ctr"/>
          <a:lstStyle/>
          <a:p>
            <a:pPr indent="0" marL="0">
              <a:buNone/>
            </a:pPr>
            <a:r>
              <a:rPr lang="en-US" sz="3200" b="1" dirty="0">
                <a:solidFill>
                  <a:srgbClr val="14524A"/>
                </a:solidFill>
                <a:latin typeface="Cambria" pitchFamily="34" charset="0"/>
                <a:ea typeface="Cambria" pitchFamily="34" charset="-122"/>
                <a:cs typeface="Cambria" pitchFamily="34" charset="-120"/>
              </a:rPr>
              <a:t>La visión de negocio</a:t>
            </a:r>
            <a:endParaRPr lang="en-US" sz="3200" dirty="0"/>
          </a:p>
        </p:txBody>
      </p:sp>
      <p:sp>
        <p:nvSpPr>
          <p:cNvPr id="3" name="Text 1"/>
          <p:cNvSpPr txBox="1"/>
          <p:nvPr/>
        </p:nvSpPr>
        <p:spPr>
          <a:xfrm>
            <a:off x="640080" y="1042416"/>
            <a:ext cx="10911535" cy="384048"/>
          </a:xfrm>
          <a:prstGeom prst="rect">
            <a:avLst/>
          </a:prstGeom>
          <a:noFill/>
          <a:ln/>
        </p:spPr>
        <p:txBody>
          <a:bodyPr wrap="square" lIns="0" tIns="0" rIns="0" bIns="0" rtlCol="0" anchor="ctr"/>
          <a:lstStyle/>
          <a:p>
            <a:pPr indent="0" marL="0">
              <a:buNone/>
            </a:pPr>
            <a:r>
              <a:rPr lang="en-US" sz="1400" dirty="0">
                <a:solidFill>
                  <a:srgbClr val="5D6B66"/>
                </a:solidFill>
                <a:latin typeface="Calibri" pitchFamily="34" charset="0"/>
                <a:ea typeface="Calibri" pitchFamily="34" charset="-122"/>
                <a:cs typeface="Calibri" pitchFamily="34" charset="-120"/>
              </a:rPr>
              <a:t>Qué queremos que cambie en VetPet Surco</a:t>
            </a:r>
            <a:endParaRPr lang="en-US" sz="1400" dirty="0"/>
          </a:p>
        </p:txBody>
      </p:sp>
      <p:sp>
        <p:nvSpPr>
          <p:cNvPr id="4" name="Shape 2"/>
          <p:cNvSpPr/>
          <p:nvPr/>
        </p:nvSpPr>
        <p:spPr>
          <a:xfrm>
            <a:off x="640080" y="1664208"/>
            <a:ext cx="10911535" cy="1024128"/>
          </a:xfrm>
          <a:prstGeom prst="roundRect">
            <a:avLst>
              <a:gd name="adj" fmla="val 4464"/>
            </a:avLst>
          </a:prstGeom>
          <a:solidFill>
            <a:srgbClr val="14524A"/>
          </a:solidFill>
          <a:ln w="12700">
            <a:solidFill>
              <a:srgbClr val="14524A"/>
            </a:solidFill>
            <a:prstDash val="solid"/>
          </a:ln>
        </p:spPr>
      </p:sp>
      <p:sp>
        <p:nvSpPr>
          <p:cNvPr id="5" name="Text 3"/>
          <p:cNvSpPr txBox="1"/>
          <p:nvPr/>
        </p:nvSpPr>
        <p:spPr>
          <a:xfrm>
            <a:off x="1005840" y="1664208"/>
            <a:ext cx="10180015" cy="102412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Que el gasto recurrente del dueño de mascota deje de depender de que pase por la puerta del local.</a:t>
            </a:r>
            <a:endParaRPr lang="en-US" sz="1900" dirty="0"/>
          </a:p>
        </p:txBody>
      </p:sp>
      <p:sp>
        <p:nvSpPr>
          <p:cNvPr id="6" name="Shape 4"/>
          <p:cNvSpPr/>
          <p:nvPr/>
        </p:nvSpPr>
        <p:spPr>
          <a:xfrm>
            <a:off x="640080" y="2871216"/>
            <a:ext cx="3503066" cy="2286000"/>
          </a:xfrm>
          <a:prstGeom prst="roundRect">
            <a:avLst>
              <a:gd name="adj" fmla="val 2000"/>
            </a:avLst>
          </a:prstGeom>
          <a:solidFill>
            <a:srgbClr val="EEF5F1"/>
          </a:solidFill>
          <a:ln w="12700">
            <a:solidFill>
              <a:srgbClr val="D9E5DF"/>
            </a:solidFill>
            <a:prstDash val="solid"/>
          </a:ln>
        </p:spPr>
      </p:sp>
      <p:sp>
        <p:nvSpPr>
          <p:cNvPr id="7" name="Text 5"/>
          <p:cNvSpPr txBox="1"/>
          <p:nvPr/>
        </p:nvSpPr>
        <p:spPr>
          <a:xfrm>
            <a:off x="896112" y="3072384"/>
            <a:ext cx="2991002" cy="274320"/>
          </a:xfrm>
          <a:prstGeom prst="rect">
            <a:avLst/>
          </a:prstGeom>
          <a:noFill/>
          <a:ln/>
        </p:spPr>
        <p:txBody>
          <a:bodyPr wrap="square" lIns="0" tIns="0" rIns="0" bIns="0" rtlCol="0" anchor="ctr"/>
          <a:lstStyle/>
          <a:p>
            <a:pPr indent="0" marL="0">
              <a:buNone/>
            </a:pPr>
            <a:r>
              <a:rPr lang="en-US" sz="1050" b="1" dirty="0">
                <a:solidFill>
                  <a:srgbClr val="E8A33D"/>
                </a:solidFill>
                <a:latin typeface="Calibri" pitchFamily="34" charset="0"/>
                <a:ea typeface="Calibri" pitchFamily="34" charset="-122"/>
                <a:cs typeface="Calibri" pitchFamily="34" charset="-120"/>
              </a:rPr>
              <a:t>HOY</a:t>
            </a:r>
            <a:endParaRPr lang="en-US" sz="1050" dirty="0"/>
          </a:p>
        </p:txBody>
      </p:sp>
      <p:sp>
        <p:nvSpPr>
          <p:cNvPr id="8" name="Text 6"/>
          <p:cNvSpPr txBox="1"/>
          <p:nvPr/>
        </p:nvSpPr>
        <p:spPr>
          <a:xfrm>
            <a:off x="896112" y="3364992"/>
            <a:ext cx="2991002" cy="365760"/>
          </a:xfrm>
          <a:prstGeom prst="rect">
            <a:avLst/>
          </a:prstGeom>
          <a:noFill/>
          <a:ln/>
        </p:spPr>
        <p:txBody>
          <a:bodyPr wrap="square" lIns="0" tIns="0" rIns="0" bIns="0" rtlCol="0" anchor="ctr"/>
          <a:lstStyle/>
          <a:p>
            <a:pPr indent="0" marL="0">
              <a:buNone/>
            </a:pPr>
            <a:r>
              <a:rPr lang="en-US" sz="1600" b="1" dirty="0">
                <a:solidFill>
                  <a:srgbClr val="14524A"/>
                </a:solidFill>
                <a:latin typeface="Cambria" pitchFamily="34" charset="0"/>
                <a:ea typeface="Cambria" pitchFamily="34" charset="-122"/>
                <a:cs typeface="Cambria" pitchFamily="34" charset="-120"/>
              </a:rPr>
              <a:t>Negocio de mostrador</a:t>
            </a:r>
            <a:endParaRPr lang="en-US" sz="1600" dirty="0"/>
          </a:p>
        </p:txBody>
      </p:sp>
      <p:sp>
        <p:nvSpPr>
          <p:cNvPr id="9" name="Text 7"/>
          <p:cNvSpPr txBox="1"/>
          <p:nvPr/>
        </p:nvSpPr>
        <p:spPr>
          <a:xfrm>
            <a:off x="896112" y="3803904"/>
            <a:ext cx="2991002" cy="1152144"/>
          </a:xfrm>
          <a:prstGeom prst="rect">
            <a:avLst/>
          </a:prstGeom>
          <a:noFill/>
          <a:ln/>
        </p:spPr>
        <p:txBody>
          <a:bodyPr wrap="square" lIns="0" tIns="0" rIns="0" bIns="0" rtlCol="0" anchor="t"/>
          <a:lstStyle/>
          <a:p>
            <a:pPr indent="0" marL="0">
              <a:lnSpc>
                <a:spcPts val="1740"/>
              </a:lnSpc>
              <a:buNone/>
            </a:pPr>
            <a:r>
              <a:rPr lang="en-US" sz="1200" dirty="0">
                <a:solidFill>
                  <a:srgbClr val="1C2321"/>
                </a:solidFill>
                <a:latin typeface="Calibri" pitchFamily="34" charset="0"/>
                <a:ea typeface="Calibri" pitchFamily="34" charset="-122"/>
                <a:cs typeface="Calibri" pitchFamily="34" charset="-120"/>
              </a:rPr>
              <a:t>El ingreso es igual al tránsito peatonal del distrito. Sube en campaña de vacunación y cae el resto del año. Nadie sabe cuánto entrará el próximo mes.</a:t>
            </a:r>
            <a:endParaRPr lang="en-US" sz="1200" dirty="0"/>
          </a:p>
        </p:txBody>
      </p:sp>
      <p:sp>
        <p:nvSpPr>
          <p:cNvPr id="10" name="Shape 8"/>
          <p:cNvSpPr/>
          <p:nvPr/>
        </p:nvSpPr>
        <p:spPr>
          <a:xfrm>
            <a:off x="4344314" y="2871216"/>
            <a:ext cx="3503066" cy="2286000"/>
          </a:xfrm>
          <a:prstGeom prst="roundRect">
            <a:avLst>
              <a:gd name="adj" fmla="val 2000"/>
            </a:avLst>
          </a:prstGeom>
          <a:solidFill>
            <a:srgbClr val="EEF5F1"/>
          </a:solidFill>
          <a:ln w="12700">
            <a:solidFill>
              <a:srgbClr val="D9E5DF"/>
            </a:solidFill>
            <a:prstDash val="solid"/>
          </a:ln>
        </p:spPr>
      </p:sp>
      <p:sp>
        <p:nvSpPr>
          <p:cNvPr id="11" name="Text 9"/>
          <p:cNvSpPr txBox="1"/>
          <p:nvPr/>
        </p:nvSpPr>
        <p:spPr>
          <a:xfrm>
            <a:off x="4600346" y="3072384"/>
            <a:ext cx="2991002" cy="274320"/>
          </a:xfrm>
          <a:prstGeom prst="rect">
            <a:avLst/>
          </a:prstGeom>
          <a:noFill/>
          <a:ln/>
        </p:spPr>
        <p:txBody>
          <a:bodyPr wrap="square" lIns="0" tIns="0" rIns="0" bIns="0" rtlCol="0" anchor="ctr"/>
          <a:lstStyle/>
          <a:p>
            <a:pPr indent="0" marL="0">
              <a:buNone/>
            </a:pPr>
            <a:r>
              <a:rPr lang="en-US" sz="1050" b="1" dirty="0">
                <a:solidFill>
                  <a:srgbClr val="E8A33D"/>
                </a:solidFill>
                <a:latin typeface="Calibri" pitchFamily="34" charset="0"/>
                <a:ea typeface="Calibri" pitchFamily="34" charset="-122"/>
                <a:cs typeface="Calibri" pitchFamily="34" charset="-120"/>
              </a:rPr>
              <a:t>CON LA PLATAFORMA</a:t>
            </a:r>
            <a:endParaRPr lang="en-US" sz="1050" dirty="0"/>
          </a:p>
        </p:txBody>
      </p:sp>
      <p:sp>
        <p:nvSpPr>
          <p:cNvPr id="12" name="Text 10"/>
          <p:cNvSpPr txBox="1"/>
          <p:nvPr/>
        </p:nvSpPr>
        <p:spPr>
          <a:xfrm>
            <a:off x="4600346" y="3364992"/>
            <a:ext cx="2991002" cy="365760"/>
          </a:xfrm>
          <a:prstGeom prst="rect">
            <a:avLst/>
          </a:prstGeom>
          <a:noFill/>
          <a:ln/>
        </p:spPr>
        <p:txBody>
          <a:bodyPr wrap="square" lIns="0" tIns="0" rIns="0" bIns="0" rtlCol="0" anchor="ctr"/>
          <a:lstStyle/>
          <a:p>
            <a:pPr indent="0" marL="0">
              <a:buNone/>
            </a:pPr>
            <a:r>
              <a:rPr lang="en-US" sz="1600" b="1" dirty="0">
                <a:solidFill>
                  <a:srgbClr val="14524A"/>
                </a:solidFill>
                <a:latin typeface="Cambria" pitchFamily="34" charset="0"/>
                <a:ea typeface="Cambria" pitchFamily="34" charset="-122"/>
                <a:cs typeface="Cambria" pitchFamily="34" charset="-120"/>
              </a:rPr>
              <a:t>Base de clientes activa</a:t>
            </a:r>
            <a:endParaRPr lang="en-US" sz="1600" dirty="0"/>
          </a:p>
        </p:txBody>
      </p:sp>
      <p:sp>
        <p:nvSpPr>
          <p:cNvPr id="13" name="Text 11"/>
          <p:cNvSpPr txBox="1"/>
          <p:nvPr/>
        </p:nvSpPr>
        <p:spPr>
          <a:xfrm>
            <a:off x="4600346" y="3803904"/>
            <a:ext cx="2991002" cy="1152144"/>
          </a:xfrm>
          <a:prstGeom prst="rect">
            <a:avLst/>
          </a:prstGeom>
          <a:noFill/>
          <a:ln/>
        </p:spPr>
        <p:txBody>
          <a:bodyPr wrap="square" lIns="0" tIns="0" rIns="0" bIns="0" rtlCol="0" anchor="t"/>
          <a:lstStyle/>
          <a:p>
            <a:pPr indent="0" marL="0">
              <a:lnSpc>
                <a:spcPts val="1740"/>
              </a:lnSpc>
              <a:buNone/>
            </a:pPr>
            <a:r>
              <a:rPr lang="en-US" sz="1200" dirty="0">
                <a:solidFill>
                  <a:srgbClr val="1C2321"/>
                </a:solidFill>
                <a:latin typeface="Calibri" pitchFamily="34" charset="0"/>
                <a:ea typeface="Calibri" pitchFamily="34" charset="-122"/>
                <a:cs typeface="Calibri" pitchFamily="34" charset="-120"/>
              </a:rPr>
              <a:t>El ingreso es igual a los clientes suscritos más las citas agendadas. Se conoce antes de que empiece el mes, porque cada plan tiene su fecha de despacho.</a:t>
            </a:r>
            <a:endParaRPr lang="en-US" sz="1200" dirty="0"/>
          </a:p>
        </p:txBody>
      </p:sp>
      <p:sp>
        <p:nvSpPr>
          <p:cNvPr id="14" name="Shape 12"/>
          <p:cNvSpPr/>
          <p:nvPr/>
        </p:nvSpPr>
        <p:spPr>
          <a:xfrm>
            <a:off x="8048549" y="2871216"/>
            <a:ext cx="3503066" cy="2286000"/>
          </a:xfrm>
          <a:prstGeom prst="roundRect">
            <a:avLst>
              <a:gd name="adj" fmla="val 2000"/>
            </a:avLst>
          </a:prstGeom>
          <a:solidFill>
            <a:srgbClr val="EEF5F1"/>
          </a:solidFill>
          <a:ln w="12700">
            <a:solidFill>
              <a:srgbClr val="D9E5DF"/>
            </a:solidFill>
            <a:prstDash val="solid"/>
          </a:ln>
        </p:spPr>
      </p:sp>
      <p:sp>
        <p:nvSpPr>
          <p:cNvPr id="15" name="Text 13"/>
          <p:cNvSpPr txBox="1"/>
          <p:nvPr/>
        </p:nvSpPr>
        <p:spPr>
          <a:xfrm>
            <a:off x="8304581" y="3072384"/>
            <a:ext cx="2991002" cy="274320"/>
          </a:xfrm>
          <a:prstGeom prst="rect">
            <a:avLst/>
          </a:prstGeom>
          <a:noFill/>
          <a:ln/>
        </p:spPr>
        <p:txBody>
          <a:bodyPr wrap="square" lIns="0" tIns="0" rIns="0" bIns="0" rtlCol="0" anchor="ctr"/>
          <a:lstStyle/>
          <a:p>
            <a:pPr indent="0" marL="0">
              <a:buNone/>
            </a:pPr>
            <a:r>
              <a:rPr lang="en-US" sz="1050" b="1" dirty="0">
                <a:solidFill>
                  <a:srgbClr val="E8A33D"/>
                </a:solidFill>
                <a:latin typeface="Calibri" pitchFamily="34" charset="0"/>
                <a:ea typeface="Calibri" pitchFamily="34" charset="-122"/>
                <a:cs typeface="Calibri" pitchFamily="34" charset="-120"/>
              </a:rPr>
              <a:t>LA PALANCA</a:t>
            </a:r>
            <a:endParaRPr lang="en-US" sz="1050" dirty="0"/>
          </a:p>
        </p:txBody>
      </p:sp>
      <p:sp>
        <p:nvSpPr>
          <p:cNvPr id="16" name="Text 14"/>
          <p:cNvSpPr txBox="1"/>
          <p:nvPr/>
        </p:nvSpPr>
        <p:spPr>
          <a:xfrm>
            <a:off x="8304581" y="3364992"/>
            <a:ext cx="2991002" cy="365760"/>
          </a:xfrm>
          <a:prstGeom prst="rect">
            <a:avLst/>
          </a:prstGeom>
          <a:noFill/>
          <a:ln/>
        </p:spPr>
        <p:txBody>
          <a:bodyPr wrap="square" lIns="0" tIns="0" rIns="0" bIns="0" rtlCol="0" anchor="ctr"/>
          <a:lstStyle/>
          <a:p>
            <a:pPr indent="0" marL="0">
              <a:buNone/>
            </a:pPr>
            <a:r>
              <a:rPr lang="en-US" sz="1600" b="1" dirty="0">
                <a:solidFill>
                  <a:srgbClr val="14524A"/>
                </a:solidFill>
                <a:latin typeface="Cambria" pitchFamily="34" charset="0"/>
                <a:ea typeface="Cambria" pitchFamily="34" charset="-122"/>
                <a:cs typeface="Cambria" pitchFamily="34" charset="-120"/>
              </a:rPr>
              <a:t>Gasto predecible</a:t>
            </a:r>
            <a:endParaRPr lang="en-US" sz="1600" dirty="0"/>
          </a:p>
        </p:txBody>
      </p:sp>
      <p:sp>
        <p:nvSpPr>
          <p:cNvPr id="17" name="Text 15"/>
          <p:cNvSpPr txBox="1"/>
          <p:nvPr/>
        </p:nvSpPr>
        <p:spPr>
          <a:xfrm>
            <a:off x="8304581" y="3803904"/>
            <a:ext cx="2991002" cy="1152144"/>
          </a:xfrm>
          <a:prstGeom prst="rect">
            <a:avLst/>
          </a:prstGeom>
          <a:noFill/>
          <a:ln/>
        </p:spPr>
        <p:txBody>
          <a:bodyPr wrap="square" lIns="0" tIns="0" rIns="0" bIns="0" rtlCol="0" anchor="t"/>
          <a:lstStyle/>
          <a:p>
            <a:pPr indent="0" marL="0">
              <a:lnSpc>
                <a:spcPts val="1740"/>
              </a:lnSpc>
              <a:buNone/>
            </a:pPr>
            <a:r>
              <a:rPr lang="en-US" sz="1200" dirty="0">
                <a:solidFill>
                  <a:srgbClr val="1C2321"/>
                </a:solidFill>
                <a:latin typeface="Calibri" pitchFamily="34" charset="0"/>
                <a:ea typeface="Calibri" pitchFamily="34" charset="-122"/>
                <a:cs typeface="Calibri" pitchFamily="34" charset="-120"/>
              </a:rPr>
              <a:t>Alimento, arena, vacunas y controles se repiten cada mes. Quien captura esa recurrencia estabiliza su caja; quien espera en el mostrador, no.</a:t>
            </a:r>
            <a:endParaRPr lang="en-US" sz="1200" dirty="0"/>
          </a:p>
        </p:txBody>
      </p:sp>
      <p:sp>
        <p:nvSpPr>
          <p:cNvPr id="18" name="Shape 16"/>
          <p:cNvSpPr/>
          <p:nvPr/>
        </p:nvSpPr>
        <p:spPr>
          <a:xfrm>
            <a:off x="640080" y="5340096"/>
            <a:ext cx="10911535" cy="566928"/>
          </a:xfrm>
          <a:prstGeom prst="roundRect">
            <a:avLst>
              <a:gd name="adj" fmla="val 8065"/>
            </a:avLst>
          </a:prstGeom>
          <a:solidFill>
            <a:srgbClr val="EEF5F1"/>
          </a:solidFill>
          <a:ln w="12700">
            <a:solidFill>
              <a:srgbClr val="D9E5DF"/>
            </a:solidFill>
            <a:prstDash val="solid"/>
          </a:ln>
        </p:spPr>
      </p:sp>
      <p:sp>
        <p:nvSpPr>
          <p:cNvPr id="19" name="Text 17"/>
          <p:cNvSpPr txBox="1"/>
          <p:nvPr/>
        </p:nvSpPr>
        <p:spPr>
          <a:xfrm>
            <a:off x="914400" y="5340096"/>
            <a:ext cx="10362895" cy="566928"/>
          </a:xfrm>
          <a:prstGeom prst="rect">
            <a:avLst/>
          </a:prstGeom>
          <a:noFill/>
          <a:ln/>
        </p:spPr>
        <p:txBody>
          <a:bodyPr wrap="square" lIns="0" tIns="0" rIns="0" bIns="0" rtlCol="0" anchor="ctr"/>
          <a:lstStyle/>
          <a:p>
            <a:pPr indent="0" marL="0">
              <a:buNone/>
            </a:pPr>
            <a:r>
              <a:rPr lang="en-US" sz="1200" dirty="0">
                <a:solidFill>
                  <a:srgbClr val="1C2321"/>
                </a:solidFill>
                <a:latin typeface="Calibri" pitchFamily="34" charset="0"/>
                <a:ea typeface="Calibri" pitchFamily="34" charset="-122"/>
                <a:cs typeface="Calibri" pitchFamily="34" charset="-120"/>
              </a:rPr>
              <a:t>Modelo B2C: la empresa vende directo al consumidor final, sin intermediarios, y la mascota es el motivo de la recompra.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384048"/>
            <a:ext cx="10911535" cy="658368"/>
          </a:xfrm>
          <a:prstGeom prst="rect">
            <a:avLst/>
          </a:prstGeom>
          <a:noFill/>
          <a:ln/>
        </p:spPr>
        <p:txBody>
          <a:bodyPr wrap="square" lIns="0" tIns="0" rIns="0" bIns="0" rtlCol="0" anchor="ctr"/>
          <a:lstStyle/>
          <a:p>
            <a:pPr indent="0" marL="0">
              <a:buNone/>
            </a:pPr>
            <a:r>
              <a:rPr lang="en-US" sz="3200" b="1" dirty="0">
                <a:solidFill>
                  <a:srgbClr val="14524A"/>
                </a:solidFill>
                <a:latin typeface="Cambria" pitchFamily="34" charset="0"/>
                <a:ea typeface="Cambria" pitchFamily="34" charset="-122"/>
                <a:cs typeface="Cambria" pitchFamily="34" charset="-120"/>
              </a:rPr>
              <a:t>Diagnóstico: cinco problemas concretos</a:t>
            </a:r>
            <a:endParaRPr lang="en-US" sz="3200" dirty="0"/>
          </a:p>
        </p:txBody>
      </p:sp>
      <p:sp>
        <p:nvSpPr>
          <p:cNvPr id="3" name="Text 1"/>
          <p:cNvSpPr txBox="1"/>
          <p:nvPr/>
        </p:nvSpPr>
        <p:spPr>
          <a:xfrm>
            <a:off x="640080" y="1042416"/>
            <a:ext cx="10911535" cy="384048"/>
          </a:xfrm>
          <a:prstGeom prst="rect">
            <a:avLst/>
          </a:prstGeom>
          <a:noFill/>
          <a:ln/>
        </p:spPr>
        <p:txBody>
          <a:bodyPr wrap="square" lIns="0" tIns="0" rIns="0" bIns="0" rtlCol="0" anchor="ctr"/>
          <a:lstStyle/>
          <a:p>
            <a:pPr indent="0" marL="0">
              <a:buNone/>
            </a:pPr>
            <a:r>
              <a:rPr lang="en-US" sz="1400" dirty="0">
                <a:solidFill>
                  <a:srgbClr val="5D6B66"/>
                </a:solidFill>
                <a:latin typeface="Calibri" pitchFamily="34" charset="0"/>
                <a:ea typeface="Calibri" pitchFamily="34" charset="-122"/>
                <a:cs typeface="Calibri" pitchFamily="34" charset="-120"/>
              </a:rPr>
              <a:t>Lo que hoy le cuesta dinero a la empresa, según el levantamiento</a:t>
            </a:r>
            <a:endParaRPr lang="en-US" sz="1400" dirty="0"/>
          </a:p>
        </p:txBody>
      </p:sp>
      <p:sp>
        <p:nvSpPr>
          <p:cNvPr id="4" name="Shape 2"/>
          <p:cNvSpPr/>
          <p:nvPr/>
        </p:nvSpPr>
        <p:spPr>
          <a:xfrm>
            <a:off x="640080" y="1755648"/>
            <a:ext cx="10911535" cy="768096"/>
          </a:xfrm>
          <a:prstGeom prst="roundRect">
            <a:avLst>
              <a:gd name="adj" fmla="val 5952"/>
            </a:avLst>
          </a:prstGeom>
          <a:solidFill>
            <a:srgbClr val="EEF5F1"/>
          </a:solidFill>
          <a:ln w="12700">
            <a:solidFill>
              <a:srgbClr val="D9E5DF"/>
            </a:solidFill>
            <a:prstDash val="solid"/>
          </a:ln>
        </p:spPr>
      </p:sp>
      <p:sp>
        <p:nvSpPr>
          <p:cNvPr id="5" name="Shape 3"/>
          <p:cNvSpPr/>
          <p:nvPr/>
        </p:nvSpPr>
        <p:spPr>
          <a:xfrm>
            <a:off x="841248" y="1993392"/>
            <a:ext cx="749808" cy="292608"/>
          </a:xfrm>
          <a:prstGeom prst="roundRect">
            <a:avLst>
              <a:gd name="adj" fmla="val 156250"/>
            </a:avLst>
          </a:prstGeom>
          <a:solidFill>
            <a:srgbClr val="14524A"/>
          </a:solidFill>
          <a:ln w="12700">
            <a:solidFill>
              <a:srgbClr val="14524A"/>
            </a:solidFill>
            <a:prstDash val="solid"/>
          </a:ln>
        </p:spPr>
      </p:sp>
      <p:sp>
        <p:nvSpPr>
          <p:cNvPr id="6" name="Text 4"/>
          <p:cNvSpPr txBox="1"/>
          <p:nvPr/>
        </p:nvSpPr>
        <p:spPr>
          <a:xfrm>
            <a:off x="841248" y="1993392"/>
            <a:ext cx="7498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N-01</a:t>
            </a:r>
            <a:endParaRPr lang="en-US" sz="1050" dirty="0"/>
          </a:p>
        </p:txBody>
      </p:sp>
      <p:sp>
        <p:nvSpPr>
          <p:cNvPr id="7" name="Text 5"/>
          <p:cNvSpPr txBox="1"/>
          <p:nvPr/>
        </p:nvSpPr>
        <p:spPr>
          <a:xfrm>
            <a:off x="1719072" y="1828800"/>
            <a:ext cx="4846320" cy="310896"/>
          </a:xfrm>
          <a:prstGeom prst="rect">
            <a:avLst/>
          </a:prstGeom>
          <a:noFill/>
          <a:ln/>
        </p:spPr>
        <p:txBody>
          <a:bodyPr wrap="square" lIns="0" tIns="0" rIns="0" bIns="0" rtlCol="0" anchor="ctr"/>
          <a:lstStyle/>
          <a:p>
            <a:pPr indent="0" marL="0">
              <a:buNone/>
            </a:pPr>
            <a:r>
              <a:rPr lang="en-US" sz="1250" b="1" dirty="0">
                <a:solidFill>
                  <a:srgbClr val="1C2321"/>
                </a:solidFill>
                <a:latin typeface="Calibri" pitchFamily="34" charset="0"/>
                <a:ea typeface="Calibri" pitchFamily="34" charset="-122"/>
                <a:cs typeface="Calibri" pitchFamily="34" charset="-120"/>
              </a:rPr>
              <a:t>Las citas se coordinan por llamada y WhatsApp personal</a:t>
            </a:r>
            <a:endParaRPr lang="en-US" sz="1250" dirty="0"/>
          </a:p>
        </p:txBody>
      </p:sp>
      <p:sp>
        <p:nvSpPr>
          <p:cNvPr id="8" name="Text 6"/>
          <p:cNvSpPr txBox="1"/>
          <p:nvPr/>
        </p:nvSpPr>
        <p:spPr>
          <a:xfrm>
            <a:off x="1719072" y="2139696"/>
            <a:ext cx="9235440" cy="310896"/>
          </a:xfrm>
          <a:prstGeom prst="rect">
            <a:avLst/>
          </a:prstGeom>
          <a:noFill/>
          <a:ln/>
        </p:spPr>
        <p:txBody>
          <a:bodyPr wrap="square" lIns="0" tIns="0" rIns="0" bIns="0" rtlCol="0" anchor="ctr"/>
          <a:lstStyle/>
          <a:p>
            <a:pPr indent="0" marL="0">
              <a:buNone/>
            </a:pPr>
            <a:r>
              <a:rPr lang="en-US" sz="1100" dirty="0">
                <a:solidFill>
                  <a:srgbClr val="5D6B66"/>
                </a:solidFill>
                <a:latin typeface="Calibri" pitchFamily="34" charset="0"/>
                <a:ea typeface="Calibri" pitchFamily="34" charset="-122"/>
                <a:cs typeface="Calibri" pitchFamily="34" charset="-120"/>
              </a:rPr>
              <a:t>Dos mascotas citadas a la misma hora, y clientes que no logran comunicarse y se van</a:t>
            </a:r>
            <a:endParaRPr lang="en-US" sz="1100" dirty="0"/>
          </a:p>
        </p:txBody>
      </p:sp>
      <p:sp>
        <p:nvSpPr>
          <p:cNvPr id="9" name="Shape 7"/>
          <p:cNvSpPr/>
          <p:nvPr/>
        </p:nvSpPr>
        <p:spPr>
          <a:xfrm>
            <a:off x="640080" y="2615184"/>
            <a:ext cx="10911535" cy="768096"/>
          </a:xfrm>
          <a:prstGeom prst="roundRect">
            <a:avLst>
              <a:gd name="adj" fmla="val 5952"/>
            </a:avLst>
          </a:prstGeom>
          <a:solidFill>
            <a:srgbClr val="EEF5F1"/>
          </a:solidFill>
          <a:ln w="12700">
            <a:solidFill>
              <a:srgbClr val="D9E5DF"/>
            </a:solidFill>
            <a:prstDash val="solid"/>
          </a:ln>
        </p:spPr>
      </p:sp>
      <p:sp>
        <p:nvSpPr>
          <p:cNvPr id="10" name="Shape 8"/>
          <p:cNvSpPr/>
          <p:nvPr/>
        </p:nvSpPr>
        <p:spPr>
          <a:xfrm>
            <a:off x="841248" y="2852928"/>
            <a:ext cx="749808" cy="292608"/>
          </a:xfrm>
          <a:prstGeom prst="roundRect">
            <a:avLst>
              <a:gd name="adj" fmla="val 156250"/>
            </a:avLst>
          </a:prstGeom>
          <a:solidFill>
            <a:srgbClr val="14524A"/>
          </a:solidFill>
          <a:ln w="12700">
            <a:solidFill>
              <a:srgbClr val="14524A"/>
            </a:solidFill>
            <a:prstDash val="solid"/>
          </a:ln>
        </p:spPr>
      </p:sp>
      <p:sp>
        <p:nvSpPr>
          <p:cNvPr id="11" name="Text 9"/>
          <p:cNvSpPr txBox="1"/>
          <p:nvPr/>
        </p:nvSpPr>
        <p:spPr>
          <a:xfrm>
            <a:off x="841248" y="2852928"/>
            <a:ext cx="7498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N-02</a:t>
            </a:r>
            <a:endParaRPr lang="en-US" sz="1050" dirty="0"/>
          </a:p>
        </p:txBody>
      </p:sp>
      <p:sp>
        <p:nvSpPr>
          <p:cNvPr id="12" name="Text 10"/>
          <p:cNvSpPr txBox="1"/>
          <p:nvPr/>
        </p:nvSpPr>
        <p:spPr>
          <a:xfrm>
            <a:off x="1719072" y="2688336"/>
            <a:ext cx="4846320" cy="310896"/>
          </a:xfrm>
          <a:prstGeom prst="rect">
            <a:avLst/>
          </a:prstGeom>
          <a:noFill/>
          <a:ln/>
        </p:spPr>
        <p:txBody>
          <a:bodyPr wrap="square" lIns="0" tIns="0" rIns="0" bIns="0" rtlCol="0" anchor="ctr"/>
          <a:lstStyle/>
          <a:p>
            <a:pPr indent="0" marL="0">
              <a:buNone/>
            </a:pPr>
            <a:r>
              <a:rPr lang="en-US" sz="1250" b="1" dirty="0">
                <a:solidFill>
                  <a:srgbClr val="1C2321"/>
                </a:solidFill>
                <a:latin typeface="Calibri" pitchFamily="34" charset="0"/>
                <a:ea typeface="Calibri" pitchFamily="34" charset="-122"/>
                <a:cs typeface="Calibri" pitchFamily="34" charset="-120"/>
              </a:rPr>
              <a:t>El historial de cada mascota vive en fichas de cartón</a:t>
            </a:r>
            <a:endParaRPr lang="en-US" sz="1250" dirty="0"/>
          </a:p>
        </p:txBody>
      </p:sp>
      <p:sp>
        <p:nvSpPr>
          <p:cNvPr id="13" name="Text 11"/>
          <p:cNvSpPr txBox="1"/>
          <p:nvPr/>
        </p:nvSpPr>
        <p:spPr>
          <a:xfrm>
            <a:off x="1719072" y="2999232"/>
            <a:ext cx="9235440" cy="310896"/>
          </a:xfrm>
          <a:prstGeom prst="rect">
            <a:avLst/>
          </a:prstGeom>
          <a:noFill/>
          <a:ln/>
        </p:spPr>
        <p:txBody>
          <a:bodyPr wrap="square" lIns="0" tIns="0" rIns="0" bIns="0" rtlCol="0" anchor="ctr"/>
          <a:lstStyle/>
          <a:p>
            <a:pPr indent="0" marL="0">
              <a:buNone/>
            </a:pPr>
            <a:r>
              <a:rPr lang="en-US" sz="1100" dirty="0">
                <a:solidFill>
                  <a:srgbClr val="5D6B66"/>
                </a:solidFill>
                <a:latin typeface="Calibri" pitchFamily="34" charset="0"/>
                <a:ea typeface="Calibri" pitchFamily="34" charset="-122"/>
                <a:cs typeface="Calibri" pitchFamily="34" charset="-120"/>
              </a:rPr>
              <a:t>Información que se pierde y que no se puede consultar de forma remota</a:t>
            </a:r>
            <a:endParaRPr lang="en-US" sz="1100" dirty="0"/>
          </a:p>
        </p:txBody>
      </p:sp>
      <p:sp>
        <p:nvSpPr>
          <p:cNvPr id="14" name="Shape 12"/>
          <p:cNvSpPr/>
          <p:nvPr/>
        </p:nvSpPr>
        <p:spPr>
          <a:xfrm>
            <a:off x="640080" y="3474720"/>
            <a:ext cx="10911535" cy="768096"/>
          </a:xfrm>
          <a:prstGeom prst="roundRect">
            <a:avLst>
              <a:gd name="adj" fmla="val 5952"/>
            </a:avLst>
          </a:prstGeom>
          <a:solidFill>
            <a:srgbClr val="EEF5F1"/>
          </a:solidFill>
          <a:ln w="12700">
            <a:solidFill>
              <a:srgbClr val="D9E5DF"/>
            </a:solidFill>
            <a:prstDash val="solid"/>
          </a:ln>
        </p:spPr>
      </p:sp>
      <p:sp>
        <p:nvSpPr>
          <p:cNvPr id="15" name="Shape 13"/>
          <p:cNvSpPr/>
          <p:nvPr/>
        </p:nvSpPr>
        <p:spPr>
          <a:xfrm>
            <a:off x="841248" y="3712464"/>
            <a:ext cx="749808" cy="292608"/>
          </a:xfrm>
          <a:prstGeom prst="roundRect">
            <a:avLst>
              <a:gd name="adj" fmla="val 156250"/>
            </a:avLst>
          </a:prstGeom>
          <a:solidFill>
            <a:srgbClr val="14524A"/>
          </a:solidFill>
          <a:ln w="12700">
            <a:solidFill>
              <a:srgbClr val="14524A"/>
            </a:solidFill>
            <a:prstDash val="solid"/>
          </a:ln>
        </p:spPr>
      </p:sp>
      <p:sp>
        <p:nvSpPr>
          <p:cNvPr id="16" name="Text 14"/>
          <p:cNvSpPr txBox="1"/>
          <p:nvPr/>
        </p:nvSpPr>
        <p:spPr>
          <a:xfrm>
            <a:off x="841248" y="3712464"/>
            <a:ext cx="7498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N-03</a:t>
            </a:r>
            <a:endParaRPr lang="en-US" sz="1050" dirty="0"/>
          </a:p>
        </p:txBody>
      </p:sp>
      <p:sp>
        <p:nvSpPr>
          <p:cNvPr id="17" name="Text 15"/>
          <p:cNvSpPr txBox="1"/>
          <p:nvPr/>
        </p:nvSpPr>
        <p:spPr>
          <a:xfrm>
            <a:off x="1719072" y="3547872"/>
            <a:ext cx="4846320" cy="310896"/>
          </a:xfrm>
          <a:prstGeom prst="rect">
            <a:avLst/>
          </a:prstGeom>
          <a:noFill/>
          <a:ln/>
        </p:spPr>
        <p:txBody>
          <a:bodyPr wrap="square" lIns="0" tIns="0" rIns="0" bIns="0" rtlCol="0" anchor="ctr"/>
          <a:lstStyle/>
          <a:p>
            <a:pPr indent="0" marL="0">
              <a:buNone/>
            </a:pPr>
            <a:r>
              <a:rPr lang="en-US" sz="1250" b="1" dirty="0">
                <a:solidFill>
                  <a:srgbClr val="1C2321"/>
                </a:solidFill>
                <a:latin typeface="Calibri" pitchFamily="34" charset="0"/>
                <a:ea typeface="Calibri" pitchFamily="34" charset="-122"/>
                <a:cs typeface="Calibri" pitchFamily="34" charset="-120"/>
              </a:rPr>
              <a:t>El inventario se lleva en un cuaderno</a:t>
            </a:r>
            <a:endParaRPr lang="en-US" sz="1250" dirty="0"/>
          </a:p>
        </p:txBody>
      </p:sp>
      <p:sp>
        <p:nvSpPr>
          <p:cNvPr id="18" name="Text 16"/>
          <p:cNvSpPr txBox="1"/>
          <p:nvPr/>
        </p:nvSpPr>
        <p:spPr>
          <a:xfrm>
            <a:off x="1719072" y="3858768"/>
            <a:ext cx="9235440" cy="310896"/>
          </a:xfrm>
          <a:prstGeom prst="rect">
            <a:avLst/>
          </a:prstGeom>
          <a:noFill/>
          <a:ln/>
        </p:spPr>
        <p:txBody>
          <a:bodyPr wrap="square" lIns="0" tIns="0" rIns="0" bIns="0" rtlCol="0" anchor="ctr"/>
          <a:lstStyle/>
          <a:p>
            <a:pPr indent="0" marL="0">
              <a:buNone/>
            </a:pPr>
            <a:r>
              <a:rPr lang="en-US" sz="1100" dirty="0">
                <a:solidFill>
                  <a:srgbClr val="5D6B66"/>
                </a:solidFill>
                <a:latin typeface="Calibri" pitchFamily="34" charset="0"/>
                <a:ea typeface="Calibri" pitchFamily="34" charset="-122"/>
                <a:cs typeface="Calibri" pitchFamily="34" charset="-120"/>
              </a:rPr>
              <a:t>Quiebre de stock del alimento, que es lo que más rota, y sobre-stock de lo que no vende</a:t>
            </a:r>
            <a:endParaRPr lang="en-US" sz="1100" dirty="0"/>
          </a:p>
        </p:txBody>
      </p:sp>
      <p:sp>
        <p:nvSpPr>
          <p:cNvPr id="19" name="Shape 17"/>
          <p:cNvSpPr/>
          <p:nvPr/>
        </p:nvSpPr>
        <p:spPr>
          <a:xfrm>
            <a:off x="640080" y="4334256"/>
            <a:ext cx="10911535" cy="768096"/>
          </a:xfrm>
          <a:prstGeom prst="roundRect">
            <a:avLst>
              <a:gd name="adj" fmla="val 5952"/>
            </a:avLst>
          </a:prstGeom>
          <a:solidFill>
            <a:srgbClr val="EEF5F1"/>
          </a:solidFill>
          <a:ln w="12700">
            <a:solidFill>
              <a:srgbClr val="D9E5DF"/>
            </a:solidFill>
            <a:prstDash val="solid"/>
          </a:ln>
        </p:spPr>
      </p:sp>
      <p:sp>
        <p:nvSpPr>
          <p:cNvPr id="20" name="Shape 18"/>
          <p:cNvSpPr/>
          <p:nvPr/>
        </p:nvSpPr>
        <p:spPr>
          <a:xfrm>
            <a:off x="841248" y="4572000"/>
            <a:ext cx="749808" cy="292608"/>
          </a:xfrm>
          <a:prstGeom prst="roundRect">
            <a:avLst>
              <a:gd name="adj" fmla="val 156250"/>
            </a:avLst>
          </a:prstGeom>
          <a:solidFill>
            <a:srgbClr val="14524A"/>
          </a:solidFill>
          <a:ln w="12700">
            <a:solidFill>
              <a:srgbClr val="14524A"/>
            </a:solidFill>
            <a:prstDash val="solid"/>
          </a:ln>
        </p:spPr>
      </p:sp>
      <p:sp>
        <p:nvSpPr>
          <p:cNvPr id="21" name="Text 19"/>
          <p:cNvSpPr txBox="1"/>
          <p:nvPr/>
        </p:nvSpPr>
        <p:spPr>
          <a:xfrm>
            <a:off x="841248" y="4572000"/>
            <a:ext cx="7498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N-04</a:t>
            </a:r>
            <a:endParaRPr lang="en-US" sz="1050" dirty="0"/>
          </a:p>
        </p:txBody>
      </p:sp>
      <p:sp>
        <p:nvSpPr>
          <p:cNvPr id="22" name="Text 20"/>
          <p:cNvSpPr txBox="1"/>
          <p:nvPr/>
        </p:nvSpPr>
        <p:spPr>
          <a:xfrm>
            <a:off x="1719072" y="4407408"/>
            <a:ext cx="4846320" cy="310896"/>
          </a:xfrm>
          <a:prstGeom prst="rect">
            <a:avLst/>
          </a:prstGeom>
          <a:noFill/>
          <a:ln/>
        </p:spPr>
        <p:txBody>
          <a:bodyPr wrap="square" lIns="0" tIns="0" rIns="0" bIns="0" rtlCol="0" anchor="ctr"/>
          <a:lstStyle/>
          <a:p>
            <a:pPr indent="0" marL="0">
              <a:buNone/>
            </a:pPr>
            <a:r>
              <a:rPr lang="en-US" sz="1250" b="1" dirty="0">
                <a:solidFill>
                  <a:srgbClr val="1C2321"/>
                </a:solidFill>
                <a:latin typeface="Calibri" pitchFamily="34" charset="0"/>
                <a:ea typeface="Calibri" pitchFamily="34" charset="-122"/>
                <a:cs typeface="Calibri" pitchFamily="34" charset="-120"/>
              </a:rPr>
              <a:t>No existe ningún canal de venta en línea</a:t>
            </a:r>
            <a:endParaRPr lang="en-US" sz="1250" dirty="0"/>
          </a:p>
        </p:txBody>
      </p:sp>
      <p:sp>
        <p:nvSpPr>
          <p:cNvPr id="23" name="Text 21"/>
          <p:cNvSpPr txBox="1"/>
          <p:nvPr/>
        </p:nvSpPr>
        <p:spPr>
          <a:xfrm>
            <a:off x="1719072" y="4718304"/>
            <a:ext cx="9235440" cy="310896"/>
          </a:xfrm>
          <a:prstGeom prst="rect">
            <a:avLst/>
          </a:prstGeom>
          <a:noFill/>
          <a:ln/>
        </p:spPr>
        <p:txBody>
          <a:bodyPr wrap="square" lIns="0" tIns="0" rIns="0" bIns="0" rtlCol="0" anchor="ctr"/>
          <a:lstStyle/>
          <a:p>
            <a:pPr indent="0" marL="0">
              <a:buNone/>
            </a:pPr>
            <a:r>
              <a:rPr lang="en-US" sz="1100" dirty="0">
                <a:solidFill>
                  <a:srgbClr val="5D6B66"/>
                </a:solidFill>
                <a:latin typeface="Calibri" pitchFamily="34" charset="0"/>
                <a:ea typeface="Calibri" pitchFamily="34" charset="-122"/>
                <a:cs typeface="Calibri" pitchFamily="34" charset="-120"/>
              </a:rPr>
              <a:t>El ingreso depende del tráfico peatonal y cae fuera de campaña</a:t>
            </a:r>
            <a:endParaRPr lang="en-US" sz="1100" dirty="0"/>
          </a:p>
        </p:txBody>
      </p:sp>
      <p:sp>
        <p:nvSpPr>
          <p:cNvPr id="24" name="Shape 22"/>
          <p:cNvSpPr/>
          <p:nvPr/>
        </p:nvSpPr>
        <p:spPr>
          <a:xfrm>
            <a:off x="640080" y="5193792"/>
            <a:ext cx="10911535" cy="768096"/>
          </a:xfrm>
          <a:prstGeom prst="roundRect">
            <a:avLst>
              <a:gd name="adj" fmla="val 5952"/>
            </a:avLst>
          </a:prstGeom>
          <a:solidFill>
            <a:srgbClr val="EEF5F1"/>
          </a:solidFill>
          <a:ln w="12700">
            <a:solidFill>
              <a:srgbClr val="D9E5DF"/>
            </a:solidFill>
            <a:prstDash val="solid"/>
          </a:ln>
        </p:spPr>
      </p:sp>
      <p:sp>
        <p:nvSpPr>
          <p:cNvPr id="25" name="Shape 23"/>
          <p:cNvSpPr/>
          <p:nvPr/>
        </p:nvSpPr>
        <p:spPr>
          <a:xfrm>
            <a:off x="841248" y="5431536"/>
            <a:ext cx="749808" cy="292608"/>
          </a:xfrm>
          <a:prstGeom prst="roundRect">
            <a:avLst>
              <a:gd name="adj" fmla="val 156250"/>
            </a:avLst>
          </a:prstGeom>
          <a:solidFill>
            <a:srgbClr val="14524A"/>
          </a:solidFill>
          <a:ln w="12700">
            <a:solidFill>
              <a:srgbClr val="14524A"/>
            </a:solidFill>
            <a:prstDash val="solid"/>
          </a:ln>
        </p:spPr>
      </p:sp>
      <p:sp>
        <p:nvSpPr>
          <p:cNvPr id="26" name="Text 24"/>
          <p:cNvSpPr txBox="1"/>
          <p:nvPr/>
        </p:nvSpPr>
        <p:spPr>
          <a:xfrm>
            <a:off x="841248" y="5431536"/>
            <a:ext cx="7498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N-05</a:t>
            </a:r>
            <a:endParaRPr lang="en-US" sz="1050" dirty="0"/>
          </a:p>
        </p:txBody>
      </p:sp>
      <p:sp>
        <p:nvSpPr>
          <p:cNvPr id="27" name="Text 25"/>
          <p:cNvSpPr txBox="1"/>
          <p:nvPr/>
        </p:nvSpPr>
        <p:spPr>
          <a:xfrm>
            <a:off x="1719072" y="5266944"/>
            <a:ext cx="4846320" cy="310896"/>
          </a:xfrm>
          <a:prstGeom prst="rect">
            <a:avLst/>
          </a:prstGeom>
          <a:noFill/>
          <a:ln/>
        </p:spPr>
        <p:txBody>
          <a:bodyPr wrap="square" lIns="0" tIns="0" rIns="0" bIns="0" rtlCol="0" anchor="ctr"/>
          <a:lstStyle/>
          <a:p>
            <a:pPr indent="0" marL="0">
              <a:buNone/>
            </a:pPr>
            <a:r>
              <a:rPr lang="en-US" sz="1250" b="1" dirty="0">
                <a:solidFill>
                  <a:srgbClr val="1C2321"/>
                </a:solidFill>
                <a:latin typeface="Calibri" pitchFamily="34" charset="0"/>
                <a:ea typeface="Calibri" pitchFamily="34" charset="-122"/>
                <a:cs typeface="Calibri" pitchFamily="34" charset="-120"/>
              </a:rPr>
              <a:t>No hay ningún recordatorio hacia el cliente</a:t>
            </a:r>
            <a:endParaRPr lang="en-US" sz="1250" dirty="0"/>
          </a:p>
        </p:txBody>
      </p:sp>
      <p:sp>
        <p:nvSpPr>
          <p:cNvPr id="28" name="Text 26"/>
          <p:cNvSpPr txBox="1"/>
          <p:nvPr/>
        </p:nvSpPr>
        <p:spPr>
          <a:xfrm>
            <a:off x="1719072" y="5577840"/>
            <a:ext cx="9235440" cy="310896"/>
          </a:xfrm>
          <a:prstGeom prst="rect">
            <a:avLst/>
          </a:prstGeom>
          <a:noFill/>
          <a:ln/>
        </p:spPr>
        <p:txBody>
          <a:bodyPr wrap="square" lIns="0" tIns="0" rIns="0" bIns="0" rtlCol="0" anchor="ctr"/>
          <a:lstStyle/>
          <a:p>
            <a:pPr indent="0" marL="0">
              <a:buNone/>
            </a:pPr>
            <a:r>
              <a:rPr lang="en-US" sz="1100" dirty="0">
                <a:solidFill>
                  <a:srgbClr val="5D6B66"/>
                </a:solidFill>
                <a:latin typeface="Calibri" pitchFamily="34" charset="0"/>
                <a:ea typeface="Calibri" pitchFamily="34" charset="-122"/>
                <a:cs typeface="Calibri" pitchFamily="34" charset="-120"/>
              </a:rPr>
              <a:t>El dueño olvida el control y la recompra; la fidelización se pierde</a:t>
            </a:r>
            <a:endParaRPr lang="en-US" sz="1100" dirty="0"/>
          </a:p>
        </p:txBody>
      </p:sp>
      <p:sp>
        <p:nvSpPr>
          <p:cNvPr id="29" name="Text 27"/>
          <p:cNvSpPr txBox="1"/>
          <p:nvPr/>
        </p:nvSpPr>
        <p:spPr>
          <a:xfrm>
            <a:off x="640080" y="6327648"/>
            <a:ext cx="10911535" cy="292608"/>
          </a:xfrm>
          <a:prstGeom prst="rect">
            <a:avLst/>
          </a:prstGeom>
          <a:noFill/>
          <a:ln/>
        </p:spPr>
        <p:txBody>
          <a:bodyPr wrap="square" lIns="0" tIns="0" rIns="0" bIns="0" rtlCol="0" anchor="ctr"/>
          <a:lstStyle/>
          <a:p>
            <a:pPr indent="0" marL="0">
              <a:buNone/>
            </a:pPr>
            <a:r>
              <a:rPr lang="en-US" sz="1000" i="1" dirty="0">
                <a:solidFill>
                  <a:srgbClr val="5D6B66"/>
                </a:solidFill>
                <a:latin typeface="Calibri" pitchFamily="34" charset="0"/>
                <a:ea typeface="Calibri" pitchFamily="34" charset="-122"/>
                <a:cs typeface="Calibri" pitchFamily="34" charset="-120"/>
              </a:rPr>
              <a:t>Fuente: entrevistas con gerencia, veterinarios y encargada de tienda, más observación de un día de atención.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384048"/>
            <a:ext cx="10911535" cy="658368"/>
          </a:xfrm>
          <a:prstGeom prst="rect">
            <a:avLst/>
          </a:prstGeom>
          <a:noFill/>
          <a:ln/>
        </p:spPr>
        <p:txBody>
          <a:bodyPr wrap="square" lIns="0" tIns="0" rIns="0" bIns="0" rtlCol="0" anchor="ctr"/>
          <a:lstStyle/>
          <a:p>
            <a:pPr indent="0" marL="0">
              <a:buNone/>
            </a:pPr>
            <a:r>
              <a:rPr lang="en-US" sz="3200" b="1" dirty="0">
                <a:solidFill>
                  <a:srgbClr val="14524A"/>
                </a:solidFill>
                <a:latin typeface="Cambria" pitchFamily="34" charset="0"/>
                <a:ea typeface="Cambria" pitchFamily="34" charset="-122"/>
                <a:cs typeface="Cambria" pitchFamily="34" charset="-120"/>
              </a:rPr>
              <a:t>Tres objetivos con métrica y plazo</a:t>
            </a:r>
            <a:endParaRPr lang="en-US" sz="3200" dirty="0"/>
          </a:p>
        </p:txBody>
      </p:sp>
      <p:sp>
        <p:nvSpPr>
          <p:cNvPr id="3" name="Text 1"/>
          <p:cNvSpPr txBox="1"/>
          <p:nvPr/>
        </p:nvSpPr>
        <p:spPr>
          <a:xfrm>
            <a:off x="640080" y="1042416"/>
            <a:ext cx="10911535" cy="384048"/>
          </a:xfrm>
          <a:prstGeom prst="rect">
            <a:avLst/>
          </a:prstGeom>
          <a:noFill/>
          <a:ln/>
        </p:spPr>
        <p:txBody>
          <a:bodyPr wrap="square" lIns="0" tIns="0" rIns="0" bIns="0" rtlCol="0" anchor="ctr"/>
          <a:lstStyle/>
          <a:p>
            <a:pPr indent="0" marL="0">
              <a:buNone/>
            </a:pPr>
            <a:r>
              <a:rPr lang="en-US" sz="1400" dirty="0">
                <a:solidFill>
                  <a:srgbClr val="5D6B66"/>
                </a:solidFill>
                <a:latin typeface="Calibri" pitchFamily="34" charset="0"/>
                <a:ea typeface="Calibri" pitchFamily="34" charset="-122"/>
                <a:cs typeface="Calibri" pitchFamily="34" charset="-120"/>
              </a:rPr>
              <a:t>Así se medirá si el proyecto sirvió</a:t>
            </a:r>
            <a:endParaRPr lang="en-US" sz="1400" dirty="0"/>
          </a:p>
        </p:txBody>
      </p:sp>
      <p:sp>
        <p:nvSpPr>
          <p:cNvPr id="4" name="Shape 2"/>
          <p:cNvSpPr/>
          <p:nvPr/>
        </p:nvSpPr>
        <p:spPr>
          <a:xfrm>
            <a:off x="640080" y="1737360"/>
            <a:ext cx="3503066" cy="4114800"/>
          </a:xfrm>
          <a:prstGeom prst="roundRect">
            <a:avLst>
              <a:gd name="adj" fmla="val 1305"/>
            </a:avLst>
          </a:prstGeom>
          <a:solidFill>
            <a:srgbClr val="14524A"/>
          </a:solidFill>
          <a:ln w="12700">
            <a:solidFill>
              <a:srgbClr val="14524A"/>
            </a:solidFill>
            <a:prstDash val="solid"/>
          </a:ln>
        </p:spPr>
      </p:sp>
      <p:sp>
        <p:nvSpPr>
          <p:cNvPr id="5" name="Text 3"/>
          <p:cNvSpPr txBox="1"/>
          <p:nvPr/>
        </p:nvSpPr>
        <p:spPr>
          <a:xfrm>
            <a:off x="640080" y="1938528"/>
            <a:ext cx="3503066" cy="1097280"/>
          </a:xfrm>
          <a:prstGeom prst="rect">
            <a:avLst/>
          </a:prstGeom>
          <a:noFill/>
          <a:ln/>
        </p:spPr>
        <p:txBody>
          <a:bodyPr wrap="square" lIns="0" tIns="0" rIns="0" bIns="0" rtlCol="0" anchor="ctr"/>
          <a:lstStyle/>
          <a:p>
            <a:pPr algn="ctr" indent="0" marL="0">
              <a:buNone/>
            </a:pPr>
            <a:r>
              <a:rPr lang="en-US" sz="5400" b="1" dirty="0">
                <a:solidFill>
                  <a:srgbClr val="E8A33D"/>
                </a:solidFill>
                <a:latin typeface="Cambria" pitchFamily="34" charset="0"/>
                <a:ea typeface="Cambria" pitchFamily="34" charset="-122"/>
                <a:cs typeface="Cambria" pitchFamily="34" charset="-120"/>
              </a:rPr>
              <a:t>+30%</a:t>
            </a:r>
            <a:endParaRPr lang="en-US" sz="5400" dirty="0"/>
          </a:p>
        </p:txBody>
      </p:sp>
      <p:sp>
        <p:nvSpPr>
          <p:cNvPr id="6" name="Text 4"/>
          <p:cNvSpPr txBox="1"/>
          <p:nvPr/>
        </p:nvSpPr>
        <p:spPr>
          <a:xfrm>
            <a:off x="640080" y="3035808"/>
            <a:ext cx="3503066"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OE-1  ·  Ventas recurrentes</a:t>
            </a:r>
            <a:endParaRPr lang="en-US" sz="1250" dirty="0"/>
          </a:p>
        </p:txBody>
      </p:sp>
      <p:sp>
        <p:nvSpPr>
          <p:cNvPr id="7" name="Text 5"/>
          <p:cNvSpPr txBox="1"/>
          <p:nvPr/>
        </p:nvSpPr>
        <p:spPr>
          <a:xfrm>
            <a:off x="914400" y="3493008"/>
            <a:ext cx="2954426" cy="1371600"/>
          </a:xfrm>
          <a:prstGeom prst="rect">
            <a:avLst/>
          </a:prstGeom>
          <a:noFill/>
          <a:ln/>
        </p:spPr>
        <p:txBody>
          <a:bodyPr wrap="square" lIns="0" tIns="0" rIns="0" bIns="0" rtlCol="0" anchor="t"/>
          <a:lstStyle/>
          <a:p>
            <a:pPr indent="0" marL="0">
              <a:lnSpc>
                <a:spcPts val="1700"/>
              </a:lnSpc>
              <a:buNone/>
            </a:pPr>
            <a:r>
              <a:rPr lang="en-US" sz="1200" dirty="0">
                <a:solidFill>
                  <a:srgbClr val="CFE3DC"/>
                </a:solidFill>
                <a:latin typeface="Calibri" pitchFamily="34" charset="0"/>
                <a:ea typeface="Calibri" pitchFamily="34" charset="-122"/>
                <a:cs typeface="Calibri" pitchFamily="34" charset="-120"/>
              </a:rPr>
              <a:t>Incrementar la venta mensual recurrente de alimento y arena mediante la suscripción</a:t>
            </a:r>
            <a:endParaRPr lang="en-US" sz="1200" dirty="0"/>
          </a:p>
        </p:txBody>
      </p:sp>
      <p:sp>
        <p:nvSpPr>
          <p:cNvPr id="8" name="Shape 6"/>
          <p:cNvSpPr/>
          <p:nvPr/>
        </p:nvSpPr>
        <p:spPr>
          <a:xfrm>
            <a:off x="1614373" y="5120640"/>
            <a:ext cx="1554480" cy="384048"/>
          </a:xfrm>
          <a:prstGeom prst="roundRect">
            <a:avLst>
              <a:gd name="adj" fmla="val 119048"/>
            </a:avLst>
          </a:prstGeom>
          <a:solidFill>
            <a:srgbClr val="2C7A6B"/>
          </a:solidFill>
          <a:ln w="12700">
            <a:solidFill>
              <a:srgbClr val="2C7A6B"/>
            </a:solidFill>
            <a:prstDash val="solid"/>
          </a:ln>
        </p:spPr>
      </p:sp>
      <p:sp>
        <p:nvSpPr>
          <p:cNvPr id="9" name="Text 7"/>
          <p:cNvSpPr txBox="1"/>
          <p:nvPr/>
        </p:nvSpPr>
        <p:spPr>
          <a:xfrm>
            <a:off x="1614373" y="5120640"/>
            <a:ext cx="15544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Plazo: 6 meses</a:t>
            </a:r>
            <a:endParaRPr lang="en-US" sz="1100" dirty="0"/>
          </a:p>
        </p:txBody>
      </p:sp>
      <p:sp>
        <p:nvSpPr>
          <p:cNvPr id="10" name="Shape 8"/>
          <p:cNvSpPr/>
          <p:nvPr/>
        </p:nvSpPr>
        <p:spPr>
          <a:xfrm>
            <a:off x="4344314" y="1737360"/>
            <a:ext cx="3503066" cy="4114800"/>
          </a:xfrm>
          <a:prstGeom prst="roundRect">
            <a:avLst>
              <a:gd name="adj" fmla="val 1305"/>
            </a:avLst>
          </a:prstGeom>
          <a:solidFill>
            <a:srgbClr val="EEF5F1"/>
          </a:solidFill>
          <a:ln w="12700">
            <a:solidFill>
              <a:srgbClr val="D9E5DF"/>
            </a:solidFill>
            <a:prstDash val="solid"/>
          </a:ln>
        </p:spPr>
      </p:sp>
      <p:sp>
        <p:nvSpPr>
          <p:cNvPr id="11" name="Text 9"/>
          <p:cNvSpPr txBox="1"/>
          <p:nvPr/>
        </p:nvSpPr>
        <p:spPr>
          <a:xfrm>
            <a:off x="4344314" y="1938528"/>
            <a:ext cx="3503066" cy="1097280"/>
          </a:xfrm>
          <a:prstGeom prst="rect">
            <a:avLst/>
          </a:prstGeom>
          <a:noFill/>
          <a:ln/>
        </p:spPr>
        <p:txBody>
          <a:bodyPr wrap="square" lIns="0" tIns="0" rIns="0" bIns="0" rtlCol="0" anchor="ctr"/>
          <a:lstStyle/>
          <a:p>
            <a:pPr algn="ctr" indent="0" marL="0">
              <a:buNone/>
            </a:pPr>
            <a:r>
              <a:rPr lang="en-US" sz="5400" b="1" dirty="0">
                <a:solidFill>
                  <a:srgbClr val="14524A"/>
                </a:solidFill>
                <a:latin typeface="Cambria" pitchFamily="34" charset="0"/>
                <a:ea typeface="Cambria" pitchFamily="34" charset="-122"/>
                <a:cs typeface="Cambria" pitchFamily="34" charset="-120"/>
              </a:rPr>
              <a:t>−40%</a:t>
            </a:r>
            <a:endParaRPr lang="en-US" sz="5400" dirty="0"/>
          </a:p>
        </p:txBody>
      </p:sp>
      <p:sp>
        <p:nvSpPr>
          <p:cNvPr id="12" name="Text 10"/>
          <p:cNvSpPr txBox="1"/>
          <p:nvPr/>
        </p:nvSpPr>
        <p:spPr>
          <a:xfrm>
            <a:off x="4344314" y="3035808"/>
            <a:ext cx="3503066" cy="347472"/>
          </a:xfrm>
          <a:prstGeom prst="rect">
            <a:avLst/>
          </a:prstGeom>
          <a:noFill/>
          <a:ln/>
        </p:spPr>
        <p:txBody>
          <a:bodyPr wrap="square" lIns="0" tIns="0" rIns="0" bIns="0" rtlCol="0" anchor="ctr"/>
          <a:lstStyle/>
          <a:p>
            <a:pPr algn="ctr" indent="0" marL="0">
              <a:buNone/>
            </a:pPr>
            <a:r>
              <a:rPr lang="en-US" sz="1250" b="1" dirty="0">
                <a:solidFill>
                  <a:srgbClr val="14524A"/>
                </a:solidFill>
                <a:latin typeface="Calibri" pitchFamily="34" charset="0"/>
                <a:ea typeface="Calibri" pitchFamily="34" charset="-122"/>
                <a:cs typeface="Calibri" pitchFamily="34" charset="-120"/>
              </a:rPr>
              <a:t>OE-2  ·  Inasistencias</a:t>
            </a:r>
            <a:endParaRPr lang="en-US" sz="1250" dirty="0"/>
          </a:p>
        </p:txBody>
      </p:sp>
      <p:sp>
        <p:nvSpPr>
          <p:cNvPr id="13" name="Text 11"/>
          <p:cNvSpPr txBox="1"/>
          <p:nvPr/>
        </p:nvSpPr>
        <p:spPr>
          <a:xfrm>
            <a:off x="4618634" y="3493008"/>
            <a:ext cx="2954426" cy="1371600"/>
          </a:xfrm>
          <a:prstGeom prst="rect">
            <a:avLst/>
          </a:prstGeom>
          <a:noFill/>
          <a:ln/>
        </p:spPr>
        <p:txBody>
          <a:bodyPr wrap="square" lIns="0" tIns="0" rIns="0" bIns="0" rtlCol="0" anchor="t"/>
          <a:lstStyle/>
          <a:p>
            <a:pPr indent="0" marL="0">
              <a:lnSpc>
                <a:spcPts val="1700"/>
              </a:lnSpc>
              <a:buNone/>
            </a:pPr>
            <a:r>
              <a:rPr lang="en-US" sz="1200" dirty="0">
                <a:solidFill>
                  <a:srgbClr val="1C2321"/>
                </a:solidFill>
                <a:latin typeface="Calibri" pitchFamily="34" charset="0"/>
                <a:ea typeface="Calibri" pitchFamily="34" charset="-122"/>
                <a:cs typeface="Calibri" pitchFamily="34" charset="-120"/>
              </a:rPr>
              <a:t>Reducir las inasistencias y atrasos a los controles mediante alertas automáticas</a:t>
            </a:r>
            <a:endParaRPr lang="en-US" sz="1200" dirty="0"/>
          </a:p>
        </p:txBody>
      </p:sp>
      <p:sp>
        <p:nvSpPr>
          <p:cNvPr id="14" name="Shape 12"/>
          <p:cNvSpPr/>
          <p:nvPr/>
        </p:nvSpPr>
        <p:spPr>
          <a:xfrm>
            <a:off x="5318608" y="5120640"/>
            <a:ext cx="1554480" cy="384048"/>
          </a:xfrm>
          <a:prstGeom prst="roundRect">
            <a:avLst>
              <a:gd name="adj" fmla="val 119048"/>
            </a:avLst>
          </a:prstGeom>
          <a:solidFill>
            <a:srgbClr val="14524A"/>
          </a:solidFill>
          <a:ln w="12700">
            <a:solidFill>
              <a:srgbClr val="14524A"/>
            </a:solidFill>
            <a:prstDash val="solid"/>
          </a:ln>
        </p:spPr>
      </p:sp>
      <p:sp>
        <p:nvSpPr>
          <p:cNvPr id="15" name="Text 13"/>
          <p:cNvSpPr txBox="1"/>
          <p:nvPr/>
        </p:nvSpPr>
        <p:spPr>
          <a:xfrm>
            <a:off x="5318608" y="5120640"/>
            <a:ext cx="15544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Plazo: 12 meses</a:t>
            </a:r>
            <a:endParaRPr lang="en-US" sz="1100" dirty="0"/>
          </a:p>
        </p:txBody>
      </p:sp>
      <p:sp>
        <p:nvSpPr>
          <p:cNvPr id="16" name="Shape 14"/>
          <p:cNvSpPr/>
          <p:nvPr/>
        </p:nvSpPr>
        <p:spPr>
          <a:xfrm>
            <a:off x="8048549" y="1737360"/>
            <a:ext cx="3503066" cy="4114800"/>
          </a:xfrm>
          <a:prstGeom prst="roundRect">
            <a:avLst>
              <a:gd name="adj" fmla="val 1305"/>
            </a:avLst>
          </a:prstGeom>
          <a:solidFill>
            <a:srgbClr val="EEF5F1"/>
          </a:solidFill>
          <a:ln w="12700">
            <a:solidFill>
              <a:srgbClr val="D9E5DF"/>
            </a:solidFill>
            <a:prstDash val="solid"/>
          </a:ln>
        </p:spPr>
      </p:sp>
      <p:sp>
        <p:nvSpPr>
          <p:cNvPr id="17" name="Text 15"/>
          <p:cNvSpPr txBox="1"/>
          <p:nvPr/>
        </p:nvSpPr>
        <p:spPr>
          <a:xfrm>
            <a:off x="8048549" y="1938528"/>
            <a:ext cx="3503066" cy="1097280"/>
          </a:xfrm>
          <a:prstGeom prst="rect">
            <a:avLst/>
          </a:prstGeom>
          <a:noFill/>
          <a:ln/>
        </p:spPr>
        <p:txBody>
          <a:bodyPr wrap="square" lIns="0" tIns="0" rIns="0" bIns="0" rtlCol="0" anchor="ctr"/>
          <a:lstStyle/>
          <a:p>
            <a:pPr algn="ctr" indent="0" marL="0">
              <a:buNone/>
            </a:pPr>
            <a:r>
              <a:rPr lang="en-US" sz="5400" b="1" dirty="0">
                <a:solidFill>
                  <a:srgbClr val="14524A"/>
                </a:solidFill>
                <a:latin typeface="Cambria" pitchFamily="34" charset="0"/>
                <a:ea typeface="Cambria" pitchFamily="34" charset="-122"/>
                <a:cs typeface="Cambria" pitchFamily="34" charset="-120"/>
              </a:rPr>
              <a:t>100%</a:t>
            </a:r>
            <a:endParaRPr lang="en-US" sz="5400" dirty="0"/>
          </a:p>
        </p:txBody>
      </p:sp>
      <p:sp>
        <p:nvSpPr>
          <p:cNvPr id="18" name="Text 16"/>
          <p:cNvSpPr txBox="1"/>
          <p:nvPr/>
        </p:nvSpPr>
        <p:spPr>
          <a:xfrm>
            <a:off x="8048549" y="3035808"/>
            <a:ext cx="3503066" cy="347472"/>
          </a:xfrm>
          <a:prstGeom prst="rect">
            <a:avLst/>
          </a:prstGeom>
          <a:noFill/>
          <a:ln/>
        </p:spPr>
        <p:txBody>
          <a:bodyPr wrap="square" lIns="0" tIns="0" rIns="0" bIns="0" rtlCol="0" anchor="ctr"/>
          <a:lstStyle/>
          <a:p>
            <a:pPr algn="ctr" indent="0" marL="0">
              <a:buNone/>
            </a:pPr>
            <a:r>
              <a:rPr lang="en-US" sz="1250" b="1" dirty="0">
                <a:solidFill>
                  <a:srgbClr val="14524A"/>
                </a:solidFill>
                <a:latin typeface="Calibri" pitchFamily="34" charset="0"/>
                <a:ea typeface="Calibri" pitchFamily="34" charset="-122"/>
                <a:cs typeface="Calibri" pitchFamily="34" charset="-120"/>
              </a:rPr>
              <a:t>OE-3  ·  Inventario automático</a:t>
            </a:r>
            <a:endParaRPr lang="en-US" sz="1250" dirty="0"/>
          </a:p>
        </p:txBody>
      </p:sp>
      <p:sp>
        <p:nvSpPr>
          <p:cNvPr id="19" name="Text 17"/>
          <p:cNvSpPr txBox="1"/>
          <p:nvPr/>
        </p:nvSpPr>
        <p:spPr>
          <a:xfrm>
            <a:off x="8322869" y="3493008"/>
            <a:ext cx="2954426" cy="1371600"/>
          </a:xfrm>
          <a:prstGeom prst="rect">
            <a:avLst/>
          </a:prstGeom>
          <a:noFill/>
          <a:ln/>
        </p:spPr>
        <p:txBody>
          <a:bodyPr wrap="square" lIns="0" tIns="0" rIns="0" bIns="0" rtlCol="0" anchor="t"/>
          <a:lstStyle/>
          <a:p>
            <a:pPr indent="0" marL="0">
              <a:lnSpc>
                <a:spcPts val="1700"/>
              </a:lnSpc>
              <a:buNone/>
            </a:pPr>
            <a:r>
              <a:rPr lang="en-US" sz="1200" dirty="0">
                <a:solidFill>
                  <a:srgbClr val="1C2321"/>
                </a:solidFill>
                <a:latin typeface="Calibri" pitchFamily="34" charset="0"/>
                <a:ea typeface="Calibri" pitchFamily="34" charset="-122"/>
                <a:cs typeface="Calibri" pitchFamily="34" charset="-120"/>
              </a:rPr>
              <a:t>Registrar toda venta en línea con descuento de inventario, sin quiebres no planificados</a:t>
            </a:r>
            <a:endParaRPr lang="en-US" sz="1200" dirty="0"/>
          </a:p>
        </p:txBody>
      </p:sp>
      <p:sp>
        <p:nvSpPr>
          <p:cNvPr id="20" name="Shape 18"/>
          <p:cNvSpPr/>
          <p:nvPr/>
        </p:nvSpPr>
        <p:spPr>
          <a:xfrm>
            <a:off x="9022842" y="5120640"/>
            <a:ext cx="1554480" cy="384048"/>
          </a:xfrm>
          <a:prstGeom prst="roundRect">
            <a:avLst>
              <a:gd name="adj" fmla="val 119048"/>
            </a:avLst>
          </a:prstGeom>
          <a:solidFill>
            <a:srgbClr val="14524A"/>
          </a:solidFill>
          <a:ln w="12700">
            <a:solidFill>
              <a:srgbClr val="14524A"/>
            </a:solidFill>
            <a:prstDash val="solid"/>
          </a:ln>
        </p:spPr>
      </p:sp>
      <p:sp>
        <p:nvSpPr>
          <p:cNvPr id="21" name="Text 19"/>
          <p:cNvSpPr txBox="1"/>
          <p:nvPr/>
        </p:nvSpPr>
        <p:spPr>
          <a:xfrm>
            <a:off x="9022842" y="5120640"/>
            <a:ext cx="15544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Plazo: 3 meses</a:t>
            </a:r>
            <a:endParaRPr lang="en-US" sz="1100" dirty="0"/>
          </a:p>
        </p:txBody>
      </p:sp>
      <p:sp>
        <p:nvSpPr>
          <p:cNvPr id="22" name="Text 20"/>
          <p:cNvSpPr txBox="1"/>
          <p:nvPr/>
        </p:nvSpPr>
        <p:spPr>
          <a:xfrm>
            <a:off x="640080" y="6327648"/>
            <a:ext cx="10911535" cy="292608"/>
          </a:xfrm>
          <a:prstGeom prst="rect">
            <a:avLst/>
          </a:prstGeom>
          <a:noFill/>
          <a:ln/>
        </p:spPr>
        <p:txBody>
          <a:bodyPr wrap="square" lIns="0" tIns="0" rIns="0" bIns="0" rtlCol="0" anchor="ctr"/>
          <a:lstStyle/>
          <a:p>
            <a:pPr indent="0" marL="0">
              <a:buNone/>
            </a:pPr>
            <a:r>
              <a:rPr lang="en-US" sz="1000" i="1" dirty="0">
                <a:solidFill>
                  <a:srgbClr val="5D6B66"/>
                </a:solidFill>
                <a:latin typeface="Calibri" pitchFamily="34" charset="0"/>
                <a:ea typeface="Calibri" pitchFamily="34" charset="-122"/>
                <a:cs typeface="Calibri" pitchFamily="34" charset="-120"/>
              </a:rPr>
              <a:t>Los tres objetivos específicos se desprenden del objetivo general: estabilizar el ingreso mensual y fidelizar durante el primer año.</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384048"/>
            <a:ext cx="10911535" cy="658368"/>
          </a:xfrm>
          <a:prstGeom prst="rect">
            <a:avLst/>
          </a:prstGeom>
          <a:noFill/>
          <a:ln/>
        </p:spPr>
        <p:txBody>
          <a:bodyPr wrap="square" lIns="0" tIns="0" rIns="0" bIns="0" rtlCol="0" anchor="ctr"/>
          <a:lstStyle/>
          <a:p>
            <a:pPr indent="0" marL="0">
              <a:buNone/>
            </a:pPr>
            <a:r>
              <a:rPr lang="en-US" sz="3200" b="1" dirty="0">
                <a:solidFill>
                  <a:srgbClr val="14524A"/>
                </a:solidFill>
                <a:latin typeface="Cambria" pitchFamily="34" charset="0"/>
                <a:ea typeface="Cambria" pitchFamily="34" charset="-122"/>
                <a:cs typeface="Cambria" pitchFamily="34" charset="-120"/>
              </a:rPr>
              <a:t>De dónde viene el ingreso</a:t>
            </a:r>
            <a:endParaRPr lang="en-US" sz="3200" dirty="0"/>
          </a:p>
        </p:txBody>
      </p:sp>
      <p:sp>
        <p:nvSpPr>
          <p:cNvPr id="3" name="Text 1"/>
          <p:cNvSpPr txBox="1"/>
          <p:nvPr/>
        </p:nvSpPr>
        <p:spPr>
          <a:xfrm>
            <a:off x="640080" y="1042416"/>
            <a:ext cx="10911535" cy="384048"/>
          </a:xfrm>
          <a:prstGeom prst="rect">
            <a:avLst/>
          </a:prstGeom>
          <a:noFill/>
          <a:ln/>
        </p:spPr>
        <p:txBody>
          <a:bodyPr wrap="square" lIns="0" tIns="0" rIns="0" bIns="0" rtlCol="0" anchor="ctr"/>
          <a:lstStyle/>
          <a:p>
            <a:pPr indent="0" marL="0">
              <a:buNone/>
            </a:pPr>
            <a:r>
              <a:rPr lang="en-US" sz="1400" dirty="0">
                <a:solidFill>
                  <a:srgbClr val="5D6B66"/>
                </a:solidFill>
                <a:latin typeface="Calibri" pitchFamily="34" charset="0"/>
                <a:ea typeface="Calibri" pitchFamily="34" charset="-122"/>
                <a:cs typeface="Calibri" pitchFamily="34" charset="-120"/>
              </a:rPr>
              <a:t>Tres fuentes, y solo una de ellas es predecible</a:t>
            </a:r>
            <a:endParaRPr lang="en-US" sz="1400" dirty="0"/>
          </a:p>
        </p:txBody>
      </p:sp>
      <p:sp>
        <p:nvSpPr>
          <p:cNvPr id="4" name="Shape 2"/>
          <p:cNvSpPr/>
          <p:nvPr/>
        </p:nvSpPr>
        <p:spPr>
          <a:xfrm>
            <a:off x="640080" y="1737360"/>
            <a:ext cx="3503066" cy="3017520"/>
          </a:xfrm>
          <a:prstGeom prst="roundRect">
            <a:avLst>
              <a:gd name="adj" fmla="val 1515"/>
            </a:avLst>
          </a:prstGeom>
          <a:solidFill>
            <a:srgbClr val="EEF5F1"/>
          </a:solidFill>
          <a:ln w="12700">
            <a:solidFill>
              <a:srgbClr val="D9E5DF"/>
            </a:solidFill>
            <a:prstDash val="solid"/>
          </a:ln>
        </p:spPr>
      </p:sp>
      <p:sp>
        <p:nvSpPr>
          <p:cNvPr id="5" name="Text 3"/>
          <p:cNvSpPr txBox="1"/>
          <p:nvPr/>
        </p:nvSpPr>
        <p:spPr>
          <a:xfrm>
            <a:off x="896112" y="1938528"/>
            <a:ext cx="2991002" cy="274320"/>
          </a:xfrm>
          <a:prstGeom prst="rect">
            <a:avLst/>
          </a:prstGeom>
          <a:noFill/>
          <a:ln/>
        </p:spPr>
        <p:txBody>
          <a:bodyPr wrap="square" lIns="0" tIns="0" rIns="0" bIns="0" rtlCol="0" anchor="ctr"/>
          <a:lstStyle/>
          <a:p>
            <a:pPr indent="0" marL="0">
              <a:buNone/>
            </a:pPr>
            <a:r>
              <a:rPr lang="en-US" sz="1050" b="1" dirty="0">
                <a:solidFill>
                  <a:srgbClr val="E8A33D"/>
                </a:solidFill>
                <a:latin typeface="Calibri" pitchFamily="34" charset="0"/>
                <a:ea typeface="Calibri" pitchFamily="34" charset="-122"/>
                <a:cs typeface="Calibri" pitchFamily="34" charset="-120"/>
              </a:rPr>
              <a:t>FUENTE 1</a:t>
            </a:r>
            <a:endParaRPr lang="en-US" sz="1050" dirty="0"/>
          </a:p>
        </p:txBody>
      </p:sp>
      <p:sp>
        <p:nvSpPr>
          <p:cNvPr id="6" name="Text 4"/>
          <p:cNvSpPr txBox="1"/>
          <p:nvPr/>
        </p:nvSpPr>
        <p:spPr>
          <a:xfrm>
            <a:off x="896112" y="2231136"/>
            <a:ext cx="2991002" cy="365760"/>
          </a:xfrm>
          <a:prstGeom prst="rect">
            <a:avLst/>
          </a:prstGeom>
          <a:noFill/>
          <a:ln/>
        </p:spPr>
        <p:txBody>
          <a:bodyPr wrap="square" lIns="0" tIns="0" rIns="0" bIns="0" rtlCol="0" anchor="ctr"/>
          <a:lstStyle/>
          <a:p>
            <a:pPr indent="0" marL="0">
              <a:buNone/>
            </a:pPr>
            <a:r>
              <a:rPr lang="en-US" sz="1600" b="1" dirty="0">
                <a:solidFill>
                  <a:srgbClr val="14524A"/>
                </a:solidFill>
                <a:latin typeface="Cambria" pitchFamily="34" charset="0"/>
                <a:ea typeface="Cambria" pitchFamily="34" charset="-122"/>
                <a:cs typeface="Cambria" pitchFamily="34" charset="-120"/>
              </a:rPr>
              <a:t>Venta directa</a:t>
            </a:r>
            <a:endParaRPr lang="en-US" sz="1600" dirty="0"/>
          </a:p>
        </p:txBody>
      </p:sp>
      <p:sp>
        <p:nvSpPr>
          <p:cNvPr id="7" name="Text 5"/>
          <p:cNvSpPr txBox="1"/>
          <p:nvPr/>
        </p:nvSpPr>
        <p:spPr>
          <a:xfrm>
            <a:off x="896112" y="2670048"/>
            <a:ext cx="2991002" cy="1883664"/>
          </a:xfrm>
          <a:prstGeom prst="rect">
            <a:avLst/>
          </a:prstGeom>
          <a:noFill/>
          <a:ln/>
        </p:spPr>
        <p:txBody>
          <a:bodyPr wrap="square" lIns="0" tIns="0" rIns="0" bIns="0" rtlCol="0" anchor="t"/>
          <a:lstStyle/>
          <a:p>
            <a:pPr indent="0" marL="0">
              <a:lnSpc>
                <a:spcPts val="1740"/>
              </a:lnSpc>
              <a:buNone/>
            </a:pPr>
            <a:r>
              <a:rPr lang="en-US" sz="1200" dirty="0">
                <a:solidFill>
                  <a:srgbClr val="1C2321"/>
                </a:solidFill>
                <a:latin typeface="Calibri" pitchFamily="34" charset="0"/>
                <a:ea typeface="Calibri" pitchFamily="34" charset="-122"/>
                <a:cs typeface="Calibri" pitchFamily="34" charset="-120"/>
              </a:rPr>
              <a:t>Catálogo en línea de alimento, accesorios, medicamento de venta libre y arena. El cliente compra cuando quiere; el ingreso es variable, igual que en el mostrador.</a:t>
            </a:r>
            <a:endParaRPr lang="en-US" sz="1200" dirty="0"/>
          </a:p>
        </p:txBody>
      </p:sp>
      <p:sp>
        <p:nvSpPr>
          <p:cNvPr id="8" name="Shape 6"/>
          <p:cNvSpPr/>
          <p:nvPr/>
        </p:nvSpPr>
        <p:spPr>
          <a:xfrm>
            <a:off x="4344314" y="1737360"/>
            <a:ext cx="3503066" cy="3017520"/>
          </a:xfrm>
          <a:prstGeom prst="roundRect">
            <a:avLst>
              <a:gd name="adj" fmla="val 1515"/>
            </a:avLst>
          </a:prstGeom>
          <a:solidFill>
            <a:srgbClr val="14524A"/>
          </a:solidFill>
          <a:ln w="12700">
            <a:solidFill>
              <a:srgbClr val="14524A"/>
            </a:solidFill>
            <a:prstDash val="solid"/>
          </a:ln>
        </p:spPr>
      </p:sp>
      <p:sp>
        <p:nvSpPr>
          <p:cNvPr id="9" name="Text 7"/>
          <p:cNvSpPr txBox="1"/>
          <p:nvPr/>
        </p:nvSpPr>
        <p:spPr>
          <a:xfrm>
            <a:off x="4600346" y="1938528"/>
            <a:ext cx="2991002" cy="274320"/>
          </a:xfrm>
          <a:prstGeom prst="rect">
            <a:avLst/>
          </a:prstGeom>
          <a:noFill/>
          <a:ln/>
        </p:spPr>
        <p:txBody>
          <a:bodyPr wrap="square" lIns="0" tIns="0" rIns="0" bIns="0" rtlCol="0" anchor="ctr"/>
          <a:lstStyle/>
          <a:p>
            <a:pPr indent="0" marL="0">
              <a:buNone/>
            </a:pPr>
            <a:r>
              <a:rPr lang="en-US" sz="1050" b="1" dirty="0">
                <a:solidFill>
                  <a:srgbClr val="E8A33D"/>
                </a:solidFill>
                <a:latin typeface="Calibri" pitchFamily="34" charset="0"/>
                <a:ea typeface="Calibri" pitchFamily="34" charset="-122"/>
                <a:cs typeface="Calibri" pitchFamily="34" charset="-120"/>
              </a:rPr>
              <a:t>FUENTE 2  ·  EL EJE DEL MODELO</a:t>
            </a:r>
            <a:endParaRPr lang="en-US" sz="1050" dirty="0"/>
          </a:p>
        </p:txBody>
      </p:sp>
      <p:sp>
        <p:nvSpPr>
          <p:cNvPr id="10" name="Text 8"/>
          <p:cNvSpPr txBox="1"/>
          <p:nvPr/>
        </p:nvSpPr>
        <p:spPr>
          <a:xfrm>
            <a:off x="4600346" y="2231136"/>
            <a:ext cx="2991002"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Suscripción mensual</a:t>
            </a:r>
            <a:endParaRPr lang="en-US" sz="1600" dirty="0"/>
          </a:p>
        </p:txBody>
      </p:sp>
      <p:sp>
        <p:nvSpPr>
          <p:cNvPr id="11" name="Text 9"/>
          <p:cNvSpPr txBox="1"/>
          <p:nvPr/>
        </p:nvSpPr>
        <p:spPr>
          <a:xfrm>
            <a:off x="4600346" y="2651760"/>
            <a:ext cx="2991002" cy="548640"/>
          </a:xfrm>
          <a:prstGeom prst="rect">
            <a:avLst/>
          </a:prstGeom>
          <a:noFill/>
          <a:ln/>
        </p:spPr>
        <p:txBody>
          <a:bodyPr wrap="square" lIns="0" tIns="0" rIns="0" bIns="0" rtlCol="0" anchor="t"/>
          <a:lstStyle/>
          <a:p>
            <a:pPr indent="0" marL="0">
              <a:lnSpc>
                <a:spcPts val="1600"/>
              </a:lnSpc>
              <a:buNone/>
            </a:pPr>
            <a:r>
              <a:rPr lang="en-US" sz="1150" dirty="0">
                <a:solidFill>
                  <a:srgbClr val="CFE3DC"/>
                </a:solidFill>
                <a:latin typeface="Calibri" pitchFamily="34" charset="0"/>
                <a:ea typeface="Calibri" pitchFamily="34" charset="-122"/>
                <a:cs typeface="Calibri" pitchFamily="34" charset="-120"/>
              </a:rPr>
              <a:t>Un plan por mascota y producto. Lo que separa un plan de otro son las unidades de cada despacho:</a:t>
            </a:r>
            <a:endParaRPr lang="en-US" sz="1150" dirty="0"/>
          </a:p>
        </p:txBody>
      </p:sp>
      <p:sp>
        <p:nvSpPr>
          <p:cNvPr id="12" name="Text 10"/>
          <p:cNvSpPr txBox="1"/>
          <p:nvPr/>
        </p:nvSpPr>
        <p:spPr>
          <a:xfrm>
            <a:off x="4600346" y="3255264"/>
            <a:ext cx="118872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BÁSICO</a:t>
            </a:r>
            <a:endParaRPr lang="en-US" sz="1100" dirty="0"/>
          </a:p>
        </p:txBody>
      </p:sp>
      <p:sp>
        <p:nvSpPr>
          <p:cNvPr id="13" name="Text 11"/>
          <p:cNvSpPr txBox="1"/>
          <p:nvPr/>
        </p:nvSpPr>
        <p:spPr>
          <a:xfrm>
            <a:off x="5807354" y="3255264"/>
            <a:ext cx="868680" cy="347472"/>
          </a:xfrm>
          <a:prstGeom prst="rect">
            <a:avLst/>
          </a:prstGeom>
          <a:noFill/>
          <a:ln/>
        </p:spPr>
        <p:txBody>
          <a:bodyPr wrap="square" lIns="0" tIns="0" rIns="0" bIns="0" rtlCol="0" anchor="ctr"/>
          <a:lstStyle/>
          <a:p>
            <a:pPr indent="0" marL="0">
              <a:buNone/>
            </a:pPr>
            <a:r>
              <a:rPr lang="en-US" sz="1100" b="1" dirty="0">
                <a:solidFill>
                  <a:srgbClr val="E8A33D"/>
                </a:solidFill>
                <a:latin typeface="Calibri" pitchFamily="34" charset="0"/>
                <a:ea typeface="Calibri" pitchFamily="34" charset="-122"/>
                <a:cs typeface="Calibri" pitchFamily="34" charset="-120"/>
              </a:rPr>
              <a:t>S/ 99</a:t>
            </a:r>
            <a:endParaRPr lang="en-US" sz="1100" dirty="0"/>
          </a:p>
        </p:txBody>
      </p:sp>
      <p:sp>
        <p:nvSpPr>
          <p:cNvPr id="14" name="Text 12"/>
          <p:cNvSpPr txBox="1"/>
          <p:nvPr/>
        </p:nvSpPr>
        <p:spPr>
          <a:xfrm>
            <a:off x="6630314" y="3255264"/>
            <a:ext cx="1188720" cy="347472"/>
          </a:xfrm>
          <a:prstGeom prst="rect">
            <a:avLst/>
          </a:prstGeom>
          <a:noFill/>
          <a:ln/>
        </p:spPr>
        <p:txBody>
          <a:bodyPr wrap="square" lIns="0" tIns="0" rIns="0" bIns="0" rtlCol="0" anchor="ctr"/>
          <a:lstStyle/>
          <a:p>
            <a:pPr indent="0" marL="0">
              <a:buNone/>
            </a:pPr>
            <a:r>
              <a:rPr lang="en-US" sz="1050" dirty="0">
                <a:solidFill>
                  <a:srgbClr val="CFE3DC"/>
                </a:solidFill>
                <a:latin typeface="Calibri" pitchFamily="34" charset="0"/>
                <a:ea typeface="Calibri" pitchFamily="34" charset="-122"/>
                <a:cs typeface="Calibri" pitchFamily="34" charset="-120"/>
              </a:rPr>
              <a:t>1 unidad</a:t>
            </a:r>
            <a:endParaRPr lang="en-US" sz="1050" dirty="0"/>
          </a:p>
        </p:txBody>
      </p:sp>
      <p:sp>
        <p:nvSpPr>
          <p:cNvPr id="15" name="Text 13"/>
          <p:cNvSpPr txBox="1"/>
          <p:nvPr/>
        </p:nvSpPr>
        <p:spPr>
          <a:xfrm>
            <a:off x="4600346" y="3712464"/>
            <a:ext cx="118872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CUIDADO</a:t>
            </a:r>
            <a:endParaRPr lang="en-US" sz="1100" dirty="0"/>
          </a:p>
        </p:txBody>
      </p:sp>
      <p:sp>
        <p:nvSpPr>
          <p:cNvPr id="16" name="Text 14"/>
          <p:cNvSpPr txBox="1"/>
          <p:nvPr/>
        </p:nvSpPr>
        <p:spPr>
          <a:xfrm>
            <a:off x="5807354" y="3712464"/>
            <a:ext cx="868680" cy="347472"/>
          </a:xfrm>
          <a:prstGeom prst="rect">
            <a:avLst/>
          </a:prstGeom>
          <a:noFill/>
          <a:ln/>
        </p:spPr>
        <p:txBody>
          <a:bodyPr wrap="square" lIns="0" tIns="0" rIns="0" bIns="0" rtlCol="0" anchor="ctr"/>
          <a:lstStyle/>
          <a:p>
            <a:pPr indent="0" marL="0">
              <a:buNone/>
            </a:pPr>
            <a:r>
              <a:rPr lang="en-US" sz="1100" b="1" dirty="0">
                <a:solidFill>
                  <a:srgbClr val="E8A33D"/>
                </a:solidFill>
                <a:latin typeface="Calibri" pitchFamily="34" charset="0"/>
                <a:ea typeface="Calibri" pitchFamily="34" charset="-122"/>
                <a:cs typeface="Calibri" pitchFamily="34" charset="-120"/>
              </a:rPr>
              <a:t>S/ 149</a:t>
            </a:r>
            <a:endParaRPr lang="en-US" sz="1100" dirty="0"/>
          </a:p>
        </p:txBody>
      </p:sp>
      <p:sp>
        <p:nvSpPr>
          <p:cNvPr id="17" name="Text 15"/>
          <p:cNvSpPr txBox="1"/>
          <p:nvPr/>
        </p:nvSpPr>
        <p:spPr>
          <a:xfrm>
            <a:off x="6630314" y="3712464"/>
            <a:ext cx="1188720" cy="347472"/>
          </a:xfrm>
          <a:prstGeom prst="rect">
            <a:avLst/>
          </a:prstGeom>
          <a:noFill/>
          <a:ln/>
        </p:spPr>
        <p:txBody>
          <a:bodyPr wrap="square" lIns="0" tIns="0" rIns="0" bIns="0" rtlCol="0" anchor="ctr"/>
          <a:lstStyle/>
          <a:p>
            <a:pPr indent="0" marL="0">
              <a:buNone/>
            </a:pPr>
            <a:r>
              <a:rPr lang="en-US" sz="1050" dirty="0">
                <a:solidFill>
                  <a:srgbClr val="CFE3DC"/>
                </a:solidFill>
                <a:latin typeface="Calibri" pitchFamily="34" charset="0"/>
                <a:ea typeface="Calibri" pitchFamily="34" charset="-122"/>
                <a:cs typeface="Calibri" pitchFamily="34" charset="-120"/>
              </a:rPr>
              <a:t>2 unidades</a:t>
            </a:r>
            <a:endParaRPr lang="en-US" sz="1050" dirty="0"/>
          </a:p>
        </p:txBody>
      </p:sp>
      <p:sp>
        <p:nvSpPr>
          <p:cNvPr id="18" name="Text 16"/>
          <p:cNvSpPr txBox="1"/>
          <p:nvPr/>
        </p:nvSpPr>
        <p:spPr>
          <a:xfrm>
            <a:off x="4600346" y="4169664"/>
            <a:ext cx="118872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INTEGRAL</a:t>
            </a:r>
            <a:endParaRPr lang="en-US" sz="1100" dirty="0"/>
          </a:p>
        </p:txBody>
      </p:sp>
      <p:sp>
        <p:nvSpPr>
          <p:cNvPr id="19" name="Text 17"/>
          <p:cNvSpPr txBox="1"/>
          <p:nvPr/>
        </p:nvSpPr>
        <p:spPr>
          <a:xfrm>
            <a:off x="5807354" y="4169664"/>
            <a:ext cx="868680" cy="347472"/>
          </a:xfrm>
          <a:prstGeom prst="rect">
            <a:avLst/>
          </a:prstGeom>
          <a:noFill/>
          <a:ln/>
        </p:spPr>
        <p:txBody>
          <a:bodyPr wrap="square" lIns="0" tIns="0" rIns="0" bIns="0" rtlCol="0" anchor="ctr"/>
          <a:lstStyle/>
          <a:p>
            <a:pPr indent="0" marL="0">
              <a:buNone/>
            </a:pPr>
            <a:r>
              <a:rPr lang="en-US" sz="1100" b="1" dirty="0">
                <a:solidFill>
                  <a:srgbClr val="E8A33D"/>
                </a:solidFill>
                <a:latin typeface="Calibri" pitchFamily="34" charset="0"/>
                <a:ea typeface="Calibri" pitchFamily="34" charset="-122"/>
                <a:cs typeface="Calibri" pitchFamily="34" charset="-120"/>
              </a:rPr>
              <a:t>S/ 219</a:t>
            </a:r>
            <a:endParaRPr lang="en-US" sz="1100" dirty="0"/>
          </a:p>
        </p:txBody>
      </p:sp>
      <p:sp>
        <p:nvSpPr>
          <p:cNvPr id="20" name="Text 18"/>
          <p:cNvSpPr txBox="1"/>
          <p:nvPr/>
        </p:nvSpPr>
        <p:spPr>
          <a:xfrm>
            <a:off x="6630314" y="4169664"/>
            <a:ext cx="1188720" cy="347472"/>
          </a:xfrm>
          <a:prstGeom prst="rect">
            <a:avLst/>
          </a:prstGeom>
          <a:noFill/>
          <a:ln/>
        </p:spPr>
        <p:txBody>
          <a:bodyPr wrap="square" lIns="0" tIns="0" rIns="0" bIns="0" rtlCol="0" anchor="ctr"/>
          <a:lstStyle/>
          <a:p>
            <a:pPr indent="0" marL="0">
              <a:buNone/>
            </a:pPr>
            <a:r>
              <a:rPr lang="en-US" sz="1050" dirty="0">
                <a:solidFill>
                  <a:srgbClr val="CFE3DC"/>
                </a:solidFill>
                <a:latin typeface="Calibri" pitchFamily="34" charset="0"/>
                <a:ea typeface="Calibri" pitchFamily="34" charset="-122"/>
                <a:cs typeface="Calibri" pitchFamily="34" charset="-120"/>
              </a:rPr>
              <a:t>3 unidades</a:t>
            </a:r>
            <a:endParaRPr lang="en-US" sz="1050" dirty="0"/>
          </a:p>
        </p:txBody>
      </p:sp>
      <p:sp>
        <p:nvSpPr>
          <p:cNvPr id="21" name="Shape 19"/>
          <p:cNvSpPr/>
          <p:nvPr/>
        </p:nvSpPr>
        <p:spPr>
          <a:xfrm>
            <a:off x="8048549" y="1737360"/>
            <a:ext cx="3503066" cy="3017520"/>
          </a:xfrm>
          <a:prstGeom prst="roundRect">
            <a:avLst>
              <a:gd name="adj" fmla="val 1515"/>
            </a:avLst>
          </a:prstGeom>
          <a:solidFill>
            <a:srgbClr val="EEF5F1"/>
          </a:solidFill>
          <a:ln w="12700">
            <a:solidFill>
              <a:srgbClr val="D9E5DF"/>
            </a:solidFill>
            <a:prstDash val="solid"/>
          </a:ln>
        </p:spPr>
      </p:sp>
      <p:sp>
        <p:nvSpPr>
          <p:cNvPr id="22" name="Text 20"/>
          <p:cNvSpPr txBox="1"/>
          <p:nvPr/>
        </p:nvSpPr>
        <p:spPr>
          <a:xfrm>
            <a:off x="8304581" y="1938528"/>
            <a:ext cx="2991002" cy="274320"/>
          </a:xfrm>
          <a:prstGeom prst="rect">
            <a:avLst/>
          </a:prstGeom>
          <a:noFill/>
          <a:ln/>
        </p:spPr>
        <p:txBody>
          <a:bodyPr wrap="square" lIns="0" tIns="0" rIns="0" bIns="0" rtlCol="0" anchor="ctr"/>
          <a:lstStyle/>
          <a:p>
            <a:pPr indent="0" marL="0">
              <a:buNone/>
            </a:pPr>
            <a:r>
              <a:rPr lang="en-US" sz="1050" b="1" dirty="0">
                <a:solidFill>
                  <a:srgbClr val="E8A33D"/>
                </a:solidFill>
                <a:latin typeface="Calibri" pitchFamily="34" charset="0"/>
                <a:ea typeface="Calibri" pitchFamily="34" charset="-122"/>
                <a:cs typeface="Calibri" pitchFamily="34" charset="-120"/>
              </a:rPr>
              <a:t>FUENTE 3</a:t>
            </a:r>
            <a:endParaRPr lang="en-US" sz="1050" dirty="0"/>
          </a:p>
        </p:txBody>
      </p:sp>
      <p:sp>
        <p:nvSpPr>
          <p:cNvPr id="23" name="Text 21"/>
          <p:cNvSpPr txBox="1"/>
          <p:nvPr/>
        </p:nvSpPr>
        <p:spPr>
          <a:xfrm>
            <a:off x="8304581" y="2231136"/>
            <a:ext cx="2991002" cy="365760"/>
          </a:xfrm>
          <a:prstGeom prst="rect">
            <a:avLst/>
          </a:prstGeom>
          <a:noFill/>
          <a:ln/>
        </p:spPr>
        <p:txBody>
          <a:bodyPr wrap="square" lIns="0" tIns="0" rIns="0" bIns="0" rtlCol="0" anchor="ctr"/>
          <a:lstStyle/>
          <a:p>
            <a:pPr indent="0" marL="0">
              <a:buNone/>
            </a:pPr>
            <a:r>
              <a:rPr lang="en-US" sz="1600" b="1" dirty="0">
                <a:solidFill>
                  <a:srgbClr val="14524A"/>
                </a:solidFill>
                <a:latin typeface="Cambria" pitchFamily="34" charset="0"/>
                <a:ea typeface="Cambria" pitchFamily="34" charset="-122"/>
                <a:cs typeface="Cambria" pitchFamily="34" charset="-120"/>
              </a:rPr>
              <a:t>Servicios veterinarios</a:t>
            </a:r>
            <a:endParaRPr lang="en-US" sz="1600" dirty="0"/>
          </a:p>
        </p:txBody>
      </p:sp>
      <p:sp>
        <p:nvSpPr>
          <p:cNvPr id="24" name="Text 22"/>
          <p:cNvSpPr txBox="1"/>
          <p:nvPr/>
        </p:nvSpPr>
        <p:spPr>
          <a:xfrm>
            <a:off x="8304581" y="2670048"/>
            <a:ext cx="2991002" cy="1883664"/>
          </a:xfrm>
          <a:prstGeom prst="rect">
            <a:avLst/>
          </a:prstGeom>
          <a:noFill/>
          <a:ln/>
        </p:spPr>
        <p:txBody>
          <a:bodyPr wrap="square" lIns="0" tIns="0" rIns="0" bIns="0" rtlCol="0" anchor="t"/>
          <a:lstStyle/>
          <a:p>
            <a:pPr indent="0" marL="0">
              <a:lnSpc>
                <a:spcPts val="1740"/>
              </a:lnSpc>
              <a:buNone/>
            </a:pPr>
            <a:r>
              <a:rPr lang="en-US" sz="1200" dirty="0">
                <a:solidFill>
                  <a:srgbClr val="1C2321"/>
                </a:solidFill>
                <a:latin typeface="Calibri" pitchFamily="34" charset="0"/>
                <a:ea typeface="Calibri" pitchFamily="34" charset="-122"/>
                <a:cs typeface="Calibri" pitchFamily="34" charset="-120"/>
              </a:rPr>
              <a:t>Consulta, vacunación, desparasitación y grooming, agendados en línea. Traen al cliente al local, y de ahí sale la venta cruzada de producto.</a:t>
            </a:r>
            <a:endParaRPr lang="en-US" sz="1200" dirty="0"/>
          </a:p>
        </p:txBody>
      </p:sp>
      <p:sp>
        <p:nvSpPr>
          <p:cNvPr id="25" name="Shape 23"/>
          <p:cNvSpPr/>
          <p:nvPr/>
        </p:nvSpPr>
        <p:spPr>
          <a:xfrm>
            <a:off x="640080" y="4956048"/>
            <a:ext cx="10911535" cy="969264"/>
          </a:xfrm>
          <a:prstGeom prst="roundRect">
            <a:avLst>
              <a:gd name="adj" fmla="val 4717"/>
            </a:avLst>
          </a:prstGeom>
          <a:solidFill>
            <a:srgbClr val="EEF5F1"/>
          </a:solidFill>
          <a:ln w="12700">
            <a:solidFill>
              <a:srgbClr val="D9E5DF"/>
            </a:solidFill>
            <a:prstDash val="solid"/>
          </a:ln>
        </p:spPr>
      </p:sp>
      <p:sp>
        <p:nvSpPr>
          <p:cNvPr id="26" name="Text 24"/>
          <p:cNvSpPr txBox="1"/>
          <p:nvPr/>
        </p:nvSpPr>
        <p:spPr>
          <a:xfrm>
            <a:off x="914400" y="4956048"/>
            <a:ext cx="10362895" cy="969264"/>
          </a:xfrm>
          <a:prstGeom prst="rect">
            <a:avLst/>
          </a:prstGeom>
          <a:noFill/>
          <a:ln/>
        </p:spPr>
        <p:txBody>
          <a:bodyPr wrap="square" lIns="0" tIns="0" rIns="0" bIns="0" rtlCol="0" anchor="ctr"/>
          <a:lstStyle/>
          <a:p>
            <a:pPr indent="0" marL="0">
              <a:lnSpc>
                <a:spcPts val="1700"/>
              </a:lnSpc>
              <a:buNone/>
            </a:pPr>
            <a:r>
              <a:rPr lang="en-US" sz="1200" b="1" dirty="0">
                <a:solidFill>
                  <a:srgbClr val="14524A"/>
                </a:solidFill>
                <a:latin typeface="Calibri" pitchFamily="34" charset="0"/>
                <a:ea typeface="Calibri" pitchFamily="34" charset="-122"/>
                <a:cs typeface="Calibri" pitchFamily="34" charset="-120"/>
              </a:rPr>
              <a:t xml:space="preserve">Por qué la suscripción es el eje.  </a:t>
            </a:r>
            <a:pPr indent="0" marL="0">
              <a:lnSpc>
                <a:spcPts val="1700"/>
              </a:lnSpc>
              <a:buNone/>
            </a:pPr>
            <a:r>
              <a:rPr lang="en-US" sz="1200" dirty="0">
                <a:solidFill>
                  <a:srgbClr val="1C2321"/>
                </a:solidFill>
                <a:latin typeface="Calibri" pitchFamily="34" charset="0"/>
                <a:ea typeface="Calibri" pitchFamily="34" charset="-122"/>
                <a:cs typeface="Calibri" pitchFamily="34" charset="-120"/>
              </a:rPr>
              <a:t>Es la única fuente que se conoce antes de que empiece el mes: cada plan activo tiene una fecha de despacho y un monto. El sistema emite ese pedido por su cuenta, sin que el cliente lo pida ni el personal lo recuerde.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384048"/>
            <a:ext cx="10911535" cy="658368"/>
          </a:xfrm>
          <a:prstGeom prst="rect">
            <a:avLst/>
          </a:prstGeom>
          <a:noFill/>
          <a:ln/>
        </p:spPr>
        <p:txBody>
          <a:bodyPr wrap="square" lIns="0" tIns="0" rIns="0" bIns="0" rtlCol="0" anchor="ctr"/>
          <a:lstStyle/>
          <a:p>
            <a:pPr indent="0" marL="0">
              <a:buNone/>
            </a:pPr>
            <a:r>
              <a:rPr lang="en-US" sz="3200" b="1" dirty="0">
                <a:solidFill>
                  <a:srgbClr val="14524A"/>
                </a:solidFill>
                <a:latin typeface="Cambria" pitchFamily="34" charset="0"/>
                <a:ea typeface="Cambria" pitchFamily="34" charset="-122"/>
                <a:cs typeface="Cambria" pitchFamily="34" charset="-120"/>
              </a:rPr>
              <a:t>La metodología que aplicamos</a:t>
            </a:r>
            <a:endParaRPr lang="en-US" sz="3200" dirty="0"/>
          </a:p>
        </p:txBody>
      </p:sp>
      <p:sp>
        <p:nvSpPr>
          <p:cNvPr id="3" name="Text 1"/>
          <p:cNvSpPr txBox="1"/>
          <p:nvPr/>
        </p:nvSpPr>
        <p:spPr>
          <a:xfrm>
            <a:off x="640080" y="1042416"/>
            <a:ext cx="10911535" cy="384048"/>
          </a:xfrm>
          <a:prstGeom prst="rect">
            <a:avLst/>
          </a:prstGeom>
          <a:noFill/>
          <a:ln/>
        </p:spPr>
        <p:txBody>
          <a:bodyPr wrap="square" lIns="0" tIns="0" rIns="0" bIns="0" rtlCol="0" anchor="ctr"/>
          <a:lstStyle/>
          <a:p>
            <a:pPr indent="0" marL="0">
              <a:buNone/>
            </a:pPr>
            <a:r>
              <a:rPr lang="en-US" sz="1400" dirty="0">
                <a:solidFill>
                  <a:srgbClr val="5D6B66"/>
                </a:solidFill>
                <a:latin typeface="Calibri" pitchFamily="34" charset="0"/>
                <a:ea typeface="Calibri" pitchFamily="34" charset="-122"/>
                <a:cs typeface="Calibri" pitchFamily="34" charset="-120"/>
              </a:rPr>
              <a:t>Y por qué no declaramos Scrum</a:t>
            </a:r>
            <a:endParaRPr lang="en-US" sz="1400" dirty="0"/>
          </a:p>
        </p:txBody>
      </p:sp>
      <p:sp>
        <p:nvSpPr>
          <p:cNvPr id="4" name="Shape 2"/>
          <p:cNvSpPr/>
          <p:nvPr/>
        </p:nvSpPr>
        <p:spPr>
          <a:xfrm>
            <a:off x="640080" y="1645920"/>
            <a:ext cx="10911535" cy="914400"/>
          </a:xfrm>
          <a:prstGeom prst="roundRect">
            <a:avLst>
              <a:gd name="adj" fmla="val 5000"/>
            </a:avLst>
          </a:prstGeom>
          <a:solidFill>
            <a:srgbClr val="14524A"/>
          </a:solidFill>
          <a:ln w="12700">
            <a:solidFill>
              <a:srgbClr val="14524A"/>
            </a:solidFill>
            <a:prstDash val="solid"/>
          </a:ln>
        </p:spPr>
      </p:sp>
      <p:sp>
        <p:nvSpPr>
          <p:cNvPr id="5" name="Text 3"/>
          <p:cNvSpPr txBox="1"/>
          <p:nvPr/>
        </p:nvSpPr>
        <p:spPr>
          <a:xfrm>
            <a:off x="1005840" y="1645920"/>
            <a:ext cx="10180015"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Modelo iterativo e incremental con prototipado evolutivo</a:t>
            </a:r>
            <a:endParaRPr lang="en-US" sz="2400" dirty="0"/>
          </a:p>
        </p:txBody>
      </p:sp>
      <p:sp>
        <p:nvSpPr>
          <p:cNvPr id="6" name="Shape 4"/>
          <p:cNvSpPr/>
          <p:nvPr/>
        </p:nvSpPr>
        <p:spPr>
          <a:xfrm>
            <a:off x="640080" y="2743200"/>
            <a:ext cx="5336896" cy="1152144"/>
          </a:xfrm>
          <a:prstGeom prst="roundRect">
            <a:avLst>
              <a:gd name="adj" fmla="val 3968"/>
            </a:avLst>
          </a:prstGeom>
          <a:solidFill>
            <a:srgbClr val="EEF5F1"/>
          </a:solidFill>
          <a:ln w="12700">
            <a:solidFill>
              <a:srgbClr val="D9E5DF"/>
            </a:solidFill>
            <a:prstDash val="solid"/>
          </a:ln>
        </p:spPr>
      </p:sp>
      <p:sp>
        <p:nvSpPr>
          <p:cNvPr id="7" name="Shape 5"/>
          <p:cNvSpPr/>
          <p:nvPr/>
        </p:nvSpPr>
        <p:spPr>
          <a:xfrm>
            <a:off x="877824" y="3108960"/>
            <a:ext cx="420624" cy="420624"/>
          </a:xfrm>
          <a:prstGeom prst="ellipse">
            <a:avLst/>
          </a:prstGeom>
          <a:solidFill>
            <a:srgbClr val="E8A33D"/>
          </a:solidFill>
          <a:ln w="12700">
            <a:solidFill>
              <a:srgbClr val="E8A33D"/>
            </a:solidFill>
            <a:prstDash val="solid"/>
          </a:ln>
        </p:spPr>
      </p:sp>
      <p:sp>
        <p:nvSpPr>
          <p:cNvPr id="8" name="Text 6"/>
          <p:cNvSpPr txBox="1"/>
          <p:nvPr/>
        </p:nvSpPr>
        <p:spPr>
          <a:xfrm>
            <a:off x="877824" y="3108960"/>
            <a:ext cx="420624" cy="420624"/>
          </a:xfrm>
          <a:prstGeom prst="rect">
            <a:avLst/>
          </a:prstGeom>
          <a:noFill/>
          <a:ln/>
        </p:spPr>
        <p:txBody>
          <a:bodyPr wrap="square" lIns="0" tIns="0" rIns="0" bIns="0" rtlCol="0" anchor="ctr"/>
          <a:lstStyle/>
          <a:p>
            <a:pPr algn="ctr" indent="0" marL="0">
              <a:buNone/>
            </a:pPr>
            <a:r>
              <a:rPr lang="en-US" sz="1400" b="1" dirty="0">
                <a:solidFill>
                  <a:srgbClr val="14524A"/>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444752" y="2889504"/>
            <a:ext cx="4276192" cy="310896"/>
          </a:xfrm>
          <a:prstGeom prst="rect">
            <a:avLst/>
          </a:prstGeom>
          <a:noFill/>
          <a:ln/>
        </p:spPr>
        <p:txBody>
          <a:bodyPr wrap="square" lIns="0" tIns="0" rIns="0" bIns="0" rtlCol="0" anchor="ctr"/>
          <a:lstStyle/>
          <a:p>
            <a:pPr indent="0" marL="0">
              <a:buNone/>
            </a:pPr>
            <a:r>
              <a:rPr lang="en-US" sz="1400" b="1" dirty="0">
                <a:solidFill>
                  <a:srgbClr val="14524A"/>
                </a:solidFill>
                <a:latin typeface="Cambria" pitchFamily="34" charset="0"/>
                <a:ea typeface="Cambria" pitchFamily="34" charset="-122"/>
                <a:cs typeface="Cambria" pitchFamily="34" charset="-120"/>
              </a:rPr>
              <a:t>Incrementos con producto usable</a:t>
            </a:r>
            <a:endParaRPr lang="en-US" sz="1400" dirty="0"/>
          </a:p>
        </p:txBody>
      </p:sp>
      <p:sp>
        <p:nvSpPr>
          <p:cNvPr id="10" name="Text 8"/>
          <p:cNvSpPr txBox="1"/>
          <p:nvPr/>
        </p:nvSpPr>
        <p:spPr>
          <a:xfrm>
            <a:off x="1444752" y="3218688"/>
            <a:ext cx="4276192" cy="548640"/>
          </a:xfrm>
          <a:prstGeom prst="rect">
            <a:avLst/>
          </a:prstGeom>
          <a:noFill/>
          <a:ln/>
        </p:spPr>
        <p:txBody>
          <a:bodyPr wrap="square" lIns="0" tIns="0" rIns="0" bIns="0" rtlCol="0" anchor="t"/>
          <a:lstStyle/>
          <a:p>
            <a:pPr indent="0" marL="0">
              <a:lnSpc>
                <a:spcPts val="1500"/>
              </a:lnSpc>
              <a:buNone/>
            </a:pPr>
            <a:r>
              <a:rPr lang="en-US" sz="1100" dirty="0">
                <a:solidFill>
                  <a:srgbClr val="5D6B66"/>
                </a:solidFill>
                <a:latin typeface="Calibri" pitchFamily="34" charset="0"/>
                <a:ea typeface="Calibri" pitchFamily="34" charset="-122"/>
                <a:cs typeface="Calibri" pitchFamily="34" charset="-120"/>
              </a:rPr>
              <a:t>Cada etapa cierra con algo que funciona, no con un documento de avance.</a:t>
            </a:r>
            <a:endParaRPr lang="en-US" sz="1100" dirty="0"/>
          </a:p>
        </p:txBody>
      </p:sp>
      <p:sp>
        <p:nvSpPr>
          <p:cNvPr id="11" name="Shape 9"/>
          <p:cNvSpPr/>
          <p:nvPr/>
        </p:nvSpPr>
        <p:spPr>
          <a:xfrm>
            <a:off x="6214720" y="2743200"/>
            <a:ext cx="5336896" cy="1152144"/>
          </a:xfrm>
          <a:prstGeom prst="roundRect">
            <a:avLst>
              <a:gd name="adj" fmla="val 3968"/>
            </a:avLst>
          </a:prstGeom>
          <a:solidFill>
            <a:srgbClr val="EEF5F1"/>
          </a:solidFill>
          <a:ln w="12700">
            <a:solidFill>
              <a:srgbClr val="D9E5DF"/>
            </a:solidFill>
            <a:prstDash val="solid"/>
          </a:ln>
        </p:spPr>
      </p:sp>
      <p:sp>
        <p:nvSpPr>
          <p:cNvPr id="12" name="Shape 10"/>
          <p:cNvSpPr/>
          <p:nvPr/>
        </p:nvSpPr>
        <p:spPr>
          <a:xfrm>
            <a:off x="6452464" y="3108960"/>
            <a:ext cx="420624" cy="420624"/>
          </a:xfrm>
          <a:prstGeom prst="ellipse">
            <a:avLst/>
          </a:prstGeom>
          <a:solidFill>
            <a:srgbClr val="E8A33D"/>
          </a:solidFill>
          <a:ln w="12700">
            <a:solidFill>
              <a:srgbClr val="E8A33D"/>
            </a:solidFill>
            <a:prstDash val="solid"/>
          </a:ln>
        </p:spPr>
      </p:sp>
      <p:sp>
        <p:nvSpPr>
          <p:cNvPr id="13" name="Text 11"/>
          <p:cNvSpPr txBox="1"/>
          <p:nvPr/>
        </p:nvSpPr>
        <p:spPr>
          <a:xfrm>
            <a:off x="6452464" y="3108960"/>
            <a:ext cx="420624" cy="420624"/>
          </a:xfrm>
          <a:prstGeom prst="rect">
            <a:avLst/>
          </a:prstGeom>
          <a:noFill/>
          <a:ln/>
        </p:spPr>
        <p:txBody>
          <a:bodyPr wrap="square" lIns="0" tIns="0" rIns="0" bIns="0" rtlCol="0" anchor="ctr"/>
          <a:lstStyle/>
          <a:p>
            <a:pPr algn="ctr" indent="0" marL="0">
              <a:buNone/>
            </a:pPr>
            <a:r>
              <a:rPr lang="en-US" sz="1400" b="1" dirty="0">
                <a:solidFill>
                  <a:srgbClr val="14524A"/>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7019392" y="2889504"/>
            <a:ext cx="4276192" cy="310896"/>
          </a:xfrm>
          <a:prstGeom prst="rect">
            <a:avLst/>
          </a:prstGeom>
          <a:noFill/>
          <a:ln/>
        </p:spPr>
        <p:txBody>
          <a:bodyPr wrap="square" lIns="0" tIns="0" rIns="0" bIns="0" rtlCol="0" anchor="ctr"/>
          <a:lstStyle/>
          <a:p>
            <a:pPr indent="0" marL="0">
              <a:buNone/>
            </a:pPr>
            <a:r>
              <a:rPr lang="en-US" sz="1400" b="1" dirty="0">
                <a:solidFill>
                  <a:srgbClr val="14524A"/>
                </a:solidFill>
                <a:latin typeface="Cambria" pitchFamily="34" charset="0"/>
                <a:ea typeface="Cambria" pitchFamily="34" charset="-122"/>
                <a:cs typeface="Cambria" pitchFamily="34" charset="-120"/>
              </a:rPr>
              <a:t>Prototipado evolutivo</a:t>
            </a:r>
            <a:endParaRPr lang="en-US" sz="1400" dirty="0"/>
          </a:p>
        </p:txBody>
      </p:sp>
      <p:sp>
        <p:nvSpPr>
          <p:cNvPr id="15" name="Text 13"/>
          <p:cNvSpPr txBox="1"/>
          <p:nvPr/>
        </p:nvSpPr>
        <p:spPr>
          <a:xfrm>
            <a:off x="7019392" y="3218688"/>
            <a:ext cx="4276192" cy="548640"/>
          </a:xfrm>
          <a:prstGeom prst="rect">
            <a:avLst/>
          </a:prstGeom>
          <a:noFill/>
          <a:ln/>
        </p:spPr>
        <p:txBody>
          <a:bodyPr wrap="square" lIns="0" tIns="0" rIns="0" bIns="0" rtlCol="0" anchor="t"/>
          <a:lstStyle/>
          <a:p>
            <a:pPr indent="0" marL="0">
              <a:lnSpc>
                <a:spcPts val="1500"/>
              </a:lnSpc>
              <a:buNone/>
            </a:pPr>
            <a:r>
              <a:rPr lang="en-US" sz="1100" dirty="0">
                <a:solidFill>
                  <a:srgbClr val="5D6B66"/>
                </a:solidFill>
                <a:latin typeface="Calibri" pitchFamily="34" charset="0"/>
                <a:ea typeface="Calibri" pitchFamily="34" charset="-122"/>
                <a:cs typeface="Calibri" pitchFamily="34" charset="-120"/>
              </a:rPr>
              <a:t>El prototipo no se tira: evoluciona. Sirvió para descubrir requerimientos que la entrevista no reveló.</a:t>
            </a:r>
            <a:endParaRPr lang="en-US" sz="1100" dirty="0"/>
          </a:p>
        </p:txBody>
      </p:sp>
      <p:sp>
        <p:nvSpPr>
          <p:cNvPr id="16" name="Shape 14"/>
          <p:cNvSpPr/>
          <p:nvPr/>
        </p:nvSpPr>
        <p:spPr>
          <a:xfrm>
            <a:off x="640080" y="4059936"/>
            <a:ext cx="5336896" cy="1152144"/>
          </a:xfrm>
          <a:prstGeom prst="roundRect">
            <a:avLst>
              <a:gd name="adj" fmla="val 3968"/>
            </a:avLst>
          </a:prstGeom>
          <a:solidFill>
            <a:srgbClr val="EEF5F1"/>
          </a:solidFill>
          <a:ln w="12700">
            <a:solidFill>
              <a:srgbClr val="D9E5DF"/>
            </a:solidFill>
            <a:prstDash val="solid"/>
          </a:ln>
        </p:spPr>
      </p:sp>
      <p:sp>
        <p:nvSpPr>
          <p:cNvPr id="17" name="Shape 15"/>
          <p:cNvSpPr/>
          <p:nvPr/>
        </p:nvSpPr>
        <p:spPr>
          <a:xfrm>
            <a:off x="877824" y="4425696"/>
            <a:ext cx="420624" cy="420624"/>
          </a:xfrm>
          <a:prstGeom prst="ellipse">
            <a:avLst/>
          </a:prstGeom>
          <a:solidFill>
            <a:srgbClr val="E8A33D"/>
          </a:solidFill>
          <a:ln w="12700">
            <a:solidFill>
              <a:srgbClr val="E8A33D"/>
            </a:solidFill>
            <a:prstDash val="solid"/>
          </a:ln>
        </p:spPr>
      </p:sp>
      <p:sp>
        <p:nvSpPr>
          <p:cNvPr id="18" name="Text 16"/>
          <p:cNvSpPr txBox="1"/>
          <p:nvPr/>
        </p:nvSpPr>
        <p:spPr>
          <a:xfrm>
            <a:off x="877824" y="4425696"/>
            <a:ext cx="420624" cy="420624"/>
          </a:xfrm>
          <a:prstGeom prst="rect">
            <a:avLst/>
          </a:prstGeom>
          <a:noFill/>
          <a:ln/>
        </p:spPr>
        <p:txBody>
          <a:bodyPr wrap="square" lIns="0" tIns="0" rIns="0" bIns="0" rtlCol="0" anchor="ctr"/>
          <a:lstStyle/>
          <a:p>
            <a:pPr algn="ctr" indent="0" marL="0">
              <a:buNone/>
            </a:pPr>
            <a:r>
              <a:rPr lang="en-US" sz="1400" b="1" dirty="0">
                <a:solidFill>
                  <a:srgbClr val="14524A"/>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1444752" y="4206240"/>
            <a:ext cx="4276192" cy="310896"/>
          </a:xfrm>
          <a:prstGeom prst="rect">
            <a:avLst/>
          </a:prstGeom>
          <a:noFill/>
          <a:ln/>
        </p:spPr>
        <p:txBody>
          <a:bodyPr wrap="square" lIns="0" tIns="0" rIns="0" bIns="0" rtlCol="0" anchor="ctr"/>
          <a:lstStyle/>
          <a:p>
            <a:pPr indent="0" marL="0">
              <a:buNone/>
            </a:pPr>
            <a:r>
              <a:rPr lang="en-US" sz="1400" b="1" dirty="0">
                <a:solidFill>
                  <a:srgbClr val="14524A"/>
                </a:solidFill>
                <a:latin typeface="Cambria" pitchFamily="34" charset="0"/>
                <a:ea typeface="Cambria" pitchFamily="34" charset="-122"/>
                <a:cs typeface="Cambria" pitchFamily="34" charset="-120"/>
              </a:rPr>
              <a:t>Priorización MoSCoW</a:t>
            </a:r>
            <a:endParaRPr lang="en-US" sz="1400" dirty="0"/>
          </a:p>
        </p:txBody>
      </p:sp>
      <p:sp>
        <p:nvSpPr>
          <p:cNvPr id="20" name="Text 18"/>
          <p:cNvSpPr txBox="1"/>
          <p:nvPr/>
        </p:nvSpPr>
        <p:spPr>
          <a:xfrm>
            <a:off x="1444752" y="4535424"/>
            <a:ext cx="4276192" cy="548640"/>
          </a:xfrm>
          <a:prstGeom prst="rect">
            <a:avLst/>
          </a:prstGeom>
          <a:noFill/>
          <a:ln/>
        </p:spPr>
        <p:txBody>
          <a:bodyPr wrap="square" lIns="0" tIns="0" rIns="0" bIns="0" rtlCol="0" anchor="t"/>
          <a:lstStyle/>
          <a:p>
            <a:pPr indent="0" marL="0">
              <a:lnSpc>
                <a:spcPts val="1500"/>
              </a:lnSpc>
              <a:buNone/>
            </a:pPr>
            <a:r>
              <a:rPr lang="en-US" sz="1100" dirty="0">
                <a:solidFill>
                  <a:srgbClr val="5D6B66"/>
                </a:solidFill>
                <a:latin typeface="Calibri" pitchFamily="34" charset="0"/>
                <a:ea typeface="Calibri" pitchFamily="34" charset="-122"/>
                <a:cs typeface="Calibri" pitchFamily="34" charset="-120"/>
              </a:rPr>
              <a:t>Cada requerimiento marcado como «debe tener» o «debería tener», y las entregas ordenadas por valor.</a:t>
            </a:r>
            <a:endParaRPr lang="en-US" sz="1100" dirty="0"/>
          </a:p>
        </p:txBody>
      </p:sp>
      <p:sp>
        <p:nvSpPr>
          <p:cNvPr id="21" name="Shape 19"/>
          <p:cNvSpPr/>
          <p:nvPr/>
        </p:nvSpPr>
        <p:spPr>
          <a:xfrm>
            <a:off x="6214720" y="4059936"/>
            <a:ext cx="5336896" cy="1152144"/>
          </a:xfrm>
          <a:prstGeom prst="roundRect">
            <a:avLst>
              <a:gd name="adj" fmla="val 3968"/>
            </a:avLst>
          </a:prstGeom>
          <a:solidFill>
            <a:srgbClr val="EEF5F1"/>
          </a:solidFill>
          <a:ln w="12700">
            <a:solidFill>
              <a:srgbClr val="D9E5DF"/>
            </a:solidFill>
            <a:prstDash val="solid"/>
          </a:ln>
        </p:spPr>
      </p:sp>
      <p:sp>
        <p:nvSpPr>
          <p:cNvPr id="22" name="Shape 20"/>
          <p:cNvSpPr/>
          <p:nvPr/>
        </p:nvSpPr>
        <p:spPr>
          <a:xfrm>
            <a:off x="6452464" y="4425696"/>
            <a:ext cx="420624" cy="420624"/>
          </a:xfrm>
          <a:prstGeom prst="ellipse">
            <a:avLst/>
          </a:prstGeom>
          <a:solidFill>
            <a:srgbClr val="E8A33D"/>
          </a:solidFill>
          <a:ln w="12700">
            <a:solidFill>
              <a:srgbClr val="E8A33D"/>
            </a:solidFill>
            <a:prstDash val="solid"/>
          </a:ln>
        </p:spPr>
      </p:sp>
      <p:sp>
        <p:nvSpPr>
          <p:cNvPr id="23" name="Text 21"/>
          <p:cNvSpPr txBox="1"/>
          <p:nvPr/>
        </p:nvSpPr>
        <p:spPr>
          <a:xfrm>
            <a:off x="6452464" y="4425696"/>
            <a:ext cx="420624" cy="420624"/>
          </a:xfrm>
          <a:prstGeom prst="rect">
            <a:avLst/>
          </a:prstGeom>
          <a:noFill/>
          <a:ln/>
        </p:spPr>
        <p:txBody>
          <a:bodyPr wrap="square" lIns="0" tIns="0" rIns="0" bIns="0" rtlCol="0" anchor="ctr"/>
          <a:lstStyle/>
          <a:p>
            <a:pPr algn="ctr" indent="0" marL="0">
              <a:buNone/>
            </a:pPr>
            <a:r>
              <a:rPr lang="en-US" sz="1400" b="1" dirty="0">
                <a:solidFill>
                  <a:srgbClr val="14524A"/>
                </a:solidFill>
                <a:latin typeface="Calibri" pitchFamily="34" charset="0"/>
                <a:ea typeface="Calibri" pitchFamily="34" charset="-122"/>
                <a:cs typeface="Calibri" pitchFamily="34" charset="-120"/>
              </a:rPr>
              <a:t>4</a:t>
            </a:r>
            <a:endParaRPr lang="en-US" sz="1400" dirty="0"/>
          </a:p>
        </p:txBody>
      </p:sp>
      <p:sp>
        <p:nvSpPr>
          <p:cNvPr id="24" name="Text 22"/>
          <p:cNvSpPr txBox="1"/>
          <p:nvPr/>
        </p:nvSpPr>
        <p:spPr>
          <a:xfrm>
            <a:off x="7019392" y="4206240"/>
            <a:ext cx="4276192" cy="310896"/>
          </a:xfrm>
          <a:prstGeom prst="rect">
            <a:avLst/>
          </a:prstGeom>
          <a:noFill/>
          <a:ln/>
        </p:spPr>
        <p:txBody>
          <a:bodyPr wrap="square" lIns="0" tIns="0" rIns="0" bIns="0" rtlCol="0" anchor="ctr"/>
          <a:lstStyle/>
          <a:p>
            <a:pPr indent="0" marL="0">
              <a:buNone/>
            </a:pPr>
            <a:r>
              <a:rPr lang="en-US" sz="1400" b="1" dirty="0">
                <a:solidFill>
                  <a:srgbClr val="14524A"/>
                </a:solidFill>
                <a:latin typeface="Cambria" pitchFamily="34" charset="0"/>
                <a:ea typeface="Cambria" pitchFamily="34" charset="-122"/>
                <a:cs typeface="Cambria" pitchFamily="34" charset="-120"/>
              </a:rPr>
              <a:t>Verificación automatizada</a:t>
            </a:r>
            <a:endParaRPr lang="en-US" sz="1400" dirty="0"/>
          </a:p>
        </p:txBody>
      </p:sp>
      <p:sp>
        <p:nvSpPr>
          <p:cNvPr id="25" name="Text 23"/>
          <p:cNvSpPr txBox="1"/>
          <p:nvPr/>
        </p:nvSpPr>
        <p:spPr>
          <a:xfrm>
            <a:off x="7019392" y="4535424"/>
            <a:ext cx="4276192" cy="548640"/>
          </a:xfrm>
          <a:prstGeom prst="rect">
            <a:avLst/>
          </a:prstGeom>
          <a:noFill/>
          <a:ln/>
        </p:spPr>
        <p:txBody>
          <a:bodyPr wrap="square" lIns="0" tIns="0" rIns="0" bIns="0" rtlCol="0" anchor="t"/>
          <a:lstStyle/>
          <a:p>
            <a:pPr indent="0" marL="0">
              <a:lnSpc>
                <a:spcPts val="1500"/>
              </a:lnSpc>
              <a:buNone/>
            </a:pPr>
            <a:r>
              <a:rPr lang="en-US" sz="1100" dirty="0">
                <a:solidFill>
                  <a:srgbClr val="5D6B66"/>
                </a:solidFill>
                <a:latin typeface="Calibri" pitchFamily="34" charset="0"/>
                <a:ea typeface="Calibri" pitchFamily="34" charset="-122"/>
                <a:cs typeface="Calibri" pitchFamily="34" charset="-120"/>
              </a:rPr>
              <a:t>Cada regla de negocio tiene una prueba que se vuelve a ejecutar antes de cada entrega.</a:t>
            </a:r>
            <a:endParaRPr lang="en-US" sz="1100" dirty="0"/>
          </a:p>
        </p:txBody>
      </p:sp>
      <p:sp>
        <p:nvSpPr>
          <p:cNvPr id="26" name="Shape 24"/>
          <p:cNvSpPr/>
          <p:nvPr/>
        </p:nvSpPr>
        <p:spPr>
          <a:xfrm>
            <a:off x="640080" y="5431536"/>
            <a:ext cx="10911535" cy="658368"/>
          </a:xfrm>
          <a:prstGeom prst="roundRect">
            <a:avLst>
              <a:gd name="adj" fmla="val 6944"/>
            </a:avLst>
          </a:prstGeom>
          <a:solidFill>
            <a:srgbClr val="F6EADA"/>
          </a:solidFill>
          <a:ln w="12700">
            <a:solidFill>
              <a:srgbClr val="F6EADA"/>
            </a:solidFill>
            <a:prstDash val="solid"/>
          </a:ln>
        </p:spPr>
      </p:sp>
      <p:sp>
        <p:nvSpPr>
          <p:cNvPr id="27" name="Text 25"/>
          <p:cNvSpPr txBox="1"/>
          <p:nvPr/>
        </p:nvSpPr>
        <p:spPr>
          <a:xfrm>
            <a:off x="914400" y="5431536"/>
            <a:ext cx="10362895" cy="658368"/>
          </a:xfrm>
          <a:prstGeom prst="rect">
            <a:avLst/>
          </a:prstGeom>
          <a:noFill/>
          <a:ln/>
        </p:spPr>
        <p:txBody>
          <a:bodyPr wrap="square" lIns="0" tIns="0" rIns="0" bIns="0" rtlCol="0" anchor="ctr"/>
          <a:lstStyle/>
          <a:p>
            <a:pPr indent="0" marL="0">
              <a:lnSpc>
                <a:spcPts val="1600"/>
              </a:lnSpc>
              <a:buNone/>
            </a:pPr>
            <a:r>
              <a:rPr lang="en-US" sz="1150" b="1" dirty="0">
                <a:solidFill>
                  <a:srgbClr val="8A5A12"/>
                </a:solidFill>
                <a:latin typeface="Calibri" pitchFamily="34" charset="0"/>
                <a:ea typeface="Calibri" pitchFamily="34" charset="-122"/>
                <a:cs typeface="Calibri" pitchFamily="34" charset="-120"/>
              </a:rPr>
              <a:t xml:space="preserve">No es Scrum, y no lo declaramos.  </a:t>
            </a:r>
            <a:pPr indent="0" marL="0">
              <a:lnSpc>
                <a:spcPts val="1600"/>
              </a:lnSpc>
              <a:buNone/>
            </a:pPr>
            <a:r>
              <a:rPr lang="en-US" sz="1150" dirty="0">
                <a:solidFill>
                  <a:srgbClr val="1C2321"/>
                </a:solidFill>
                <a:latin typeface="Calibri" pitchFamily="34" charset="0"/>
                <a:ea typeface="Calibri" pitchFamily="34" charset="-122"/>
                <a:cs typeface="Calibri" pitchFamily="34" charset="-120"/>
              </a:rPr>
              <a:t>Scrum exige sprints con fecha, product backlog, roles y ceremonias sostenidas en el tiempo. Un proyecto de tres incrementos no los sostiene, y preferimos declarar el modelo que de verdad seguimos antes que un marco cuyos artefactos no podríamos mostrar.</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384048"/>
            <a:ext cx="10911535" cy="658368"/>
          </a:xfrm>
          <a:prstGeom prst="rect">
            <a:avLst/>
          </a:prstGeom>
          <a:noFill/>
          <a:ln/>
        </p:spPr>
        <p:txBody>
          <a:bodyPr wrap="square" lIns="0" tIns="0" rIns="0" bIns="0" rtlCol="0" anchor="ctr"/>
          <a:lstStyle/>
          <a:p>
            <a:pPr indent="0" marL="0">
              <a:buNone/>
            </a:pPr>
            <a:r>
              <a:rPr lang="en-US" sz="3200" b="1" dirty="0">
                <a:solidFill>
                  <a:srgbClr val="14524A"/>
                </a:solidFill>
                <a:latin typeface="Cambria" pitchFamily="34" charset="0"/>
                <a:ea typeface="Cambria" pitchFamily="34" charset="-122"/>
                <a:cs typeface="Cambria" pitchFamily="34" charset="-120"/>
              </a:rPr>
              <a:t>Los tres incrementos</a:t>
            </a:r>
            <a:endParaRPr lang="en-US" sz="3200" dirty="0"/>
          </a:p>
        </p:txBody>
      </p:sp>
      <p:sp>
        <p:nvSpPr>
          <p:cNvPr id="3" name="Text 1"/>
          <p:cNvSpPr txBox="1"/>
          <p:nvPr/>
        </p:nvSpPr>
        <p:spPr>
          <a:xfrm>
            <a:off x="640080" y="1042416"/>
            <a:ext cx="10911535" cy="384048"/>
          </a:xfrm>
          <a:prstGeom prst="rect">
            <a:avLst/>
          </a:prstGeom>
          <a:noFill/>
          <a:ln/>
        </p:spPr>
        <p:txBody>
          <a:bodyPr wrap="square" lIns="0" tIns="0" rIns="0" bIns="0" rtlCol="0" anchor="ctr"/>
          <a:lstStyle/>
          <a:p>
            <a:pPr indent="0" marL="0">
              <a:buNone/>
            </a:pPr>
            <a:r>
              <a:rPr lang="en-US" sz="1400" dirty="0">
                <a:solidFill>
                  <a:srgbClr val="5D6B66"/>
                </a:solidFill>
                <a:latin typeface="Calibri" pitchFamily="34" charset="0"/>
                <a:ea typeface="Calibri" pitchFamily="34" charset="-122"/>
                <a:cs typeface="Calibri" pitchFamily="34" charset="-120"/>
              </a:rPr>
              <a:t>Cada uno cerró con producto usable, y está fechado en el historial del repositorio</a:t>
            </a:r>
            <a:endParaRPr lang="en-US" sz="1400" dirty="0"/>
          </a:p>
        </p:txBody>
      </p:sp>
      <p:sp>
        <p:nvSpPr>
          <p:cNvPr id="4" name="Shape 2"/>
          <p:cNvSpPr/>
          <p:nvPr/>
        </p:nvSpPr>
        <p:spPr>
          <a:xfrm>
            <a:off x="640080" y="1755648"/>
            <a:ext cx="3503066" cy="4041648"/>
          </a:xfrm>
          <a:prstGeom prst="roundRect">
            <a:avLst>
              <a:gd name="adj" fmla="val 1305"/>
            </a:avLst>
          </a:prstGeom>
          <a:solidFill>
            <a:srgbClr val="EEF5F1"/>
          </a:solidFill>
          <a:ln w="12700">
            <a:solidFill>
              <a:srgbClr val="D9E5DF"/>
            </a:solidFill>
            <a:prstDash val="solid"/>
          </a:ln>
        </p:spPr>
      </p:sp>
      <p:sp>
        <p:nvSpPr>
          <p:cNvPr id="5" name="Shape 3"/>
          <p:cNvSpPr/>
          <p:nvPr/>
        </p:nvSpPr>
        <p:spPr>
          <a:xfrm>
            <a:off x="2108149" y="1975104"/>
            <a:ext cx="566928" cy="566928"/>
          </a:xfrm>
          <a:prstGeom prst="ellipse">
            <a:avLst/>
          </a:prstGeom>
          <a:solidFill>
            <a:srgbClr val="14524A"/>
          </a:solidFill>
          <a:ln w="12700">
            <a:solidFill>
              <a:srgbClr val="14524A"/>
            </a:solidFill>
            <a:prstDash val="solid"/>
          </a:ln>
        </p:spPr>
      </p:sp>
      <p:sp>
        <p:nvSpPr>
          <p:cNvPr id="6" name="Text 4"/>
          <p:cNvSpPr txBox="1"/>
          <p:nvPr/>
        </p:nvSpPr>
        <p:spPr>
          <a:xfrm>
            <a:off x="2108149" y="1975104"/>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I</a:t>
            </a:r>
            <a:endParaRPr lang="en-US" sz="1700" dirty="0"/>
          </a:p>
        </p:txBody>
      </p:sp>
      <p:sp>
        <p:nvSpPr>
          <p:cNvPr id="7" name="Text 5"/>
          <p:cNvSpPr txBox="1"/>
          <p:nvPr/>
        </p:nvSpPr>
        <p:spPr>
          <a:xfrm>
            <a:off x="640080" y="2651760"/>
            <a:ext cx="3503066" cy="292608"/>
          </a:xfrm>
          <a:prstGeom prst="rect">
            <a:avLst/>
          </a:prstGeom>
          <a:noFill/>
          <a:ln/>
        </p:spPr>
        <p:txBody>
          <a:bodyPr wrap="square" lIns="0" tIns="0" rIns="0" bIns="0" rtlCol="0" anchor="ctr"/>
          <a:lstStyle/>
          <a:p>
            <a:pPr algn="ctr" indent="0" marL="0">
              <a:buNone/>
            </a:pPr>
            <a:r>
              <a:rPr lang="en-US" sz="1100" b="1" dirty="0">
                <a:solidFill>
                  <a:srgbClr val="5D6B66"/>
                </a:solidFill>
                <a:latin typeface="Calibri" pitchFamily="34" charset="0"/>
                <a:ea typeface="Calibri" pitchFamily="34" charset="-122"/>
                <a:cs typeface="Calibri" pitchFamily="34" charset="-120"/>
              </a:rPr>
              <a:t>8 de septiembre</a:t>
            </a:r>
            <a:endParaRPr lang="en-US" sz="1100" dirty="0"/>
          </a:p>
        </p:txBody>
      </p:sp>
      <p:sp>
        <p:nvSpPr>
          <p:cNvPr id="8" name="Text 6"/>
          <p:cNvSpPr txBox="1"/>
          <p:nvPr/>
        </p:nvSpPr>
        <p:spPr>
          <a:xfrm>
            <a:off x="896112" y="2980944"/>
            <a:ext cx="2991002" cy="621792"/>
          </a:xfrm>
          <a:prstGeom prst="rect">
            <a:avLst/>
          </a:prstGeom>
          <a:noFill/>
          <a:ln/>
        </p:spPr>
        <p:txBody>
          <a:bodyPr wrap="square" lIns="0" tIns="0" rIns="0" bIns="0" rtlCol="0" anchor="ctr"/>
          <a:lstStyle/>
          <a:p>
            <a:pPr algn="ctr" indent="0" marL="0">
              <a:buNone/>
            </a:pPr>
            <a:r>
              <a:rPr lang="en-US" sz="1500" b="1" dirty="0">
                <a:solidFill>
                  <a:srgbClr val="14524A"/>
                </a:solidFill>
                <a:latin typeface="Cambria" pitchFamily="34" charset="0"/>
                <a:ea typeface="Cambria" pitchFamily="34" charset="-122"/>
                <a:cs typeface="Cambria" pitchFamily="34" charset="-120"/>
              </a:rPr>
              <a:t>Estructura y sitio institucional</a:t>
            </a:r>
            <a:endParaRPr lang="en-US" sz="1500" dirty="0"/>
          </a:p>
        </p:txBody>
      </p:sp>
      <p:sp>
        <p:nvSpPr>
          <p:cNvPr id="9" name="Text 7"/>
          <p:cNvSpPr txBox="1"/>
          <p:nvPr/>
        </p:nvSpPr>
        <p:spPr>
          <a:xfrm>
            <a:off x="896112" y="3657600"/>
            <a:ext cx="2991002" cy="1225296"/>
          </a:xfrm>
          <a:prstGeom prst="rect">
            <a:avLst/>
          </a:prstGeom>
          <a:noFill/>
          <a:ln/>
        </p:spPr>
        <p:txBody>
          <a:bodyPr wrap="square" lIns="0" tIns="0" rIns="0" bIns="0" rtlCol="0" anchor="t"/>
          <a:lstStyle/>
          <a:p>
            <a:pPr indent="0" marL="0">
              <a:lnSpc>
                <a:spcPts val="1600"/>
              </a:lnSpc>
              <a:buNone/>
            </a:pPr>
            <a:r>
              <a:rPr lang="en-US" sz="1150" dirty="0">
                <a:solidFill>
                  <a:srgbClr val="1C2321"/>
                </a:solidFill>
                <a:latin typeface="Calibri" pitchFamily="34" charset="0"/>
                <a:ea typeface="Calibri" pitchFamily="34" charset="-122"/>
                <a:cs typeface="Calibri" pitchFamily="34" charset="-120"/>
              </a:rPr>
              <a:t>Repositorio organizado, sitio público navegable y el documento de arquitectura.</a:t>
            </a:r>
            <a:endParaRPr lang="en-US" sz="1150" dirty="0"/>
          </a:p>
        </p:txBody>
      </p:sp>
      <p:sp>
        <p:nvSpPr>
          <p:cNvPr id="10" name="Text 8"/>
          <p:cNvSpPr txBox="1"/>
          <p:nvPr/>
        </p:nvSpPr>
        <p:spPr>
          <a:xfrm>
            <a:off x="896112" y="4937760"/>
            <a:ext cx="2991002" cy="694944"/>
          </a:xfrm>
          <a:prstGeom prst="rect">
            <a:avLst/>
          </a:prstGeom>
          <a:noFill/>
          <a:ln/>
        </p:spPr>
        <p:txBody>
          <a:bodyPr wrap="square" lIns="0" tIns="0" rIns="0" bIns="0" rtlCol="0" anchor="t"/>
          <a:lstStyle/>
          <a:p>
            <a:pPr indent="0" marL="0">
              <a:lnSpc>
                <a:spcPts val="1400"/>
              </a:lnSpc>
              <a:buNone/>
            </a:pPr>
            <a:r>
              <a:rPr lang="en-US" sz="1050" i="1" dirty="0">
                <a:solidFill>
                  <a:srgbClr val="5D6B66"/>
                </a:solidFill>
                <a:latin typeface="Calibri" pitchFamily="34" charset="0"/>
                <a:ea typeface="Calibri" pitchFamily="34" charset="-122"/>
                <a:cs typeface="Calibri" pitchFamily="34" charset="-120"/>
              </a:rPr>
              <a:t>Qué aportó: Probó que el negocio se podía mostrar en línea.</a:t>
            </a:r>
            <a:endParaRPr lang="en-US" sz="1050" dirty="0"/>
          </a:p>
        </p:txBody>
      </p:sp>
      <p:sp>
        <p:nvSpPr>
          <p:cNvPr id="11" name="Shape 9"/>
          <p:cNvSpPr/>
          <p:nvPr/>
        </p:nvSpPr>
        <p:spPr>
          <a:xfrm>
            <a:off x="4344314" y="1755648"/>
            <a:ext cx="3503066" cy="4041648"/>
          </a:xfrm>
          <a:prstGeom prst="roundRect">
            <a:avLst>
              <a:gd name="adj" fmla="val 1305"/>
            </a:avLst>
          </a:prstGeom>
          <a:solidFill>
            <a:srgbClr val="14524A"/>
          </a:solidFill>
          <a:ln w="12700">
            <a:solidFill>
              <a:srgbClr val="14524A"/>
            </a:solidFill>
            <a:prstDash val="solid"/>
          </a:ln>
        </p:spPr>
      </p:sp>
      <p:sp>
        <p:nvSpPr>
          <p:cNvPr id="12" name="Shape 10"/>
          <p:cNvSpPr/>
          <p:nvPr/>
        </p:nvSpPr>
        <p:spPr>
          <a:xfrm>
            <a:off x="5812384" y="1975104"/>
            <a:ext cx="566928" cy="566928"/>
          </a:xfrm>
          <a:prstGeom prst="ellipse">
            <a:avLst/>
          </a:prstGeom>
          <a:solidFill>
            <a:srgbClr val="E8A33D"/>
          </a:solidFill>
          <a:ln w="12700">
            <a:solidFill>
              <a:srgbClr val="E8A33D"/>
            </a:solidFill>
            <a:prstDash val="solid"/>
          </a:ln>
        </p:spPr>
      </p:sp>
      <p:sp>
        <p:nvSpPr>
          <p:cNvPr id="13" name="Text 11"/>
          <p:cNvSpPr txBox="1"/>
          <p:nvPr/>
        </p:nvSpPr>
        <p:spPr>
          <a:xfrm>
            <a:off x="5812384" y="1975104"/>
            <a:ext cx="566928" cy="566928"/>
          </a:xfrm>
          <a:prstGeom prst="rect">
            <a:avLst/>
          </a:prstGeom>
          <a:noFill/>
          <a:ln/>
        </p:spPr>
        <p:txBody>
          <a:bodyPr wrap="square" lIns="0" tIns="0" rIns="0" bIns="0" rtlCol="0" anchor="ctr"/>
          <a:lstStyle/>
          <a:p>
            <a:pPr algn="ctr" indent="0" marL="0">
              <a:buNone/>
            </a:pPr>
            <a:r>
              <a:rPr lang="en-US" sz="1700" b="1" dirty="0">
                <a:solidFill>
                  <a:srgbClr val="14524A"/>
                </a:solidFill>
                <a:latin typeface="Calibri" pitchFamily="34" charset="0"/>
                <a:ea typeface="Calibri" pitchFamily="34" charset="-122"/>
                <a:cs typeface="Calibri" pitchFamily="34" charset="-120"/>
              </a:rPr>
              <a:t>II</a:t>
            </a:r>
            <a:endParaRPr lang="en-US" sz="1700" dirty="0"/>
          </a:p>
        </p:txBody>
      </p:sp>
      <p:sp>
        <p:nvSpPr>
          <p:cNvPr id="14" name="Text 12"/>
          <p:cNvSpPr txBox="1"/>
          <p:nvPr/>
        </p:nvSpPr>
        <p:spPr>
          <a:xfrm>
            <a:off x="4344314" y="2651760"/>
            <a:ext cx="3503066" cy="292608"/>
          </a:xfrm>
          <a:prstGeom prst="rect">
            <a:avLst/>
          </a:prstGeom>
          <a:noFill/>
          <a:ln/>
        </p:spPr>
        <p:txBody>
          <a:bodyPr wrap="square" lIns="0" tIns="0" rIns="0" bIns="0" rtlCol="0" anchor="ctr"/>
          <a:lstStyle/>
          <a:p>
            <a:pPr algn="ctr" indent="0" marL="0">
              <a:buNone/>
            </a:pPr>
            <a:r>
              <a:rPr lang="en-US" sz="1100" b="1" dirty="0">
                <a:solidFill>
                  <a:srgbClr val="E8A33D"/>
                </a:solidFill>
                <a:latin typeface="Calibri" pitchFamily="34" charset="0"/>
                <a:ea typeface="Calibri" pitchFamily="34" charset="-122"/>
                <a:cs typeface="Calibri" pitchFamily="34" charset="-120"/>
              </a:rPr>
              <a:t>15 de septiembre</a:t>
            </a:r>
            <a:endParaRPr lang="en-US" sz="1100" dirty="0"/>
          </a:p>
        </p:txBody>
      </p:sp>
      <p:sp>
        <p:nvSpPr>
          <p:cNvPr id="15" name="Text 13"/>
          <p:cNvSpPr txBox="1"/>
          <p:nvPr/>
        </p:nvSpPr>
        <p:spPr>
          <a:xfrm>
            <a:off x="4600346" y="2980944"/>
            <a:ext cx="2991002" cy="62179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Prototipo y aplicación real</a:t>
            </a:r>
            <a:endParaRPr lang="en-US" sz="1500" dirty="0"/>
          </a:p>
        </p:txBody>
      </p:sp>
      <p:sp>
        <p:nvSpPr>
          <p:cNvPr id="16" name="Text 14"/>
          <p:cNvSpPr txBox="1"/>
          <p:nvPr/>
        </p:nvSpPr>
        <p:spPr>
          <a:xfrm>
            <a:off x="4600346" y="3657600"/>
            <a:ext cx="2991002" cy="1225296"/>
          </a:xfrm>
          <a:prstGeom prst="rect">
            <a:avLst/>
          </a:prstGeom>
          <a:noFill/>
          <a:ln/>
        </p:spPr>
        <p:txBody>
          <a:bodyPr wrap="square" lIns="0" tIns="0" rIns="0" bIns="0" rtlCol="0" anchor="t"/>
          <a:lstStyle/>
          <a:p>
            <a:pPr indent="0" marL="0">
              <a:lnSpc>
                <a:spcPts val="1600"/>
              </a:lnSpc>
              <a:buNone/>
            </a:pPr>
            <a:r>
              <a:rPr lang="en-US" sz="1150" dirty="0">
                <a:solidFill>
                  <a:srgbClr val="CFE3DC"/>
                </a:solidFill>
                <a:latin typeface="Calibri" pitchFamily="34" charset="0"/>
                <a:ea typeface="Calibri" pitchFamily="34" charset="-122"/>
                <a:cs typeface="Calibri" pitchFamily="34" charset="-120"/>
              </a:rPr>
              <a:t>Prototipo navegable de la plataforma, migrado luego a una aplicación completa con base de datos, cobro en línea y suscripción.</a:t>
            </a:r>
            <a:endParaRPr lang="en-US" sz="1150" dirty="0"/>
          </a:p>
        </p:txBody>
      </p:sp>
      <p:sp>
        <p:nvSpPr>
          <p:cNvPr id="17" name="Text 15"/>
          <p:cNvSpPr txBox="1"/>
          <p:nvPr/>
        </p:nvSpPr>
        <p:spPr>
          <a:xfrm>
            <a:off x="4600346" y="4937760"/>
            <a:ext cx="2991002" cy="694944"/>
          </a:xfrm>
          <a:prstGeom prst="rect">
            <a:avLst/>
          </a:prstGeom>
          <a:noFill/>
          <a:ln/>
        </p:spPr>
        <p:txBody>
          <a:bodyPr wrap="square" lIns="0" tIns="0" rIns="0" bIns="0" rtlCol="0" anchor="t"/>
          <a:lstStyle/>
          <a:p>
            <a:pPr indent="0" marL="0">
              <a:lnSpc>
                <a:spcPts val="1400"/>
              </a:lnSpc>
              <a:buNone/>
            </a:pPr>
            <a:r>
              <a:rPr lang="en-US" sz="1050" i="1" dirty="0">
                <a:solidFill>
                  <a:srgbClr val="CFE3DC"/>
                </a:solidFill>
                <a:latin typeface="Calibri" pitchFamily="34" charset="0"/>
                <a:ea typeface="Calibri" pitchFamily="34" charset="-122"/>
                <a:cs typeface="Calibri" pitchFamily="34" charset="-120"/>
              </a:rPr>
              <a:t>Qué aportó: Aquí aparecieron reglas que la entrevista no había revelado.</a:t>
            </a:r>
            <a:endParaRPr lang="en-US" sz="1050" dirty="0"/>
          </a:p>
        </p:txBody>
      </p:sp>
      <p:sp>
        <p:nvSpPr>
          <p:cNvPr id="18" name="Shape 16"/>
          <p:cNvSpPr/>
          <p:nvPr/>
        </p:nvSpPr>
        <p:spPr>
          <a:xfrm>
            <a:off x="8048549" y="1755648"/>
            <a:ext cx="3503066" cy="4041648"/>
          </a:xfrm>
          <a:prstGeom prst="roundRect">
            <a:avLst>
              <a:gd name="adj" fmla="val 1305"/>
            </a:avLst>
          </a:prstGeom>
          <a:solidFill>
            <a:srgbClr val="EEF5F1"/>
          </a:solidFill>
          <a:ln w="12700">
            <a:solidFill>
              <a:srgbClr val="D9E5DF"/>
            </a:solidFill>
            <a:prstDash val="solid"/>
          </a:ln>
        </p:spPr>
      </p:sp>
      <p:sp>
        <p:nvSpPr>
          <p:cNvPr id="19" name="Shape 17"/>
          <p:cNvSpPr/>
          <p:nvPr/>
        </p:nvSpPr>
        <p:spPr>
          <a:xfrm>
            <a:off x="9516618" y="1975104"/>
            <a:ext cx="566928" cy="566928"/>
          </a:xfrm>
          <a:prstGeom prst="ellipse">
            <a:avLst/>
          </a:prstGeom>
          <a:solidFill>
            <a:srgbClr val="14524A"/>
          </a:solidFill>
          <a:ln w="12700">
            <a:solidFill>
              <a:srgbClr val="14524A"/>
            </a:solidFill>
            <a:prstDash val="solid"/>
          </a:ln>
        </p:spPr>
      </p:sp>
      <p:sp>
        <p:nvSpPr>
          <p:cNvPr id="20" name="Text 18"/>
          <p:cNvSpPr txBox="1"/>
          <p:nvPr/>
        </p:nvSpPr>
        <p:spPr>
          <a:xfrm>
            <a:off x="9516618" y="1975104"/>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III</a:t>
            </a:r>
            <a:endParaRPr lang="en-US" sz="1700" dirty="0"/>
          </a:p>
        </p:txBody>
      </p:sp>
      <p:sp>
        <p:nvSpPr>
          <p:cNvPr id="21" name="Text 19"/>
          <p:cNvSpPr txBox="1"/>
          <p:nvPr/>
        </p:nvSpPr>
        <p:spPr>
          <a:xfrm>
            <a:off x="8048549" y="2651760"/>
            <a:ext cx="3503066" cy="292608"/>
          </a:xfrm>
          <a:prstGeom prst="rect">
            <a:avLst/>
          </a:prstGeom>
          <a:noFill/>
          <a:ln/>
        </p:spPr>
        <p:txBody>
          <a:bodyPr wrap="square" lIns="0" tIns="0" rIns="0" bIns="0" rtlCol="0" anchor="ctr"/>
          <a:lstStyle/>
          <a:p>
            <a:pPr algn="ctr" indent="0" marL="0">
              <a:buNone/>
            </a:pPr>
            <a:r>
              <a:rPr lang="en-US" sz="1100" b="1" dirty="0">
                <a:solidFill>
                  <a:srgbClr val="5D6B66"/>
                </a:solidFill>
                <a:latin typeface="Calibri" pitchFamily="34" charset="0"/>
                <a:ea typeface="Calibri" pitchFamily="34" charset="-122"/>
                <a:cs typeface="Calibri" pitchFamily="34" charset="-120"/>
              </a:rPr>
              <a:t>29 y 30 de septiembre</a:t>
            </a:r>
            <a:endParaRPr lang="en-US" sz="1100" dirty="0"/>
          </a:p>
        </p:txBody>
      </p:sp>
      <p:sp>
        <p:nvSpPr>
          <p:cNvPr id="22" name="Text 20"/>
          <p:cNvSpPr txBox="1"/>
          <p:nvPr/>
        </p:nvSpPr>
        <p:spPr>
          <a:xfrm>
            <a:off x="8304581" y="2980944"/>
            <a:ext cx="2991002" cy="621792"/>
          </a:xfrm>
          <a:prstGeom prst="rect">
            <a:avLst/>
          </a:prstGeom>
          <a:noFill/>
          <a:ln/>
        </p:spPr>
        <p:txBody>
          <a:bodyPr wrap="square" lIns="0" tIns="0" rIns="0" bIns="0" rtlCol="0" anchor="ctr"/>
          <a:lstStyle/>
          <a:p>
            <a:pPr algn="ctr" indent="0" marL="0">
              <a:buNone/>
            </a:pPr>
            <a:r>
              <a:rPr lang="en-US" sz="1500" b="1" dirty="0">
                <a:solidFill>
                  <a:srgbClr val="14524A"/>
                </a:solidFill>
                <a:latin typeface="Cambria" pitchFamily="34" charset="0"/>
                <a:ea typeface="Cambria" pitchFamily="34" charset="-122"/>
                <a:cs typeface="Cambria" pitchFamily="34" charset="-120"/>
              </a:rPr>
              <a:t>Requerimientos formales y presentación</a:t>
            </a:r>
            <a:endParaRPr lang="en-US" sz="1500" dirty="0"/>
          </a:p>
        </p:txBody>
      </p:sp>
      <p:sp>
        <p:nvSpPr>
          <p:cNvPr id="23" name="Text 21"/>
          <p:cNvSpPr txBox="1"/>
          <p:nvPr/>
        </p:nvSpPr>
        <p:spPr>
          <a:xfrm>
            <a:off x="8304581" y="3657600"/>
            <a:ext cx="2991002" cy="1225296"/>
          </a:xfrm>
          <a:prstGeom prst="rect">
            <a:avLst/>
          </a:prstGeom>
          <a:noFill/>
          <a:ln/>
        </p:spPr>
        <p:txBody>
          <a:bodyPr wrap="square" lIns="0" tIns="0" rIns="0" bIns="0" rtlCol="0" anchor="t"/>
          <a:lstStyle/>
          <a:p>
            <a:pPr indent="0" marL="0">
              <a:lnSpc>
                <a:spcPts val="1600"/>
              </a:lnSpc>
              <a:buNone/>
            </a:pPr>
            <a:r>
              <a:rPr lang="en-US" sz="1150" dirty="0">
                <a:solidFill>
                  <a:srgbClr val="1C2321"/>
                </a:solidFill>
                <a:latin typeface="Calibri" pitchFamily="34" charset="0"/>
                <a:ea typeface="Calibri" pitchFamily="34" charset="-122"/>
                <a:cs typeface="Calibri" pitchFamily="34" charset="-120"/>
              </a:rPr>
              <a:t>Documento de requerimientos con 19 funcionales, 12 no funcionales y 22 reglas, más la trazabilidad a los problemas del diagnóstico.</a:t>
            </a:r>
            <a:endParaRPr lang="en-US" sz="1150" dirty="0"/>
          </a:p>
        </p:txBody>
      </p:sp>
      <p:sp>
        <p:nvSpPr>
          <p:cNvPr id="24" name="Text 22"/>
          <p:cNvSpPr txBox="1"/>
          <p:nvPr/>
        </p:nvSpPr>
        <p:spPr>
          <a:xfrm>
            <a:off x="8304581" y="4937760"/>
            <a:ext cx="2991002" cy="694944"/>
          </a:xfrm>
          <a:prstGeom prst="rect">
            <a:avLst/>
          </a:prstGeom>
          <a:noFill/>
          <a:ln/>
        </p:spPr>
        <p:txBody>
          <a:bodyPr wrap="square" lIns="0" tIns="0" rIns="0" bIns="0" rtlCol="0" anchor="t"/>
          <a:lstStyle/>
          <a:p>
            <a:pPr indent="0" marL="0">
              <a:lnSpc>
                <a:spcPts val="1400"/>
              </a:lnSpc>
              <a:buNone/>
            </a:pPr>
            <a:r>
              <a:rPr lang="en-US" sz="1050" i="1" dirty="0">
                <a:solidFill>
                  <a:srgbClr val="5D6B66"/>
                </a:solidFill>
                <a:latin typeface="Calibri" pitchFamily="34" charset="0"/>
                <a:ea typeface="Calibri" pitchFamily="34" charset="-122"/>
                <a:cs typeface="Calibri" pitchFamily="34" charset="-120"/>
              </a:rPr>
              <a:t>Qué aportó: Consolidó por escrito lo que el prototipo ya había demostrado.</a:t>
            </a:r>
            <a:endParaRPr lang="en-US" sz="1050" dirty="0"/>
          </a:p>
        </p:txBody>
      </p:sp>
      <p:sp>
        <p:nvSpPr>
          <p:cNvPr id="25" name="Text 23"/>
          <p:cNvSpPr txBox="1"/>
          <p:nvPr/>
        </p:nvSpPr>
        <p:spPr>
          <a:xfrm>
            <a:off x="640080" y="6327648"/>
            <a:ext cx="10911535" cy="292608"/>
          </a:xfrm>
          <a:prstGeom prst="rect">
            <a:avLst/>
          </a:prstGeom>
          <a:noFill/>
          <a:ln/>
        </p:spPr>
        <p:txBody>
          <a:bodyPr wrap="square" lIns="0" tIns="0" rIns="0" bIns="0" rtlCol="0" anchor="ctr"/>
          <a:lstStyle/>
          <a:p>
            <a:pPr indent="0" marL="0">
              <a:buNone/>
            </a:pPr>
            <a:r>
              <a:rPr lang="en-US" sz="1000" i="1" dirty="0">
                <a:solidFill>
                  <a:srgbClr val="5D6B66"/>
                </a:solidFill>
                <a:latin typeface="Calibri" pitchFamily="34" charset="0"/>
                <a:ea typeface="Calibri" pitchFamily="34" charset="-122"/>
                <a:cs typeface="Calibri" pitchFamily="34" charset="-120"/>
              </a:rPr>
              <a:t>El orden no fue documentar y después construir: el prototipo sirvió para descubrir requerimientos, y eso es exactamente para lo que existe el prototipado evolutivo.</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384048"/>
            <a:ext cx="10911535" cy="658368"/>
          </a:xfrm>
          <a:prstGeom prst="rect">
            <a:avLst/>
          </a:prstGeom>
          <a:noFill/>
          <a:ln/>
        </p:spPr>
        <p:txBody>
          <a:bodyPr wrap="square" lIns="0" tIns="0" rIns="0" bIns="0" rtlCol="0" anchor="ctr"/>
          <a:lstStyle/>
          <a:p>
            <a:pPr indent="0" marL="0">
              <a:buNone/>
            </a:pPr>
            <a:r>
              <a:rPr lang="en-US" sz="3200" b="1" dirty="0">
                <a:solidFill>
                  <a:srgbClr val="14524A"/>
                </a:solidFill>
                <a:latin typeface="Cambria" pitchFamily="34" charset="0"/>
                <a:ea typeface="Cambria" pitchFamily="34" charset="-122"/>
                <a:cs typeface="Cambria" pitchFamily="34" charset="-120"/>
              </a:rPr>
              <a:t>Qué pide el negocio, por escrito</a:t>
            </a:r>
            <a:endParaRPr lang="en-US" sz="3200" dirty="0"/>
          </a:p>
        </p:txBody>
      </p:sp>
      <p:sp>
        <p:nvSpPr>
          <p:cNvPr id="3" name="Text 1"/>
          <p:cNvSpPr txBox="1"/>
          <p:nvPr/>
        </p:nvSpPr>
        <p:spPr>
          <a:xfrm>
            <a:off x="640080" y="1042416"/>
            <a:ext cx="10911535" cy="384048"/>
          </a:xfrm>
          <a:prstGeom prst="rect">
            <a:avLst/>
          </a:prstGeom>
          <a:noFill/>
          <a:ln/>
        </p:spPr>
        <p:txBody>
          <a:bodyPr wrap="square" lIns="0" tIns="0" rIns="0" bIns="0" rtlCol="0" anchor="ctr"/>
          <a:lstStyle/>
          <a:p>
            <a:pPr indent="0" marL="0">
              <a:buNone/>
            </a:pPr>
            <a:r>
              <a:rPr lang="en-US" sz="1400" dirty="0">
                <a:solidFill>
                  <a:srgbClr val="5D6B66"/>
                </a:solidFill>
                <a:latin typeface="Calibri" pitchFamily="34" charset="0"/>
                <a:ea typeface="Calibri" pitchFamily="34" charset="-122"/>
                <a:cs typeface="Calibri" pitchFamily="34" charset="-120"/>
              </a:rPr>
              <a:t>Documento de requerimientos VPC-REQ-001, firmado por la empresa</a:t>
            </a:r>
            <a:endParaRPr lang="en-US" sz="1400" dirty="0"/>
          </a:p>
        </p:txBody>
      </p:sp>
      <p:sp>
        <p:nvSpPr>
          <p:cNvPr id="4" name="Shape 2"/>
          <p:cNvSpPr/>
          <p:nvPr/>
        </p:nvSpPr>
        <p:spPr>
          <a:xfrm>
            <a:off x="640080" y="1719072"/>
            <a:ext cx="3503066" cy="1920240"/>
          </a:xfrm>
          <a:prstGeom prst="roundRect">
            <a:avLst>
              <a:gd name="adj" fmla="val 2381"/>
            </a:avLst>
          </a:prstGeom>
          <a:solidFill>
            <a:srgbClr val="EEF5F1"/>
          </a:solidFill>
          <a:ln w="12700">
            <a:solidFill>
              <a:srgbClr val="D9E5DF"/>
            </a:solidFill>
            <a:prstDash val="solid"/>
          </a:ln>
        </p:spPr>
      </p:sp>
      <p:sp>
        <p:nvSpPr>
          <p:cNvPr id="5" name="Text 3"/>
          <p:cNvSpPr txBox="1"/>
          <p:nvPr/>
        </p:nvSpPr>
        <p:spPr>
          <a:xfrm>
            <a:off x="859536" y="1865376"/>
            <a:ext cx="1188720" cy="822960"/>
          </a:xfrm>
          <a:prstGeom prst="rect">
            <a:avLst/>
          </a:prstGeom>
          <a:noFill/>
          <a:ln/>
        </p:spPr>
        <p:txBody>
          <a:bodyPr wrap="square" lIns="0" tIns="0" rIns="0" bIns="0" rtlCol="0" anchor="ctr"/>
          <a:lstStyle/>
          <a:p>
            <a:pPr indent="0" marL="0">
              <a:buNone/>
            </a:pPr>
            <a:r>
              <a:rPr lang="en-US" sz="4200" b="1" dirty="0">
                <a:solidFill>
                  <a:srgbClr val="14524A"/>
                </a:solidFill>
                <a:latin typeface="Cambria" pitchFamily="34" charset="0"/>
                <a:ea typeface="Cambria" pitchFamily="34" charset="-122"/>
                <a:cs typeface="Cambria" pitchFamily="34" charset="-120"/>
              </a:rPr>
              <a:t>19</a:t>
            </a:r>
            <a:endParaRPr lang="en-US" sz="4200" dirty="0"/>
          </a:p>
        </p:txBody>
      </p:sp>
      <p:sp>
        <p:nvSpPr>
          <p:cNvPr id="6" name="Text 4"/>
          <p:cNvSpPr txBox="1"/>
          <p:nvPr/>
        </p:nvSpPr>
        <p:spPr>
          <a:xfrm>
            <a:off x="2011680" y="1865376"/>
            <a:ext cx="1893722" cy="822960"/>
          </a:xfrm>
          <a:prstGeom prst="rect">
            <a:avLst/>
          </a:prstGeom>
          <a:noFill/>
          <a:ln/>
        </p:spPr>
        <p:txBody>
          <a:bodyPr wrap="square" lIns="0" tIns="0" rIns="0" bIns="0" rtlCol="0" anchor="ctr"/>
          <a:lstStyle/>
          <a:p>
            <a:pPr indent="0" marL="0">
              <a:buNone/>
            </a:pPr>
            <a:r>
              <a:rPr lang="en-US" sz="1400" b="1" dirty="0">
                <a:solidFill>
                  <a:srgbClr val="14524A"/>
                </a:solidFill>
                <a:latin typeface="Cambria" pitchFamily="34" charset="0"/>
                <a:ea typeface="Cambria" pitchFamily="34" charset="-122"/>
                <a:cs typeface="Cambria" pitchFamily="34" charset="-120"/>
              </a:rPr>
              <a:t>Requerimientos funcionales</a:t>
            </a:r>
            <a:endParaRPr lang="en-US" sz="1400" dirty="0"/>
          </a:p>
        </p:txBody>
      </p:sp>
      <p:sp>
        <p:nvSpPr>
          <p:cNvPr id="7" name="Text 5"/>
          <p:cNvSpPr txBox="1"/>
          <p:nvPr/>
        </p:nvSpPr>
        <p:spPr>
          <a:xfrm>
            <a:off x="859536" y="2743200"/>
            <a:ext cx="3064154" cy="786384"/>
          </a:xfrm>
          <a:prstGeom prst="rect">
            <a:avLst/>
          </a:prstGeom>
          <a:noFill/>
          <a:ln/>
        </p:spPr>
        <p:txBody>
          <a:bodyPr wrap="square" lIns="0" tIns="0" rIns="0" bIns="0" rtlCol="0" anchor="t"/>
          <a:lstStyle/>
          <a:p>
            <a:pPr indent="0" marL="0">
              <a:lnSpc>
                <a:spcPts val="1500"/>
              </a:lnSpc>
              <a:buNone/>
            </a:pPr>
            <a:r>
              <a:rPr lang="en-US" sz="1100" dirty="0">
                <a:solidFill>
                  <a:srgbClr val="5D6B66"/>
                </a:solidFill>
                <a:latin typeface="Calibri" pitchFamily="34" charset="0"/>
                <a:ea typeface="Calibri" pitchFamily="34" charset="-122"/>
                <a:cs typeface="Calibri" pitchFamily="34" charset="-120"/>
              </a:rPr>
              <a:t>Cada uno con quién lo pidió, su prioridad y su criterio de aceptación</a:t>
            </a:r>
            <a:endParaRPr lang="en-US" sz="1100" dirty="0"/>
          </a:p>
        </p:txBody>
      </p:sp>
      <p:sp>
        <p:nvSpPr>
          <p:cNvPr id="8" name="Shape 6"/>
          <p:cNvSpPr/>
          <p:nvPr/>
        </p:nvSpPr>
        <p:spPr>
          <a:xfrm>
            <a:off x="4344314" y="1719072"/>
            <a:ext cx="3503066" cy="1920240"/>
          </a:xfrm>
          <a:prstGeom prst="roundRect">
            <a:avLst>
              <a:gd name="adj" fmla="val 2381"/>
            </a:avLst>
          </a:prstGeom>
          <a:solidFill>
            <a:srgbClr val="EEF5F1"/>
          </a:solidFill>
          <a:ln w="12700">
            <a:solidFill>
              <a:srgbClr val="D9E5DF"/>
            </a:solidFill>
            <a:prstDash val="solid"/>
          </a:ln>
        </p:spPr>
      </p:sp>
      <p:sp>
        <p:nvSpPr>
          <p:cNvPr id="9" name="Text 7"/>
          <p:cNvSpPr txBox="1"/>
          <p:nvPr/>
        </p:nvSpPr>
        <p:spPr>
          <a:xfrm>
            <a:off x="4563770" y="1865376"/>
            <a:ext cx="1188720" cy="822960"/>
          </a:xfrm>
          <a:prstGeom prst="rect">
            <a:avLst/>
          </a:prstGeom>
          <a:noFill/>
          <a:ln/>
        </p:spPr>
        <p:txBody>
          <a:bodyPr wrap="square" lIns="0" tIns="0" rIns="0" bIns="0" rtlCol="0" anchor="ctr"/>
          <a:lstStyle/>
          <a:p>
            <a:pPr indent="0" marL="0">
              <a:buNone/>
            </a:pPr>
            <a:r>
              <a:rPr lang="en-US" sz="4200" b="1" dirty="0">
                <a:solidFill>
                  <a:srgbClr val="14524A"/>
                </a:solidFill>
                <a:latin typeface="Cambria" pitchFamily="34" charset="0"/>
                <a:ea typeface="Cambria" pitchFamily="34" charset="-122"/>
                <a:cs typeface="Cambria" pitchFamily="34" charset="-120"/>
              </a:rPr>
              <a:t>12</a:t>
            </a:r>
            <a:endParaRPr lang="en-US" sz="4200" dirty="0"/>
          </a:p>
        </p:txBody>
      </p:sp>
      <p:sp>
        <p:nvSpPr>
          <p:cNvPr id="10" name="Text 8"/>
          <p:cNvSpPr txBox="1"/>
          <p:nvPr/>
        </p:nvSpPr>
        <p:spPr>
          <a:xfrm>
            <a:off x="5715914" y="1865376"/>
            <a:ext cx="1893722" cy="822960"/>
          </a:xfrm>
          <a:prstGeom prst="rect">
            <a:avLst/>
          </a:prstGeom>
          <a:noFill/>
          <a:ln/>
        </p:spPr>
        <p:txBody>
          <a:bodyPr wrap="square" lIns="0" tIns="0" rIns="0" bIns="0" rtlCol="0" anchor="ctr"/>
          <a:lstStyle/>
          <a:p>
            <a:pPr indent="0" marL="0">
              <a:buNone/>
            </a:pPr>
            <a:r>
              <a:rPr lang="en-US" sz="1400" b="1" dirty="0">
                <a:solidFill>
                  <a:srgbClr val="14524A"/>
                </a:solidFill>
                <a:latin typeface="Cambria" pitchFamily="34" charset="0"/>
                <a:ea typeface="Cambria" pitchFamily="34" charset="-122"/>
                <a:cs typeface="Cambria" pitchFamily="34" charset="-120"/>
              </a:rPr>
              <a:t>Requerimientos no funcionales</a:t>
            </a:r>
            <a:endParaRPr lang="en-US" sz="1400" dirty="0"/>
          </a:p>
        </p:txBody>
      </p:sp>
      <p:sp>
        <p:nvSpPr>
          <p:cNvPr id="11" name="Text 9"/>
          <p:cNvSpPr txBox="1"/>
          <p:nvPr/>
        </p:nvSpPr>
        <p:spPr>
          <a:xfrm>
            <a:off x="4563770" y="2743200"/>
            <a:ext cx="3064154" cy="786384"/>
          </a:xfrm>
          <a:prstGeom prst="rect">
            <a:avLst/>
          </a:prstGeom>
          <a:noFill/>
          <a:ln/>
        </p:spPr>
        <p:txBody>
          <a:bodyPr wrap="square" lIns="0" tIns="0" rIns="0" bIns="0" rtlCol="0" anchor="t"/>
          <a:lstStyle/>
          <a:p>
            <a:pPr indent="0" marL="0">
              <a:lnSpc>
                <a:spcPts val="1500"/>
              </a:lnSpc>
              <a:buNone/>
            </a:pPr>
            <a:r>
              <a:rPr lang="en-US" sz="1100" dirty="0">
                <a:solidFill>
                  <a:srgbClr val="5D6B66"/>
                </a:solidFill>
                <a:latin typeface="Calibri" pitchFamily="34" charset="0"/>
                <a:ea typeface="Calibri" pitchFamily="34" charset="-122"/>
                <a:cs typeface="Calibri" pitchFamily="34" charset="-120"/>
              </a:rPr>
              <a:t>Con la forma concreta en que se comprueba cada condición</a:t>
            </a:r>
            <a:endParaRPr lang="en-US" sz="1100" dirty="0"/>
          </a:p>
        </p:txBody>
      </p:sp>
      <p:sp>
        <p:nvSpPr>
          <p:cNvPr id="12" name="Shape 10"/>
          <p:cNvSpPr/>
          <p:nvPr/>
        </p:nvSpPr>
        <p:spPr>
          <a:xfrm>
            <a:off x="8048549" y="1719072"/>
            <a:ext cx="3503066" cy="1920240"/>
          </a:xfrm>
          <a:prstGeom prst="roundRect">
            <a:avLst>
              <a:gd name="adj" fmla="val 2381"/>
            </a:avLst>
          </a:prstGeom>
          <a:solidFill>
            <a:srgbClr val="14524A"/>
          </a:solidFill>
          <a:ln w="12700">
            <a:solidFill>
              <a:srgbClr val="14524A"/>
            </a:solidFill>
            <a:prstDash val="solid"/>
          </a:ln>
        </p:spPr>
      </p:sp>
      <p:sp>
        <p:nvSpPr>
          <p:cNvPr id="13" name="Text 11"/>
          <p:cNvSpPr txBox="1"/>
          <p:nvPr/>
        </p:nvSpPr>
        <p:spPr>
          <a:xfrm>
            <a:off x="8268005" y="1865376"/>
            <a:ext cx="1188720" cy="822960"/>
          </a:xfrm>
          <a:prstGeom prst="rect">
            <a:avLst/>
          </a:prstGeom>
          <a:noFill/>
          <a:ln/>
        </p:spPr>
        <p:txBody>
          <a:bodyPr wrap="square" lIns="0" tIns="0" rIns="0" bIns="0" rtlCol="0" anchor="ctr"/>
          <a:lstStyle/>
          <a:p>
            <a:pPr indent="0" marL="0">
              <a:buNone/>
            </a:pPr>
            <a:r>
              <a:rPr lang="en-US" sz="4200" b="1" dirty="0">
                <a:solidFill>
                  <a:srgbClr val="E8A33D"/>
                </a:solidFill>
                <a:latin typeface="Cambria" pitchFamily="34" charset="0"/>
                <a:ea typeface="Cambria" pitchFamily="34" charset="-122"/>
                <a:cs typeface="Cambria" pitchFamily="34" charset="-120"/>
              </a:rPr>
              <a:t>22</a:t>
            </a:r>
            <a:endParaRPr lang="en-US" sz="4200" dirty="0"/>
          </a:p>
        </p:txBody>
      </p:sp>
      <p:sp>
        <p:nvSpPr>
          <p:cNvPr id="14" name="Text 12"/>
          <p:cNvSpPr txBox="1"/>
          <p:nvPr/>
        </p:nvSpPr>
        <p:spPr>
          <a:xfrm>
            <a:off x="9420149" y="1865376"/>
            <a:ext cx="1893722" cy="8229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Reglas de negocio</a:t>
            </a:r>
            <a:endParaRPr lang="en-US" sz="1400" dirty="0"/>
          </a:p>
        </p:txBody>
      </p:sp>
      <p:sp>
        <p:nvSpPr>
          <p:cNvPr id="15" name="Text 13"/>
          <p:cNvSpPr txBox="1"/>
          <p:nvPr/>
        </p:nvSpPr>
        <p:spPr>
          <a:xfrm>
            <a:off x="8268005" y="2743200"/>
            <a:ext cx="3064154" cy="786384"/>
          </a:xfrm>
          <a:prstGeom prst="rect">
            <a:avLst/>
          </a:prstGeom>
          <a:noFill/>
          <a:ln/>
        </p:spPr>
        <p:txBody>
          <a:bodyPr wrap="square" lIns="0" tIns="0" rIns="0" bIns="0" rtlCol="0" anchor="t"/>
          <a:lstStyle/>
          <a:p>
            <a:pPr indent="0" marL="0">
              <a:lnSpc>
                <a:spcPts val="1500"/>
              </a:lnSpc>
              <a:buNone/>
            </a:pPr>
            <a:r>
              <a:rPr lang="en-US" sz="1100" dirty="0">
                <a:solidFill>
                  <a:srgbClr val="CFE3DC"/>
                </a:solidFill>
                <a:latin typeface="Calibri" pitchFamily="34" charset="0"/>
                <a:ea typeface="Calibri" pitchFamily="34" charset="-122"/>
                <a:cs typeface="Calibri" pitchFamily="34" charset="-120"/>
              </a:rPr>
              <a:t>Políticas de la empresa que el sistema hace cumplir sin excepción</a:t>
            </a:r>
            <a:endParaRPr lang="en-US" sz="1100" dirty="0"/>
          </a:p>
        </p:txBody>
      </p:sp>
      <p:sp>
        <p:nvSpPr>
          <p:cNvPr id="16" name="Text 14"/>
          <p:cNvSpPr txBox="1"/>
          <p:nvPr/>
        </p:nvSpPr>
        <p:spPr>
          <a:xfrm>
            <a:off x="640080" y="3803904"/>
            <a:ext cx="10911535" cy="365760"/>
          </a:xfrm>
          <a:prstGeom prst="rect">
            <a:avLst/>
          </a:prstGeom>
          <a:noFill/>
          <a:ln/>
        </p:spPr>
        <p:txBody>
          <a:bodyPr wrap="square" lIns="0" tIns="0" rIns="0" bIns="0" rtlCol="0" anchor="ctr"/>
          <a:lstStyle/>
          <a:p>
            <a:pPr indent="0" marL="0">
              <a:buNone/>
            </a:pPr>
            <a:r>
              <a:rPr lang="en-US" sz="1600" b="1" dirty="0">
                <a:solidFill>
                  <a:srgbClr val="14524A"/>
                </a:solidFill>
                <a:latin typeface="Cambria" pitchFamily="34" charset="0"/>
                <a:ea typeface="Cambria" pitchFamily="34" charset="-122"/>
                <a:cs typeface="Cambria" pitchFamily="34" charset="-120"/>
              </a:rPr>
              <a:t>Tres entregas priorizadas por valor de negocio</a:t>
            </a:r>
            <a:endParaRPr lang="en-US" sz="1600" dirty="0"/>
          </a:p>
        </p:txBody>
      </p:sp>
      <p:sp>
        <p:nvSpPr>
          <p:cNvPr id="17" name="Shape 15"/>
          <p:cNvSpPr/>
          <p:nvPr/>
        </p:nvSpPr>
        <p:spPr>
          <a:xfrm>
            <a:off x="640080" y="4242816"/>
            <a:ext cx="10911535" cy="493776"/>
          </a:xfrm>
          <a:prstGeom prst="roundRect">
            <a:avLst>
              <a:gd name="adj" fmla="val 9259"/>
            </a:avLst>
          </a:prstGeom>
          <a:solidFill>
            <a:srgbClr val="EEF5F1"/>
          </a:solidFill>
          <a:ln w="12700">
            <a:solidFill>
              <a:srgbClr val="D9E5DF"/>
            </a:solidFill>
            <a:prstDash val="solid"/>
          </a:ln>
        </p:spPr>
      </p:sp>
      <p:sp>
        <p:nvSpPr>
          <p:cNvPr id="18" name="Shape 16"/>
          <p:cNvSpPr/>
          <p:nvPr/>
        </p:nvSpPr>
        <p:spPr>
          <a:xfrm>
            <a:off x="804672" y="4334256"/>
            <a:ext cx="1051560" cy="310896"/>
          </a:xfrm>
          <a:prstGeom prst="roundRect">
            <a:avLst>
              <a:gd name="adj" fmla="val 147059"/>
            </a:avLst>
          </a:prstGeom>
          <a:solidFill>
            <a:srgbClr val="14524A"/>
          </a:solidFill>
          <a:ln w="12700">
            <a:solidFill>
              <a:srgbClr val="14524A"/>
            </a:solidFill>
            <a:prstDash val="solid"/>
          </a:ln>
        </p:spPr>
      </p:sp>
      <p:sp>
        <p:nvSpPr>
          <p:cNvPr id="19" name="Text 17"/>
          <p:cNvSpPr txBox="1"/>
          <p:nvPr/>
        </p:nvSpPr>
        <p:spPr>
          <a:xfrm>
            <a:off x="804672" y="4334256"/>
            <a:ext cx="105156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Primera</a:t>
            </a:r>
            <a:endParaRPr lang="en-US" sz="1050" dirty="0"/>
          </a:p>
        </p:txBody>
      </p:sp>
      <p:sp>
        <p:nvSpPr>
          <p:cNvPr id="20" name="Text 18"/>
          <p:cNvSpPr txBox="1"/>
          <p:nvPr/>
        </p:nvSpPr>
        <p:spPr>
          <a:xfrm>
            <a:off x="1993392" y="4242816"/>
            <a:ext cx="4114800" cy="493776"/>
          </a:xfrm>
          <a:prstGeom prst="rect">
            <a:avLst/>
          </a:prstGeom>
          <a:noFill/>
          <a:ln/>
        </p:spPr>
        <p:txBody>
          <a:bodyPr wrap="square" lIns="0" tIns="0" rIns="0" bIns="0" rtlCol="0" anchor="ctr"/>
          <a:lstStyle/>
          <a:p>
            <a:pPr indent="0" marL="0">
              <a:buNone/>
            </a:pPr>
            <a:r>
              <a:rPr lang="en-US" sz="1150" b="1" dirty="0">
                <a:solidFill>
                  <a:srgbClr val="1C2321"/>
                </a:solidFill>
                <a:latin typeface="Calibri" pitchFamily="34" charset="0"/>
                <a:ea typeface="Calibri" pitchFamily="34" charset="-122"/>
                <a:cs typeface="Calibri" pitchFamily="34" charset="-120"/>
              </a:rPr>
              <a:t>Tienda en línea e inventario bajo control</a:t>
            </a:r>
            <a:endParaRPr lang="en-US" sz="1150" dirty="0"/>
          </a:p>
        </p:txBody>
      </p:sp>
      <p:sp>
        <p:nvSpPr>
          <p:cNvPr id="21" name="Text 19"/>
          <p:cNvSpPr txBox="1"/>
          <p:nvPr/>
        </p:nvSpPr>
        <p:spPr>
          <a:xfrm>
            <a:off x="6217920" y="4242816"/>
            <a:ext cx="4846320" cy="493776"/>
          </a:xfrm>
          <a:prstGeom prst="rect">
            <a:avLst/>
          </a:prstGeom>
          <a:noFill/>
          <a:ln/>
        </p:spPr>
        <p:txBody>
          <a:bodyPr wrap="square" lIns="0" tIns="0" rIns="0" bIns="0" rtlCol="0" anchor="ctr"/>
          <a:lstStyle/>
          <a:p>
            <a:pPr indent="0" marL="0">
              <a:buNone/>
            </a:pPr>
            <a:r>
              <a:rPr lang="en-US" sz="1100" dirty="0">
                <a:solidFill>
                  <a:srgbClr val="5D6B66"/>
                </a:solidFill>
                <a:latin typeface="Calibri" pitchFamily="34" charset="0"/>
                <a:ea typeface="Calibri" pitchFamily="34" charset="-122"/>
                <a:cs typeface="Calibri" pitchFamily="34" charset="-120"/>
              </a:rPr>
              <a:t>Es el ingreso nuevo más inmediato y corta el quiebre de stock</a:t>
            </a:r>
            <a:endParaRPr lang="en-US" sz="1100" dirty="0"/>
          </a:p>
        </p:txBody>
      </p:sp>
      <p:sp>
        <p:nvSpPr>
          <p:cNvPr id="22" name="Shape 20"/>
          <p:cNvSpPr/>
          <p:nvPr/>
        </p:nvSpPr>
        <p:spPr>
          <a:xfrm>
            <a:off x="640080" y="4809744"/>
            <a:ext cx="10911535" cy="493776"/>
          </a:xfrm>
          <a:prstGeom prst="roundRect">
            <a:avLst>
              <a:gd name="adj" fmla="val 9259"/>
            </a:avLst>
          </a:prstGeom>
          <a:solidFill>
            <a:srgbClr val="EEF5F1"/>
          </a:solidFill>
          <a:ln w="12700">
            <a:solidFill>
              <a:srgbClr val="D9E5DF"/>
            </a:solidFill>
            <a:prstDash val="solid"/>
          </a:ln>
        </p:spPr>
      </p:sp>
      <p:sp>
        <p:nvSpPr>
          <p:cNvPr id="23" name="Shape 21"/>
          <p:cNvSpPr/>
          <p:nvPr/>
        </p:nvSpPr>
        <p:spPr>
          <a:xfrm>
            <a:off x="804672" y="4901184"/>
            <a:ext cx="1051560" cy="310896"/>
          </a:xfrm>
          <a:prstGeom prst="roundRect">
            <a:avLst>
              <a:gd name="adj" fmla="val 147059"/>
            </a:avLst>
          </a:prstGeom>
          <a:solidFill>
            <a:srgbClr val="14524A"/>
          </a:solidFill>
          <a:ln w="12700">
            <a:solidFill>
              <a:srgbClr val="14524A"/>
            </a:solidFill>
            <a:prstDash val="solid"/>
          </a:ln>
        </p:spPr>
      </p:sp>
      <p:sp>
        <p:nvSpPr>
          <p:cNvPr id="24" name="Text 22"/>
          <p:cNvSpPr txBox="1"/>
          <p:nvPr/>
        </p:nvSpPr>
        <p:spPr>
          <a:xfrm>
            <a:off x="804672" y="4901184"/>
            <a:ext cx="105156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Segunda</a:t>
            </a:r>
            <a:endParaRPr lang="en-US" sz="1050" dirty="0"/>
          </a:p>
        </p:txBody>
      </p:sp>
      <p:sp>
        <p:nvSpPr>
          <p:cNvPr id="25" name="Text 23"/>
          <p:cNvSpPr txBox="1"/>
          <p:nvPr/>
        </p:nvSpPr>
        <p:spPr>
          <a:xfrm>
            <a:off x="1993392" y="4809744"/>
            <a:ext cx="4114800" cy="493776"/>
          </a:xfrm>
          <a:prstGeom prst="rect">
            <a:avLst/>
          </a:prstGeom>
          <a:noFill/>
          <a:ln/>
        </p:spPr>
        <p:txBody>
          <a:bodyPr wrap="square" lIns="0" tIns="0" rIns="0" bIns="0" rtlCol="0" anchor="ctr"/>
          <a:lstStyle/>
          <a:p>
            <a:pPr indent="0" marL="0">
              <a:buNone/>
            </a:pPr>
            <a:r>
              <a:rPr lang="en-US" sz="1150" b="1" dirty="0">
                <a:solidFill>
                  <a:srgbClr val="1C2321"/>
                </a:solidFill>
                <a:latin typeface="Calibri" pitchFamily="34" charset="0"/>
                <a:ea typeface="Calibri" pitchFamily="34" charset="-122"/>
                <a:cs typeface="Calibri" pitchFamily="34" charset="-120"/>
              </a:rPr>
              <a:t>Agenda y historia clínica con alertas</a:t>
            </a:r>
            <a:endParaRPr lang="en-US" sz="1150" dirty="0"/>
          </a:p>
        </p:txBody>
      </p:sp>
      <p:sp>
        <p:nvSpPr>
          <p:cNvPr id="26" name="Text 24"/>
          <p:cNvSpPr txBox="1"/>
          <p:nvPr/>
        </p:nvSpPr>
        <p:spPr>
          <a:xfrm>
            <a:off x="6217920" y="4809744"/>
            <a:ext cx="4846320" cy="493776"/>
          </a:xfrm>
          <a:prstGeom prst="rect">
            <a:avLst/>
          </a:prstGeom>
          <a:noFill/>
          <a:ln/>
        </p:spPr>
        <p:txBody>
          <a:bodyPr wrap="square" lIns="0" tIns="0" rIns="0" bIns="0" rtlCol="0" anchor="ctr"/>
          <a:lstStyle/>
          <a:p>
            <a:pPr indent="0" marL="0">
              <a:buNone/>
            </a:pPr>
            <a:r>
              <a:rPr lang="en-US" sz="1100" dirty="0">
                <a:solidFill>
                  <a:srgbClr val="5D6B66"/>
                </a:solidFill>
                <a:latin typeface="Calibri" pitchFamily="34" charset="0"/>
                <a:ea typeface="Calibri" pitchFamily="34" charset="-122"/>
                <a:cs typeface="Calibri" pitchFamily="34" charset="-120"/>
              </a:rPr>
              <a:t>Elimina el cruce de citas y habilita medir la inasistencia</a:t>
            </a:r>
            <a:endParaRPr lang="en-US" sz="1100" dirty="0"/>
          </a:p>
        </p:txBody>
      </p:sp>
      <p:sp>
        <p:nvSpPr>
          <p:cNvPr id="27" name="Shape 25"/>
          <p:cNvSpPr/>
          <p:nvPr/>
        </p:nvSpPr>
        <p:spPr>
          <a:xfrm>
            <a:off x="640080" y="5376672"/>
            <a:ext cx="10911535" cy="493776"/>
          </a:xfrm>
          <a:prstGeom prst="roundRect">
            <a:avLst>
              <a:gd name="adj" fmla="val 9259"/>
            </a:avLst>
          </a:prstGeom>
          <a:solidFill>
            <a:srgbClr val="EEF5F1"/>
          </a:solidFill>
          <a:ln w="12700">
            <a:solidFill>
              <a:srgbClr val="D9E5DF"/>
            </a:solidFill>
            <a:prstDash val="solid"/>
          </a:ln>
        </p:spPr>
      </p:sp>
      <p:sp>
        <p:nvSpPr>
          <p:cNvPr id="28" name="Shape 26"/>
          <p:cNvSpPr/>
          <p:nvPr/>
        </p:nvSpPr>
        <p:spPr>
          <a:xfrm>
            <a:off x="804672" y="5468112"/>
            <a:ext cx="1051560" cy="310896"/>
          </a:xfrm>
          <a:prstGeom prst="roundRect">
            <a:avLst>
              <a:gd name="adj" fmla="val 147059"/>
            </a:avLst>
          </a:prstGeom>
          <a:solidFill>
            <a:srgbClr val="14524A"/>
          </a:solidFill>
          <a:ln w="12700">
            <a:solidFill>
              <a:srgbClr val="14524A"/>
            </a:solidFill>
            <a:prstDash val="solid"/>
          </a:ln>
        </p:spPr>
      </p:sp>
      <p:sp>
        <p:nvSpPr>
          <p:cNvPr id="29" name="Text 27"/>
          <p:cNvSpPr txBox="1"/>
          <p:nvPr/>
        </p:nvSpPr>
        <p:spPr>
          <a:xfrm>
            <a:off x="804672" y="5468112"/>
            <a:ext cx="105156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Tercera</a:t>
            </a:r>
            <a:endParaRPr lang="en-US" sz="1050" dirty="0"/>
          </a:p>
        </p:txBody>
      </p:sp>
      <p:sp>
        <p:nvSpPr>
          <p:cNvPr id="30" name="Text 28"/>
          <p:cNvSpPr txBox="1"/>
          <p:nvPr/>
        </p:nvSpPr>
        <p:spPr>
          <a:xfrm>
            <a:off x="1993392" y="5376672"/>
            <a:ext cx="4114800" cy="493776"/>
          </a:xfrm>
          <a:prstGeom prst="rect">
            <a:avLst/>
          </a:prstGeom>
          <a:noFill/>
          <a:ln/>
        </p:spPr>
        <p:txBody>
          <a:bodyPr wrap="square" lIns="0" tIns="0" rIns="0" bIns="0" rtlCol="0" anchor="ctr"/>
          <a:lstStyle/>
          <a:p>
            <a:pPr indent="0" marL="0">
              <a:buNone/>
            </a:pPr>
            <a:r>
              <a:rPr lang="en-US" sz="1150" b="1" dirty="0">
                <a:solidFill>
                  <a:srgbClr val="1C2321"/>
                </a:solidFill>
                <a:latin typeface="Calibri" pitchFamily="34" charset="0"/>
                <a:ea typeface="Calibri" pitchFamily="34" charset="-122"/>
                <a:cs typeface="Calibri" pitchFamily="34" charset="-120"/>
              </a:rPr>
              <a:t>Cobro en línea e ingreso recurrente</a:t>
            </a:r>
            <a:endParaRPr lang="en-US" sz="1150" dirty="0"/>
          </a:p>
        </p:txBody>
      </p:sp>
      <p:sp>
        <p:nvSpPr>
          <p:cNvPr id="31" name="Text 29"/>
          <p:cNvSpPr txBox="1"/>
          <p:nvPr/>
        </p:nvSpPr>
        <p:spPr>
          <a:xfrm>
            <a:off x="6217920" y="5376672"/>
            <a:ext cx="4846320" cy="493776"/>
          </a:xfrm>
          <a:prstGeom prst="rect">
            <a:avLst/>
          </a:prstGeom>
          <a:noFill/>
          <a:ln/>
        </p:spPr>
        <p:txBody>
          <a:bodyPr wrap="square" lIns="0" tIns="0" rIns="0" bIns="0" rtlCol="0" anchor="ctr"/>
          <a:lstStyle/>
          <a:p>
            <a:pPr indent="0" marL="0">
              <a:buNone/>
            </a:pPr>
            <a:r>
              <a:rPr lang="en-US" sz="1100" dirty="0">
                <a:solidFill>
                  <a:srgbClr val="5D6B66"/>
                </a:solidFill>
                <a:latin typeface="Calibri" pitchFamily="34" charset="0"/>
                <a:ea typeface="Calibri" pitchFamily="34" charset="-122"/>
                <a:cs typeface="Calibri" pitchFamily="34" charset="-120"/>
              </a:rPr>
              <a:t>Convierte la venta ocasional en caja previsible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384048"/>
            <a:ext cx="10911535" cy="658368"/>
          </a:xfrm>
          <a:prstGeom prst="rect">
            <a:avLst/>
          </a:prstGeom>
          <a:noFill/>
          <a:ln/>
        </p:spPr>
        <p:txBody>
          <a:bodyPr wrap="square" lIns="0" tIns="0" rIns="0" bIns="0" rtlCol="0" anchor="ctr"/>
          <a:lstStyle/>
          <a:p>
            <a:pPr indent="0" marL="0">
              <a:buNone/>
            </a:pPr>
            <a:r>
              <a:rPr lang="en-US" sz="3200" b="1" dirty="0">
                <a:solidFill>
                  <a:srgbClr val="14524A"/>
                </a:solidFill>
                <a:latin typeface="Cambria" pitchFamily="34" charset="0"/>
                <a:ea typeface="Cambria" pitchFamily="34" charset="-122"/>
                <a:cs typeface="Cambria" pitchFamily="34" charset="-120"/>
              </a:rPr>
              <a:t>Cómo se hacen cumplir las reglas</a:t>
            </a:r>
            <a:endParaRPr lang="en-US" sz="3200" dirty="0"/>
          </a:p>
        </p:txBody>
      </p:sp>
      <p:sp>
        <p:nvSpPr>
          <p:cNvPr id="3" name="Text 1"/>
          <p:cNvSpPr txBox="1"/>
          <p:nvPr/>
        </p:nvSpPr>
        <p:spPr>
          <a:xfrm>
            <a:off x="640080" y="1042416"/>
            <a:ext cx="10911535" cy="384048"/>
          </a:xfrm>
          <a:prstGeom prst="rect">
            <a:avLst/>
          </a:prstGeom>
          <a:noFill/>
          <a:ln/>
        </p:spPr>
        <p:txBody>
          <a:bodyPr wrap="square" lIns="0" tIns="0" rIns="0" bIns="0" rtlCol="0" anchor="ctr"/>
          <a:lstStyle/>
          <a:p>
            <a:pPr indent="0" marL="0">
              <a:buNone/>
            </a:pPr>
            <a:r>
              <a:rPr lang="en-US" sz="1400" dirty="0">
                <a:solidFill>
                  <a:srgbClr val="5D6B66"/>
                </a:solidFill>
                <a:latin typeface="Calibri" pitchFamily="34" charset="0"/>
                <a:ea typeface="Calibri" pitchFamily="34" charset="-122"/>
                <a:cs typeface="Calibri" pitchFamily="34" charset="-120"/>
              </a:rPr>
              <a:t>La decisión técnica que sostiene todo el modelo de negocio</a:t>
            </a:r>
            <a:endParaRPr lang="en-US" sz="1400" dirty="0"/>
          </a:p>
        </p:txBody>
      </p:sp>
      <p:sp>
        <p:nvSpPr>
          <p:cNvPr id="4" name="Shape 2"/>
          <p:cNvSpPr/>
          <p:nvPr/>
        </p:nvSpPr>
        <p:spPr>
          <a:xfrm>
            <a:off x="640080" y="1682496"/>
            <a:ext cx="2590724" cy="1060704"/>
          </a:xfrm>
          <a:prstGeom prst="roundRect">
            <a:avLst>
              <a:gd name="adj" fmla="val 4310"/>
            </a:avLst>
          </a:prstGeom>
          <a:solidFill>
            <a:srgbClr val="EEF5F1"/>
          </a:solidFill>
          <a:ln w="12700">
            <a:solidFill>
              <a:srgbClr val="D9E5DF"/>
            </a:solidFill>
            <a:prstDash val="solid"/>
          </a:ln>
        </p:spPr>
      </p:sp>
      <p:sp>
        <p:nvSpPr>
          <p:cNvPr id="5" name="Text 3"/>
          <p:cNvSpPr txBox="1"/>
          <p:nvPr/>
        </p:nvSpPr>
        <p:spPr>
          <a:xfrm>
            <a:off x="640080" y="1773936"/>
            <a:ext cx="2590724" cy="512064"/>
          </a:xfrm>
          <a:prstGeom prst="rect">
            <a:avLst/>
          </a:prstGeom>
          <a:noFill/>
          <a:ln/>
        </p:spPr>
        <p:txBody>
          <a:bodyPr wrap="square" lIns="0" tIns="0" rIns="0" bIns="0" rtlCol="0" anchor="ctr"/>
          <a:lstStyle/>
          <a:p>
            <a:pPr algn="ctr" indent="0" marL="0">
              <a:buNone/>
            </a:pPr>
            <a:r>
              <a:rPr lang="en-US" sz="3000" b="1" dirty="0">
                <a:solidFill>
                  <a:srgbClr val="14524A"/>
                </a:solidFill>
                <a:latin typeface="Cambria" pitchFamily="34" charset="0"/>
                <a:ea typeface="Cambria" pitchFamily="34" charset="-122"/>
                <a:cs typeface="Cambria" pitchFamily="34" charset="-120"/>
              </a:rPr>
              <a:t>9</a:t>
            </a:r>
            <a:endParaRPr lang="en-US" sz="3000" dirty="0"/>
          </a:p>
        </p:txBody>
      </p:sp>
      <p:sp>
        <p:nvSpPr>
          <p:cNvPr id="6" name="Text 4"/>
          <p:cNvSpPr txBox="1"/>
          <p:nvPr/>
        </p:nvSpPr>
        <p:spPr>
          <a:xfrm>
            <a:off x="640080" y="2286000"/>
            <a:ext cx="2590724" cy="347472"/>
          </a:xfrm>
          <a:prstGeom prst="rect">
            <a:avLst/>
          </a:prstGeom>
          <a:noFill/>
          <a:ln/>
        </p:spPr>
        <p:txBody>
          <a:bodyPr wrap="square" lIns="0" tIns="0" rIns="0" bIns="0" rtlCol="0" anchor="ctr"/>
          <a:lstStyle/>
          <a:p>
            <a:pPr algn="ctr" indent="0" marL="0">
              <a:buNone/>
            </a:pPr>
            <a:r>
              <a:rPr lang="en-US" sz="1150" dirty="0">
                <a:solidFill>
                  <a:srgbClr val="5D6B66"/>
                </a:solidFill>
                <a:latin typeface="Calibri" pitchFamily="34" charset="0"/>
                <a:ea typeface="Calibri" pitchFamily="34" charset="-122"/>
                <a:cs typeface="Calibri" pitchFamily="34" charset="-120"/>
              </a:rPr>
              <a:t>tablas</a:t>
            </a:r>
            <a:endParaRPr lang="en-US" sz="1150" dirty="0"/>
          </a:p>
        </p:txBody>
      </p:sp>
      <p:sp>
        <p:nvSpPr>
          <p:cNvPr id="7" name="Shape 5"/>
          <p:cNvSpPr/>
          <p:nvPr/>
        </p:nvSpPr>
        <p:spPr>
          <a:xfrm>
            <a:off x="3413684" y="1682496"/>
            <a:ext cx="2590724" cy="1060704"/>
          </a:xfrm>
          <a:prstGeom prst="roundRect">
            <a:avLst>
              <a:gd name="adj" fmla="val 4310"/>
            </a:avLst>
          </a:prstGeom>
          <a:solidFill>
            <a:srgbClr val="EEF5F1"/>
          </a:solidFill>
          <a:ln w="12700">
            <a:solidFill>
              <a:srgbClr val="D9E5DF"/>
            </a:solidFill>
            <a:prstDash val="solid"/>
          </a:ln>
        </p:spPr>
      </p:sp>
      <p:sp>
        <p:nvSpPr>
          <p:cNvPr id="8" name="Text 6"/>
          <p:cNvSpPr txBox="1"/>
          <p:nvPr/>
        </p:nvSpPr>
        <p:spPr>
          <a:xfrm>
            <a:off x="3413684" y="1773936"/>
            <a:ext cx="2590724" cy="512064"/>
          </a:xfrm>
          <a:prstGeom prst="rect">
            <a:avLst/>
          </a:prstGeom>
          <a:noFill/>
          <a:ln/>
        </p:spPr>
        <p:txBody>
          <a:bodyPr wrap="square" lIns="0" tIns="0" rIns="0" bIns="0" rtlCol="0" anchor="ctr"/>
          <a:lstStyle/>
          <a:p>
            <a:pPr algn="ctr" indent="0" marL="0">
              <a:buNone/>
            </a:pPr>
            <a:r>
              <a:rPr lang="en-US" sz="3000" b="1" dirty="0">
                <a:solidFill>
                  <a:srgbClr val="14524A"/>
                </a:solidFill>
                <a:latin typeface="Cambria" pitchFamily="34" charset="0"/>
                <a:ea typeface="Cambria" pitchFamily="34" charset="-122"/>
                <a:cs typeface="Cambria" pitchFamily="34" charset="-120"/>
              </a:rPr>
              <a:t>14</a:t>
            </a:r>
            <a:endParaRPr lang="en-US" sz="3000" dirty="0"/>
          </a:p>
        </p:txBody>
      </p:sp>
      <p:sp>
        <p:nvSpPr>
          <p:cNvPr id="9" name="Text 7"/>
          <p:cNvSpPr txBox="1"/>
          <p:nvPr/>
        </p:nvSpPr>
        <p:spPr>
          <a:xfrm>
            <a:off x="3413684" y="2286000"/>
            <a:ext cx="2590724" cy="347472"/>
          </a:xfrm>
          <a:prstGeom prst="rect">
            <a:avLst/>
          </a:prstGeom>
          <a:noFill/>
          <a:ln/>
        </p:spPr>
        <p:txBody>
          <a:bodyPr wrap="square" lIns="0" tIns="0" rIns="0" bIns="0" rtlCol="0" anchor="ctr"/>
          <a:lstStyle/>
          <a:p>
            <a:pPr algn="ctr" indent="0" marL="0">
              <a:buNone/>
            </a:pPr>
            <a:r>
              <a:rPr lang="en-US" sz="1150" dirty="0">
                <a:solidFill>
                  <a:srgbClr val="5D6B66"/>
                </a:solidFill>
                <a:latin typeface="Calibri" pitchFamily="34" charset="0"/>
                <a:ea typeface="Calibri" pitchFamily="34" charset="-122"/>
                <a:cs typeface="Calibri" pitchFamily="34" charset="-120"/>
              </a:rPr>
              <a:t>servicios de dominio</a:t>
            </a:r>
            <a:endParaRPr lang="en-US" sz="1150" dirty="0"/>
          </a:p>
        </p:txBody>
      </p:sp>
      <p:sp>
        <p:nvSpPr>
          <p:cNvPr id="10" name="Shape 8"/>
          <p:cNvSpPr/>
          <p:nvPr/>
        </p:nvSpPr>
        <p:spPr>
          <a:xfrm>
            <a:off x="6187288" y="1682496"/>
            <a:ext cx="2590724" cy="1060704"/>
          </a:xfrm>
          <a:prstGeom prst="roundRect">
            <a:avLst>
              <a:gd name="adj" fmla="val 4310"/>
            </a:avLst>
          </a:prstGeom>
          <a:solidFill>
            <a:srgbClr val="EEF5F1"/>
          </a:solidFill>
          <a:ln w="12700">
            <a:solidFill>
              <a:srgbClr val="D9E5DF"/>
            </a:solidFill>
            <a:prstDash val="solid"/>
          </a:ln>
        </p:spPr>
      </p:sp>
      <p:sp>
        <p:nvSpPr>
          <p:cNvPr id="11" name="Text 9"/>
          <p:cNvSpPr txBox="1"/>
          <p:nvPr/>
        </p:nvSpPr>
        <p:spPr>
          <a:xfrm>
            <a:off x="6187288" y="1773936"/>
            <a:ext cx="2590724" cy="512064"/>
          </a:xfrm>
          <a:prstGeom prst="rect">
            <a:avLst/>
          </a:prstGeom>
          <a:noFill/>
          <a:ln/>
        </p:spPr>
        <p:txBody>
          <a:bodyPr wrap="square" lIns="0" tIns="0" rIns="0" bIns="0" rtlCol="0" anchor="ctr"/>
          <a:lstStyle/>
          <a:p>
            <a:pPr algn="ctr" indent="0" marL="0">
              <a:buNone/>
            </a:pPr>
            <a:r>
              <a:rPr lang="en-US" sz="3000" b="1" dirty="0">
                <a:solidFill>
                  <a:srgbClr val="14524A"/>
                </a:solidFill>
                <a:latin typeface="Cambria" pitchFamily="34" charset="0"/>
                <a:ea typeface="Cambria" pitchFamily="34" charset="-122"/>
                <a:cs typeface="Cambria" pitchFamily="34" charset="-120"/>
              </a:rPr>
              <a:t>32</a:t>
            </a:r>
            <a:endParaRPr lang="en-US" sz="3000" dirty="0"/>
          </a:p>
        </p:txBody>
      </p:sp>
      <p:sp>
        <p:nvSpPr>
          <p:cNvPr id="12" name="Text 10"/>
          <p:cNvSpPr txBox="1"/>
          <p:nvPr/>
        </p:nvSpPr>
        <p:spPr>
          <a:xfrm>
            <a:off x="6187288" y="2286000"/>
            <a:ext cx="2590724" cy="347472"/>
          </a:xfrm>
          <a:prstGeom prst="rect">
            <a:avLst/>
          </a:prstGeom>
          <a:noFill/>
          <a:ln/>
        </p:spPr>
        <p:txBody>
          <a:bodyPr wrap="square" lIns="0" tIns="0" rIns="0" bIns="0" rtlCol="0" anchor="ctr"/>
          <a:lstStyle/>
          <a:p>
            <a:pPr algn="ctr" indent="0" marL="0">
              <a:buNone/>
            </a:pPr>
            <a:r>
              <a:rPr lang="en-US" sz="1150" dirty="0">
                <a:solidFill>
                  <a:srgbClr val="5D6B66"/>
                </a:solidFill>
                <a:latin typeface="Calibri" pitchFamily="34" charset="0"/>
                <a:ea typeface="Calibri" pitchFamily="34" charset="-122"/>
                <a:cs typeface="Calibri" pitchFamily="34" charset="-120"/>
              </a:rPr>
              <a:t>rutas propias</a:t>
            </a:r>
            <a:endParaRPr lang="en-US" sz="1150" dirty="0"/>
          </a:p>
        </p:txBody>
      </p:sp>
      <p:sp>
        <p:nvSpPr>
          <p:cNvPr id="13" name="Shape 11"/>
          <p:cNvSpPr/>
          <p:nvPr/>
        </p:nvSpPr>
        <p:spPr>
          <a:xfrm>
            <a:off x="8960891" y="1682496"/>
            <a:ext cx="2590724" cy="1060704"/>
          </a:xfrm>
          <a:prstGeom prst="roundRect">
            <a:avLst>
              <a:gd name="adj" fmla="val 4310"/>
            </a:avLst>
          </a:prstGeom>
          <a:solidFill>
            <a:srgbClr val="EEF5F1"/>
          </a:solidFill>
          <a:ln w="12700">
            <a:solidFill>
              <a:srgbClr val="D9E5DF"/>
            </a:solidFill>
            <a:prstDash val="solid"/>
          </a:ln>
        </p:spPr>
      </p:sp>
      <p:sp>
        <p:nvSpPr>
          <p:cNvPr id="14" name="Text 12"/>
          <p:cNvSpPr txBox="1"/>
          <p:nvPr/>
        </p:nvSpPr>
        <p:spPr>
          <a:xfrm>
            <a:off x="8960891" y="1773936"/>
            <a:ext cx="2590724" cy="512064"/>
          </a:xfrm>
          <a:prstGeom prst="rect">
            <a:avLst/>
          </a:prstGeom>
          <a:noFill/>
          <a:ln/>
        </p:spPr>
        <p:txBody>
          <a:bodyPr wrap="square" lIns="0" tIns="0" rIns="0" bIns="0" rtlCol="0" anchor="ctr"/>
          <a:lstStyle/>
          <a:p>
            <a:pPr algn="ctr" indent="0" marL="0">
              <a:buNone/>
            </a:pPr>
            <a:r>
              <a:rPr lang="en-US" sz="3000" b="1" dirty="0">
                <a:solidFill>
                  <a:srgbClr val="14524A"/>
                </a:solidFill>
                <a:latin typeface="Cambria" pitchFamily="34" charset="0"/>
                <a:ea typeface="Cambria" pitchFamily="34" charset="-122"/>
                <a:cs typeface="Cambria" pitchFamily="34" charset="-120"/>
              </a:rPr>
              <a:t>3</a:t>
            </a:r>
            <a:endParaRPr lang="en-US" sz="3000" dirty="0"/>
          </a:p>
        </p:txBody>
      </p:sp>
      <p:sp>
        <p:nvSpPr>
          <p:cNvPr id="15" name="Text 13"/>
          <p:cNvSpPr txBox="1"/>
          <p:nvPr/>
        </p:nvSpPr>
        <p:spPr>
          <a:xfrm>
            <a:off x="8960891" y="2286000"/>
            <a:ext cx="2590724" cy="347472"/>
          </a:xfrm>
          <a:prstGeom prst="rect">
            <a:avLst/>
          </a:prstGeom>
          <a:noFill/>
          <a:ln/>
        </p:spPr>
        <p:txBody>
          <a:bodyPr wrap="square" lIns="0" tIns="0" rIns="0" bIns="0" rtlCol="0" anchor="ctr"/>
          <a:lstStyle/>
          <a:p>
            <a:pPr algn="ctr" indent="0" marL="0">
              <a:buNone/>
            </a:pPr>
            <a:r>
              <a:rPr lang="en-US" sz="1150" dirty="0">
                <a:solidFill>
                  <a:srgbClr val="5D6B66"/>
                </a:solidFill>
                <a:latin typeface="Calibri" pitchFamily="34" charset="0"/>
                <a:ea typeface="Calibri" pitchFamily="34" charset="-122"/>
                <a:cs typeface="Calibri" pitchFamily="34" charset="-120"/>
              </a:rPr>
              <a:t>perfiles de acceso</a:t>
            </a:r>
            <a:endParaRPr lang="en-US" sz="1150" dirty="0"/>
          </a:p>
        </p:txBody>
      </p:sp>
      <p:sp>
        <p:nvSpPr>
          <p:cNvPr id="16" name="Text 14"/>
          <p:cNvSpPr txBox="1"/>
          <p:nvPr/>
        </p:nvSpPr>
        <p:spPr>
          <a:xfrm>
            <a:off x="640080" y="2889504"/>
            <a:ext cx="10911535" cy="365760"/>
          </a:xfrm>
          <a:prstGeom prst="rect">
            <a:avLst/>
          </a:prstGeom>
          <a:noFill/>
          <a:ln/>
        </p:spPr>
        <p:txBody>
          <a:bodyPr wrap="square" lIns="0" tIns="0" rIns="0" bIns="0" rtlCol="0" anchor="ctr"/>
          <a:lstStyle/>
          <a:p>
            <a:pPr indent="0" marL="0">
              <a:buNone/>
            </a:pPr>
            <a:r>
              <a:rPr lang="en-US" sz="1700" b="1" dirty="0">
                <a:solidFill>
                  <a:srgbClr val="14524A"/>
                </a:solidFill>
                <a:latin typeface="Cambria" pitchFamily="34" charset="0"/>
                <a:ea typeface="Cambria" pitchFamily="34" charset="-122"/>
                <a:cs typeface="Cambria" pitchFamily="34" charset="-120"/>
              </a:rPr>
              <a:t>Cada regla se hace cumplir dos veces</a:t>
            </a:r>
            <a:endParaRPr lang="en-US" sz="1700" dirty="0"/>
          </a:p>
        </p:txBody>
      </p:sp>
      <p:sp>
        <p:nvSpPr>
          <p:cNvPr id="17" name="Shape 15"/>
          <p:cNvSpPr/>
          <p:nvPr/>
        </p:nvSpPr>
        <p:spPr>
          <a:xfrm>
            <a:off x="640080" y="3346704"/>
            <a:ext cx="5336896" cy="1481328"/>
          </a:xfrm>
          <a:prstGeom prst="roundRect">
            <a:avLst>
              <a:gd name="adj" fmla="val 3086"/>
            </a:avLst>
          </a:prstGeom>
          <a:solidFill>
            <a:srgbClr val="EEF5F1"/>
          </a:solidFill>
          <a:ln w="12700">
            <a:solidFill>
              <a:srgbClr val="D9E5DF"/>
            </a:solidFill>
            <a:prstDash val="solid"/>
          </a:ln>
        </p:spPr>
      </p:sp>
      <p:sp>
        <p:nvSpPr>
          <p:cNvPr id="18" name="Text 16"/>
          <p:cNvSpPr txBox="1"/>
          <p:nvPr/>
        </p:nvSpPr>
        <p:spPr>
          <a:xfrm>
            <a:off x="896112" y="3547872"/>
            <a:ext cx="4824832" cy="274320"/>
          </a:xfrm>
          <a:prstGeom prst="rect">
            <a:avLst/>
          </a:prstGeom>
          <a:noFill/>
          <a:ln/>
        </p:spPr>
        <p:txBody>
          <a:bodyPr wrap="square" lIns="0" tIns="0" rIns="0" bIns="0" rtlCol="0" anchor="ctr"/>
          <a:lstStyle/>
          <a:p>
            <a:pPr indent="0" marL="0">
              <a:buNone/>
            </a:pPr>
            <a:r>
              <a:rPr lang="en-US" sz="1050" b="1" dirty="0">
                <a:solidFill>
                  <a:srgbClr val="E8A33D"/>
                </a:solidFill>
                <a:latin typeface="Calibri" pitchFamily="34" charset="0"/>
                <a:ea typeface="Calibri" pitchFamily="34" charset="-122"/>
                <a:cs typeface="Calibri" pitchFamily="34" charset="-120"/>
              </a:rPr>
              <a:t>CAPA 1  ·  LA APLICACIÓN</a:t>
            </a:r>
            <a:endParaRPr lang="en-US" sz="1050" dirty="0"/>
          </a:p>
        </p:txBody>
      </p:sp>
      <p:sp>
        <p:nvSpPr>
          <p:cNvPr id="19" name="Text 17"/>
          <p:cNvSpPr txBox="1"/>
          <p:nvPr/>
        </p:nvSpPr>
        <p:spPr>
          <a:xfrm>
            <a:off x="896112" y="3840480"/>
            <a:ext cx="4824832" cy="365760"/>
          </a:xfrm>
          <a:prstGeom prst="rect">
            <a:avLst/>
          </a:prstGeom>
          <a:noFill/>
          <a:ln/>
        </p:spPr>
        <p:txBody>
          <a:bodyPr wrap="square" lIns="0" tIns="0" rIns="0" bIns="0" rtlCol="0" anchor="ctr"/>
          <a:lstStyle/>
          <a:p>
            <a:pPr indent="0" marL="0">
              <a:buNone/>
            </a:pPr>
            <a:r>
              <a:rPr lang="en-US" sz="1600" b="1" dirty="0">
                <a:solidFill>
                  <a:srgbClr val="14524A"/>
                </a:solidFill>
                <a:latin typeface="Cambria" pitchFamily="34" charset="0"/>
                <a:ea typeface="Cambria" pitchFamily="34" charset="-122"/>
                <a:cs typeface="Cambria" pitchFamily="34" charset="-120"/>
              </a:rPr>
              <a:t>El servicio decide y avisa</a:t>
            </a:r>
            <a:endParaRPr lang="en-US" sz="1600" dirty="0"/>
          </a:p>
        </p:txBody>
      </p:sp>
      <p:sp>
        <p:nvSpPr>
          <p:cNvPr id="20" name="Text 18"/>
          <p:cNvSpPr txBox="1"/>
          <p:nvPr/>
        </p:nvSpPr>
        <p:spPr>
          <a:xfrm>
            <a:off x="896112" y="4279392"/>
            <a:ext cx="4824832" cy="347472"/>
          </a:xfrm>
          <a:prstGeom prst="rect">
            <a:avLst/>
          </a:prstGeom>
          <a:noFill/>
          <a:ln/>
        </p:spPr>
        <p:txBody>
          <a:bodyPr wrap="square" lIns="0" tIns="0" rIns="0" bIns="0" rtlCol="0" anchor="t"/>
          <a:lstStyle/>
          <a:p>
            <a:pPr indent="0" marL="0">
              <a:lnSpc>
                <a:spcPts val="1740"/>
              </a:lnSpc>
              <a:buNone/>
            </a:pPr>
            <a:r>
              <a:rPr lang="en-US" sz="1200" dirty="0">
                <a:solidFill>
                  <a:srgbClr val="1C2321"/>
                </a:solidFill>
                <a:latin typeface="Calibri" pitchFamily="34" charset="0"/>
                <a:ea typeface="Calibri" pitchFamily="34" charset="-122"/>
                <a:cs typeface="Calibri" pitchFamily="34" charset="-120"/>
              </a:rPr>
              <a:t>Comprueba la regla y devuelve un mensaje que el cliente entiende: qué producto falta y cuántas unidades quedan.</a:t>
            </a:r>
            <a:endParaRPr lang="en-US" sz="1200" dirty="0"/>
          </a:p>
        </p:txBody>
      </p:sp>
      <p:sp>
        <p:nvSpPr>
          <p:cNvPr id="21" name="Shape 19"/>
          <p:cNvSpPr/>
          <p:nvPr/>
        </p:nvSpPr>
        <p:spPr>
          <a:xfrm>
            <a:off x="6214720" y="3346704"/>
            <a:ext cx="5336896" cy="1481328"/>
          </a:xfrm>
          <a:prstGeom prst="roundRect">
            <a:avLst>
              <a:gd name="adj" fmla="val 3086"/>
            </a:avLst>
          </a:prstGeom>
          <a:solidFill>
            <a:srgbClr val="EEF5F1"/>
          </a:solidFill>
          <a:ln w="12700">
            <a:solidFill>
              <a:srgbClr val="D9E5DF"/>
            </a:solidFill>
            <a:prstDash val="solid"/>
          </a:ln>
        </p:spPr>
      </p:sp>
      <p:sp>
        <p:nvSpPr>
          <p:cNvPr id="22" name="Text 20"/>
          <p:cNvSpPr txBox="1"/>
          <p:nvPr/>
        </p:nvSpPr>
        <p:spPr>
          <a:xfrm>
            <a:off x="6470752" y="3547872"/>
            <a:ext cx="4824832" cy="274320"/>
          </a:xfrm>
          <a:prstGeom prst="rect">
            <a:avLst/>
          </a:prstGeom>
          <a:noFill/>
          <a:ln/>
        </p:spPr>
        <p:txBody>
          <a:bodyPr wrap="square" lIns="0" tIns="0" rIns="0" bIns="0" rtlCol="0" anchor="ctr"/>
          <a:lstStyle/>
          <a:p>
            <a:pPr indent="0" marL="0">
              <a:buNone/>
            </a:pPr>
            <a:r>
              <a:rPr lang="en-US" sz="1050" b="1" dirty="0">
                <a:solidFill>
                  <a:srgbClr val="E8A33D"/>
                </a:solidFill>
                <a:latin typeface="Calibri" pitchFamily="34" charset="0"/>
                <a:ea typeface="Calibri" pitchFamily="34" charset="-122"/>
                <a:cs typeface="Calibri" pitchFamily="34" charset="-120"/>
              </a:rPr>
              <a:t>CAPA 2  ·  LA BASE DE DATOS</a:t>
            </a:r>
            <a:endParaRPr lang="en-US" sz="1050" dirty="0"/>
          </a:p>
        </p:txBody>
      </p:sp>
      <p:sp>
        <p:nvSpPr>
          <p:cNvPr id="23" name="Text 21"/>
          <p:cNvSpPr txBox="1"/>
          <p:nvPr/>
        </p:nvSpPr>
        <p:spPr>
          <a:xfrm>
            <a:off x="6470752" y="3840480"/>
            <a:ext cx="4824832" cy="365760"/>
          </a:xfrm>
          <a:prstGeom prst="rect">
            <a:avLst/>
          </a:prstGeom>
          <a:noFill/>
          <a:ln/>
        </p:spPr>
        <p:txBody>
          <a:bodyPr wrap="square" lIns="0" tIns="0" rIns="0" bIns="0" rtlCol="0" anchor="ctr"/>
          <a:lstStyle/>
          <a:p>
            <a:pPr indent="0" marL="0">
              <a:buNone/>
            </a:pPr>
            <a:r>
              <a:rPr lang="en-US" sz="1600" b="1" dirty="0">
                <a:solidFill>
                  <a:srgbClr val="14524A"/>
                </a:solidFill>
                <a:latin typeface="Cambria" pitchFamily="34" charset="0"/>
                <a:ea typeface="Cambria" pitchFamily="34" charset="-122"/>
                <a:cs typeface="Cambria" pitchFamily="34" charset="-120"/>
              </a:rPr>
              <a:t>El motor la garantiza</a:t>
            </a:r>
            <a:endParaRPr lang="en-US" sz="1600" dirty="0"/>
          </a:p>
        </p:txBody>
      </p:sp>
      <p:sp>
        <p:nvSpPr>
          <p:cNvPr id="24" name="Text 22"/>
          <p:cNvSpPr txBox="1"/>
          <p:nvPr/>
        </p:nvSpPr>
        <p:spPr>
          <a:xfrm>
            <a:off x="6470752" y="4279392"/>
            <a:ext cx="4824832" cy="347472"/>
          </a:xfrm>
          <a:prstGeom prst="rect">
            <a:avLst/>
          </a:prstGeom>
          <a:noFill/>
          <a:ln/>
        </p:spPr>
        <p:txBody>
          <a:bodyPr wrap="square" lIns="0" tIns="0" rIns="0" bIns="0" rtlCol="0" anchor="t"/>
          <a:lstStyle/>
          <a:p>
            <a:pPr indent="0" marL="0">
              <a:lnSpc>
                <a:spcPts val="1740"/>
              </a:lnSpc>
              <a:buNone/>
            </a:pPr>
            <a:r>
              <a:rPr lang="en-US" sz="1200" dirty="0">
                <a:solidFill>
                  <a:srgbClr val="1C2321"/>
                </a:solidFill>
                <a:latin typeface="Calibri" pitchFamily="34" charset="0"/>
                <a:ea typeface="Calibri" pitchFamily="34" charset="-122"/>
                <a:cs typeface="Calibri" pitchFamily="34" charset="-120"/>
              </a:rPr>
              <a:t>Restricciones en las tablas. Aunque un error de programación futuro se salte la capa anterior, el dato inválido no entra.</a:t>
            </a:r>
            <a:endParaRPr lang="en-US" sz="1200" dirty="0"/>
          </a:p>
        </p:txBody>
      </p:sp>
      <p:sp>
        <p:nvSpPr>
          <p:cNvPr id="25" name="Shape 23"/>
          <p:cNvSpPr/>
          <p:nvPr/>
        </p:nvSpPr>
        <p:spPr>
          <a:xfrm>
            <a:off x="640080" y="4992624"/>
            <a:ext cx="10911535" cy="914400"/>
          </a:xfrm>
          <a:prstGeom prst="roundRect">
            <a:avLst>
              <a:gd name="adj" fmla="val 5000"/>
            </a:avLst>
          </a:prstGeom>
          <a:solidFill>
            <a:srgbClr val="14524A"/>
          </a:solidFill>
          <a:ln w="12700">
            <a:solidFill>
              <a:srgbClr val="14524A"/>
            </a:solidFill>
            <a:prstDash val="solid"/>
          </a:ln>
        </p:spPr>
      </p:sp>
      <p:sp>
        <p:nvSpPr>
          <p:cNvPr id="26" name="Text 24"/>
          <p:cNvSpPr txBox="1"/>
          <p:nvPr/>
        </p:nvSpPr>
        <p:spPr>
          <a:xfrm>
            <a:off x="950976" y="4992624"/>
            <a:ext cx="10289743" cy="914400"/>
          </a:xfrm>
          <a:prstGeom prst="rect">
            <a:avLst/>
          </a:prstGeom>
          <a:noFill/>
          <a:ln/>
        </p:spPr>
        <p:txBody>
          <a:bodyPr wrap="square" lIns="0" tIns="0" rIns="0" bIns="0" rtlCol="0" anchor="ctr"/>
          <a:lstStyle/>
          <a:p>
            <a:pPr indent="0" marL="0">
              <a:lnSpc>
                <a:spcPts val="1700"/>
              </a:lnSpc>
              <a:buNone/>
            </a:pPr>
            <a:r>
              <a:rPr lang="en-US" sz="1200" b="1" dirty="0">
                <a:solidFill>
                  <a:srgbClr val="E8A33D"/>
                </a:solidFill>
                <a:latin typeface="Calibri" pitchFamily="34" charset="0"/>
                <a:ea typeface="Calibri" pitchFamily="34" charset="-122"/>
                <a:cs typeface="Calibri" pitchFamily="34" charset="-120"/>
              </a:rPr>
              <a:t xml:space="preserve">Ejemplo, RN-12: si no hay stock completo, no hay pedido.  </a:t>
            </a:r>
            <a:pPr indent="0" marL="0">
              <a:lnSpc>
                <a:spcPts val="1700"/>
              </a:lnSpc>
              <a:buNone/>
            </a:pPr>
            <a:r>
              <a:rPr lang="en-US" sz="1200" dirty="0">
                <a:solidFill>
                  <a:srgbClr val="FFFFFF"/>
                </a:solidFill>
                <a:latin typeface="Calibri" pitchFamily="34" charset="0"/>
                <a:ea typeface="Calibri" pitchFamily="34" charset="-122"/>
                <a:cs typeface="Calibri" pitchFamily="34" charset="-120"/>
              </a:rPr>
              <a:t>El servicio bloquea el producto, suma todo lo que falta y, si algo no alcanza, no escribe nada. Debajo, la tabla tiene una restricción que impide que el stock baje de cero. La empresa prefiere no vender antes que prometer lo que no tiene.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384048"/>
            <a:ext cx="10911535" cy="658368"/>
          </a:xfrm>
          <a:prstGeom prst="rect">
            <a:avLst/>
          </a:prstGeom>
          <a:noFill/>
          <a:ln/>
        </p:spPr>
        <p:txBody>
          <a:bodyPr wrap="square" lIns="0" tIns="0" rIns="0" bIns="0" rtlCol="0" anchor="ctr"/>
          <a:lstStyle/>
          <a:p>
            <a:pPr indent="0" marL="0">
              <a:buNone/>
            </a:pPr>
            <a:r>
              <a:rPr lang="en-US" sz="3200" b="1" dirty="0">
                <a:solidFill>
                  <a:srgbClr val="14524A"/>
                </a:solidFill>
                <a:latin typeface="Cambria" pitchFamily="34" charset="0"/>
                <a:ea typeface="Cambria" pitchFamily="34" charset="-122"/>
                <a:cs typeface="Cambria" pitchFamily="34" charset="-120"/>
              </a:rPr>
              <a:t>Atender al cliente sin sumar personal</a:t>
            </a:r>
            <a:endParaRPr lang="en-US" sz="3200" dirty="0"/>
          </a:p>
        </p:txBody>
      </p:sp>
      <p:sp>
        <p:nvSpPr>
          <p:cNvPr id="3" name="Text 1"/>
          <p:cNvSpPr txBox="1"/>
          <p:nvPr/>
        </p:nvSpPr>
        <p:spPr>
          <a:xfrm>
            <a:off x="640080" y="1042416"/>
            <a:ext cx="10911535" cy="384048"/>
          </a:xfrm>
          <a:prstGeom prst="rect">
            <a:avLst/>
          </a:prstGeom>
          <a:noFill/>
          <a:ln/>
        </p:spPr>
        <p:txBody>
          <a:bodyPr wrap="square" lIns="0" tIns="0" rIns="0" bIns="0" rtlCol="0" anchor="ctr"/>
          <a:lstStyle/>
          <a:p>
            <a:pPr indent="0" marL="0">
              <a:buNone/>
            </a:pPr>
            <a:r>
              <a:rPr lang="en-US" sz="1400" dirty="0">
                <a:solidFill>
                  <a:srgbClr val="5D6B66"/>
                </a:solidFill>
                <a:latin typeface="Calibri" pitchFamily="34" charset="0"/>
                <a:ea typeface="Calibri" pitchFamily="34" charset="-122"/>
                <a:cs typeface="Calibri" pitchFamily="34" charset="-120"/>
              </a:rPr>
              <a:t>Tres piezas que incorporó el último incremento</a:t>
            </a:r>
            <a:endParaRPr lang="en-US" sz="1400" dirty="0"/>
          </a:p>
        </p:txBody>
      </p:sp>
      <p:sp>
        <p:nvSpPr>
          <p:cNvPr id="4" name="Shape 2"/>
          <p:cNvSpPr/>
          <p:nvPr/>
        </p:nvSpPr>
        <p:spPr>
          <a:xfrm>
            <a:off x="640080" y="1719072"/>
            <a:ext cx="3503066" cy="2432304"/>
          </a:xfrm>
          <a:prstGeom prst="roundRect">
            <a:avLst>
              <a:gd name="adj" fmla="val 1880"/>
            </a:avLst>
          </a:prstGeom>
          <a:solidFill>
            <a:srgbClr val="EEF5F1"/>
          </a:solidFill>
          <a:ln w="12700">
            <a:solidFill>
              <a:srgbClr val="D9E5DF"/>
            </a:solidFill>
            <a:prstDash val="solid"/>
          </a:ln>
        </p:spPr>
      </p:sp>
      <p:sp>
        <p:nvSpPr>
          <p:cNvPr id="5" name="Text 3"/>
          <p:cNvSpPr txBox="1"/>
          <p:nvPr/>
        </p:nvSpPr>
        <p:spPr>
          <a:xfrm>
            <a:off x="896112" y="1920240"/>
            <a:ext cx="2991002" cy="274320"/>
          </a:xfrm>
          <a:prstGeom prst="rect">
            <a:avLst/>
          </a:prstGeom>
          <a:noFill/>
          <a:ln/>
        </p:spPr>
        <p:txBody>
          <a:bodyPr wrap="square" lIns="0" tIns="0" rIns="0" bIns="0" rtlCol="0" anchor="ctr"/>
          <a:lstStyle/>
          <a:p>
            <a:pPr indent="0" marL="0">
              <a:buNone/>
            </a:pPr>
            <a:r>
              <a:rPr lang="en-US" sz="1050" b="1" dirty="0">
                <a:solidFill>
                  <a:srgbClr val="2C7A6B"/>
                </a:solidFill>
                <a:latin typeface="Calibri" pitchFamily="34" charset="0"/>
                <a:ea typeface="Calibri" pitchFamily="34" charset="-122"/>
                <a:cs typeface="Calibri" pitchFamily="34" charset="-120"/>
              </a:rPr>
              <a:t>ASISTENTE DEL SITIO</a:t>
            </a:r>
            <a:endParaRPr lang="en-US" sz="1050" dirty="0"/>
          </a:p>
        </p:txBody>
      </p:sp>
      <p:sp>
        <p:nvSpPr>
          <p:cNvPr id="6" name="Text 4"/>
          <p:cNvSpPr txBox="1"/>
          <p:nvPr/>
        </p:nvSpPr>
        <p:spPr>
          <a:xfrm>
            <a:off x="896112" y="2212848"/>
            <a:ext cx="2991002" cy="365760"/>
          </a:xfrm>
          <a:prstGeom prst="rect">
            <a:avLst/>
          </a:prstGeom>
          <a:noFill/>
          <a:ln/>
        </p:spPr>
        <p:txBody>
          <a:bodyPr wrap="square" lIns="0" tIns="0" rIns="0" bIns="0" rtlCol="0" anchor="ctr"/>
          <a:lstStyle/>
          <a:p>
            <a:pPr indent="0" marL="0">
              <a:buNone/>
            </a:pPr>
            <a:r>
              <a:rPr lang="en-US" sz="1600" b="1" dirty="0">
                <a:solidFill>
                  <a:srgbClr val="14524A"/>
                </a:solidFill>
                <a:latin typeface="Cambria" pitchFamily="34" charset="0"/>
                <a:ea typeface="Cambria" pitchFamily="34" charset="-122"/>
                <a:cs typeface="Cambria" pitchFamily="34" charset="-120"/>
              </a:rPr>
              <a:t>Pelusa responde sola</a:t>
            </a:r>
            <a:endParaRPr lang="en-US" sz="1600" dirty="0"/>
          </a:p>
        </p:txBody>
      </p:sp>
      <p:sp>
        <p:nvSpPr>
          <p:cNvPr id="7" name="Text 5"/>
          <p:cNvSpPr txBox="1"/>
          <p:nvPr/>
        </p:nvSpPr>
        <p:spPr>
          <a:xfrm>
            <a:off x="896112" y="2651760"/>
            <a:ext cx="2991002" cy="1298448"/>
          </a:xfrm>
          <a:prstGeom prst="rect">
            <a:avLst/>
          </a:prstGeom>
          <a:noFill/>
          <a:ln/>
        </p:spPr>
        <p:txBody>
          <a:bodyPr wrap="square" lIns="0" tIns="0" rIns="0" bIns="0" rtlCol="0" anchor="t"/>
          <a:lstStyle/>
          <a:p>
            <a:pPr indent="0" marL="0">
              <a:lnSpc>
                <a:spcPts val="1740"/>
              </a:lnSpc>
              <a:buNone/>
            </a:pPr>
            <a:r>
              <a:rPr lang="en-US" sz="1200" dirty="0">
                <a:solidFill>
                  <a:srgbClr val="1C2321"/>
                </a:solidFill>
                <a:latin typeface="Calibri" pitchFamily="34" charset="0"/>
                <a:ea typeface="Calibri" pitchFamily="34" charset="-122"/>
                <a:cs typeface="Calibri" pitchFamily="34" charset="-120"/>
              </a:rPr>
              <a:t>Entiende 14 tipos de pregunta en español y contesta con los datos de la propia cuenta: en qué va el pedido, cuándo llega el despacho, qué vacuna toca. Ocho temas de menú para quien prefiere no escribir.</a:t>
            </a:r>
            <a:endParaRPr lang="en-US" sz="1200" dirty="0"/>
          </a:p>
        </p:txBody>
      </p:sp>
      <p:sp>
        <p:nvSpPr>
          <p:cNvPr id="8" name="Shape 6"/>
          <p:cNvSpPr/>
          <p:nvPr/>
        </p:nvSpPr>
        <p:spPr>
          <a:xfrm>
            <a:off x="4344314" y="1719072"/>
            <a:ext cx="3503066" cy="2432304"/>
          </a:xfrm>
          <a:prstGeom prst="roundRect">
            <a:avLst>
              <a:gd name="adj" fmla="val 1880"/>
            </a:avLst>
          </a:prstGeom>
          <a:solidFill>
            <a:srgbClr val="EEF5F1"/>
          </a:solidFill>
          <a:ln w="12700">
            <a:solidFill>
              <a:srgbClr val="D9E5DF"/>
            </a:solidFill>
            <a:prstDash val="solid"/>
          </a:ln>
        </p:spPr>
      </p:sp>
      <p:sp>
        <p:nvSpPr>
          <p:cNvPr id="9" name="Text 7"/>
          <p:cNvSpPr txBox="1"/>
          <p:nvPr/>
        </p:nvSpPr>
        <p:spPr>
          <a:xfrm>
            <a:off x="4600346" y="1920240"/>
            <a:ext cx="2991002" cy="274320"/>
          </a:xfrm>
          <a:prstGeom prst="rect">
            <a:avLst/>
          </a:prstGeom>
          <a:noFill/>
          <a:ln/>
        </p:spPr>
        <p:txBody>
          <a:bodyPr wrap="square" lIns="0" tIns="0" rIns="0" bIns="0" rtlCol="0" anchor="ctr"/>
          <a:lstStyle/>
          <a:p>
            <a:pPr indent="0" marL="0">
              <a:buNone/>
            </a:pPr>
            <a:r>
              <a:rPr lang="en-US" sz="1050" b="1" dirty="0">
                <a:solidFill>
                  <a:srgbClr val="E8A33D"/>
                </a:solidFill>
                <a:latin typeface="Calibri" pitchFamily="34" charset="0"/>
                <a:ea typeface="Calibri" pitchFamily="34" charset="-122"/>
                <a:cs typeface="Calibri" pitchFamily="34" charset="-120"/>
              </a:rPr>
              <a:t>CORREOS</a:t>
            </a:r>
            <a:endParaRPr lang="en-US" sz="1050" dirty="0"/>
          </a:p>
        </p:txBody>
      </p:sp>
      <p:sp>
        <p:nvSpPr>
          <p:cNvPr id="10" name="Text 8"/>
          <p:cNvSpPr txBox="1"/>
          <p:nvPr/>
        </p:nvSpPr>
        <p:spPr>
          <a:xfrm>
            <a:off x="4600346" y="2212848"/>
            <a:ext cx="2991002" cy="365760"/>
          </a:xfrm>
          <a:prstGeom prst="rect">
            <a:avLst/>
          </a:prstGeom>
          <a:noFill/>
          <a:ln/>
        </p:spPr>
        <p:txBody>
          <a:bodyPr wrap="square" lIns="0" tIns="0" rIns="0" bIns="0" rtlCol="0" anchor="ctr"/>
          <a:lstStyle/>
          <a:p>
            <a:pPr indent="0" marL="0">
              <a:buNone/>
            </a:pPr>
            <a:r>
              <a:rPr lang="en-US" sz="1600" b="1" dirty="0">
                <a:solidFill>
                  <a:srgbClr val="14524A"/>
                </a:solidFill>
                <a:latin typeface="Cambria" pitchFamily="34" charset="0"/>
                <a:ea typeface="Cambria" pitchFamily="34" charset="-122"/>
                <a:cs typeface="Cambria" pitchFamily="34" charset="-120"/>
              </a:rPr>
              <a:t>Ocho avisos automáticos</a:t>
            </a:r>
            <a:endParaRPr lang="en-US" sz="1600" dirty="0"/>
          </a:p>
        </p:txBody>
      </p:sp>
      <p:sp>
        <p:nvSpPr>
          <p:cNvPr id="11" name="Text 9"/>
          <p:cNvSpPr txBox="1"/>
          <p:nvPr/>
        </p:nvSpPr>
        <p:spPr>
          <a:xfrm>
            <a:off x="4600346" y="2651760"/>
            <a:ext cx="2991002" cy="1298448"/>
          </a:xfrm>
          <a:prstGeom prst="rect">
            <a:avLst/>
          </a:prstGeom>
          <a:noFill/>
          <a:ln/>
        </p:spPr>
        <p:txBody>
          <a:bodyPr wrap="square" lIns="0" tIns="0" rIns="0" bIns="0" rtlCol="0" anchor="t"/>
          <a:lstStyle/>
          <a:p>
            <a:pPr indent="0" marL="0">
              <a:lnSpc>
                <a:spcPts val="1740"/>
              </a:lnSpc>
              <a:buNone/>
            </a:pPr>
            <a:r>
              <a:rPr lang="en-US" sz="1200" dirty="0">
                <a:solidFill>
                  <a:srgbClr val="1C2321"/>
                </a:solidFill>
                <a:latin typeface="Calibri" pitchFamily="34" charset="0"/>
                <a:ea typeface="Calibri" pitchFamily="34" charset="-122"/>
                <a:cs typeface="Calibri" pitchFamily="34" charset="-120"/>
              </a:rPr>
              <a:t>Bienvenida, pedido, factura, cita, despacho, cambio de plan, recordatorio de vacuna y mensaje de contacto. El recordatorio sale cada mañana a las 8:00 sin que nadie lo dispare (RN-20).</a:t>
            </a:r>
            <a:endParaRPr lang="en-US" sz="1200" dirty="0"/>
          </a:p>
        </p:txBody>
      </p:sp>
      <p:sp>
        <p:nvSpPr>
          <p:cNvPr id="12" name="Shape 10"/>
          <p:cNvSpPr/>
          <p:nvPr/>
        </p:nvSpPr>
        <p:spPr>
          <a:xfrm>
            <a:off x="8048549" y="1719072"/>
            <a:ext cx="3503066" cy="2432304"/>
          </a:xfrm>
          <a:prstGeom prst="roundRect">
            <a:avLst>
              <a:gd name="adj" fmla="val 1880"/>
            </a:avLst>
          </a:prstGeom>
          <a:solidFill>
            <a:srgbClr val="EEF5F1"/>
          </a:solidFill>
          <a:ln w="12700">
            <a:solidFill>
              <a:srgbClr val="D9E5DF"/>
            </a:solidFill>
            <a:prstDash val="solid"/>
          </a:ln>
        </p:spPr>
      </p:sp>
      <p:sp>
        <p:nvSpPr>
          <p:cNvPr id="13" name="Text 11"/>
          <p:cNvSpPr txBox="1"/>
          <p:nvPr/>
        </p:nvSpPr>
        <p:spPr>
          <a:xfrm>
            <a:off x="8304581" y="1920240"/>
            <a:ext cx="2991002" cy="274320"/>
          </a:xfrm>
          <a:prstGeom prst="rect">
            <a:avLst/>
          </a:prstGeom>
          <a:noFill/>
          <a:ln/>
        </p:spPr>
        <p:txBody>
          <a:bodyPr wrap="square" lIns="0" tIns="0" rIns="0" bIns="0" rtlCol="0" anchor="ctr"/>
          <a:lstStyle/>
          <a:p>
            <a:pPr indent="0" marL="0">
              <a:buNone/>
            </a:pPr>
            <a:r>
              <a:rPr lang="en-US" sz="1050" b="1" dirty="0">
                <a:solidFill>
                  <a:srgbClr val="E8A33D"/>
                </a:solidFill>
                <a:latin typeface="Calibri" pitchFamily="34" charset="0"/>
                <a:ea typeface="Calibri" pitchFamily="34" charset="-122"/>
                <a:cs typeface="Calibri" pitchFamily="34" charset="-120"/>
              </a:rPr>
              <a:t>ACCESIBILIDAD</a:t>
            </a:r>
            <a:endParaRPr lang="en-US" sz="1050" dirty="0"/>
          </a:p>
        </p:txBody>
      </p:sp>
      <p:sp>
        <p:nvSpPr>
          <p:cNvPr id="14" name="Text 12"/>
          <p:cNvSpPr txBox="1"/>
          <p:nvPr/>
        </p:nvSpPr>
        <p:spPr>
          <a:xfrm>
            <a:off x="8304581" y="2212848"/>
            <a:ext cx="2991002" cy="365760"/>
          </a:xfrm>
          <a:prstGeom prst="rect">
            <a:avLst/>
          </a:prstGeom>
          <a:noFill/>
          <a:ln/>
        </p:spPr>
        <p:txBody>
          <a:bodyPr wrap="square" lIns="0" tIns="0" rIns="0" bIns="0" rtlCol="0" anchor="ctr"/>
          <a:lstStyle/>
          <a:p>
            <a:pPr indent="0" marL="0">
              <a:buNone/>
            </a:pPr>
            <a:r>
              <a:rPr lang="en-US" sz="1600" b="1" dirty="0">
                <a:solidFill>
                  <a:srgbClr val="14524A"/>
                </a:solidFill>
                <a:latin typeface="Cambria" pitchFamily="34" charset="0"/>
                <a:ea typeface="Cambria" pitchFamily="34" charset="-122"/>
                <a:cs typeface="Cambria" pitchFamily="34" charset="-120"/>
              </a:rPr>
              <a:t>Usable en el celular</a:t>
            </a:r>
            <a:endParaRPr lang="en-US" sz="1600" dirty="0"/>
          </a:p>
        </p:txBody>
      </p:sp>
      <p:sp>
        <p:nvSpPr>
          <p:cNvPr id="15" name="Text 13"/>
          <p:cNvSpPr txBox="1"/>
          <p:nvPr/>
        </p:nvSpPr>
        <p:spPr>
          <a:xfrm>
            <a:off x="8304581" y="2651760"/>
            <a:ext cx="2991002" cy="1298448"/>
          </a:xfrm>
          <a:prstGeom prst="rect">
            <a:avLst/>
          </a:prstGeom>
          <a:noFill/>
          <a:ln/>
        </p:spPr>
        <p:txBody>
          <a:bodyPr wrap="square" lIns="0" tIns="0" rIns="0" bIns="0" rtlCol="0" anchor="t"/>
          <a:lstStyle/>
          <a:p>
            <a:pPr indent="0" marL="0">
              <a:lnSpc>
                <a:spcPts val="1740"/>
              </a:lnSpc>
              <a:buNone/>
            </a:pPr>
            <a:r>
              <a:rPr lang="en-US" sz="1200" dirty="0">
                <a:solidFill>
                  <a:srgbClr val="1C2321"/>
                </a:solidFill>
                <a:latin typeface="Calibri" pitchFamily="34" charset="0"/>
                <a:ea typeface="Calibri" pitchFamily="34" charset="-122"/>
                <a:cs typeface="Calibri" pitchFamily="34" charset="-120"/>
              </a:rPr>
              <a:t>Las tablas se reordenan en tarjetas en pantalla chica y cada dato conserva su etiqueta para el lector de pantalla. El chat anuncia su estado con atributos ARIA (RNF-01 y RNF-06).</a:t>
            </a:r>
            <a:endParaRPr lang="en-US" sz="1200" dirty="0"/>
          </a:p>
        </p:txBody>
      </p:sp>
      <p:sp>
        <p:nvSpPr>
          <p:cNvPr id="16" name="Shape 14"/>
          <p:cNvSpPr/>
          <p:nvPr/>
        </p:nvSpPr>
        <p:spPr>
          <a:xfrm>
            <a:off x="640080" y="4480560"/>
            <a:ext cx="10911535" cy="1188720"/>
          </a:xfrm>
          <a:prstGeom prst="roundRect">
            <a:avLst>
              <a:gd name="adj" fmla="val 3846"/>
            </a:avLst>
          </a:prstGeom>
          <a:solidFill>
            <a:srgbClr val="14524A"/>
          </a:solidFill>
          <a:ln w="12700">
            <a:solidFill>
              <a:srgbClr val="14524A"/>
            </a:solidFill>
            <a:prstDash val="solid"/>
          </a:ln>
        </p:spPr>
      </p:sp>
      <p:sp>
        <p:nvSpPr>
          <p:cNvPr id="17" name="Text 15"/>
          <p:cNvSpPr txBox="1"/>
          <p:nvPr/>
        </p:nvSpPr>
        <p:spPr>
          <a:xfrm>
            <a:off x="950976" y="4480560"/>
            <a:ext cx="10289743" cy="1188720"/>
          </a:xfrm>
          <a:prstGeom prst="rect">
            <a:avLst/>
          </a:prstGeom>
          <a:noFill/>
          <a:ln/>
        </p:spPr>
        <p:txBody>
          <a:bodyPr wrap="square" lIns="0" tIns="0" rIns="0" bIns="0" rtlCol="0" anchor="ctr"/>
          <a:lstStyle/>
          <a:p>
            <a:pPr indent="0" marL="0">
              <a:lnSpc>
                <a:spcPts val="1700"/>
              </a:lnSpc>
              <a:buNone/>
            </a:pPr>
            <a:r>
              <a:rPr lang="en-US" sz="1200" b="1" dirty="0">
                <a:solidFill>
                  <a:srgbClr val="E8A33D"/>
                </a:solidFill>
                <a:latin typeface="Calibri" pitchFamily="34" charset="0"/>
                <a:ea typeface="Calibri" pitchFamily="34" charset="-122"/>
                <a:cs typeface="Calibri" pitchFamily="34" charset="-120"/>
              </a:rPr>
              <a:t xml:space="preserve">El asistente no es una caja negra.  </a:t>
            </a:r>
            <a:pPr indent="0" marL="0">
              <a:lnSpc>
                <a:spcPts val="1700"/>
              </a:lnSpc>
              <a:buNone/>
            </a:pPr>
            <a:r>
              <a:rPr lang="en-US" sz="1200" dirty="0">
                <a:solidFill>
                  <a:srgbClr val="FFFFFF"/>
                </a:solidFill>
                <a:latin typeface="Calibri" pitchFamily="34" charset="0"/>
                <a:ea typeface="Calibri" pitchFamily="34" charset="-122"/>
                <a:cs typeface="Calibri" pitchFamily="34" charset="-120"/>
              </a:rPr>
              <a:t>No usa inteligencia artificial externa ni servicios pagados: clasifica la pregunta con palabras clave y responde desde un único archivo de configuración. Y solo consulta los datos del cliente que está conectado, nunca los de otro (RN-01 y RN-04).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384048"/>
            <a:ext cx="10911535" cy="658368"/>
          </a:xfrm>
          <a:prstGeom prst="rect">
            <a:avLst/>
          </a:prstGeom>
          <a:noFill/>
          <a:ln/>
        </p:spPr>
        <p:txBody>
          <a:bodyPr wrap="square" lIns="0" tIns="0" rIns="0" bIns="0" rtlCol="0" anchor="ctr"/>
          <a:lstStyle/>
          <a:p>
            <a:pPr indent="0" marL="0">
              <a:buNone/>
            </a:pPr>
            <a:r>
              <a:rPr lang="en-US" sz="3200" b="1" dirty="0">
                <a:solidFill>
                  <a:srgbClr val="14524A"/>
                </a:solidFill>
                <a:latin typeface="Cambria" pitchFamily="34" charset="0"/>
                <a:ea typeface="Cambria" pitchFamily="34" charset="-122"/>
                <a:cs typeface="Cambria" pitchFamily="34" charset="-120"/>
              </a:rPr>
              <a:t>Lo que se puede comprobar hoy</a:t>
            </a:r>
            <a:endParaRPr lang="en-US" sz="3200" dirty="0"/>
          </a:p>
        </p:txBody>
      </p:sp>
      <p:sp>
        <p:nvSpPr>
          <p:cNvPr id="3" name="Text 1"/>
          <p:cNvSpPr txBox="1"/>
          <p:nvPr/>
        </p:nvSpPr>
        <p:spPr>
          <a:xfrm>
            <a:off x="640080" y="1042416"/>
            <a:ext cx="10911535" cy="384048"/>
          </a:xfrm>
          <a:prstGeom prst="rect">
            <a:avLst/>
          </a:prstGeom>
          <a:noFill/>
          <a:ln/>
        </p:spPr>
        <p:txBody>
          <a:bodyPr wrap="square" lIns="0" tIns="0" rIns="0" bIns="0" rtlCol="0" anchor="ctr"/>
          <a:lstStyle/>
          <a:p>
            <a:pPr indent="0" marL="0">
              <a:buNone/>
            </a:pPr>
            <a:r>
              <a:rPr lang="en-US" sz="1400" dirty="0">
                <a:solidFill>
                  <a:srgbClr val="5D6B66"/>
                </a:solidFill>
                <a:latin typeface="Calibri" pitchFamily="34" charset="0"/>
                <a:ea typeface="Calibri" pitchFamily="34" charset="-122"/>
                <a:cs typeface="Calibri" pitchFamily="34" charset="-120"/>
              </a:rPr>
              <a:t>No es una maqueta: es una aplicación que se ejecuta y se prueba</a:t>
            </a:r>
            <a:endParaRPr lang="en-US" sz="1400" dirty="0"/>
          </a:p>
        </p:txBody>
      </p:sp>
      <p:sp>
        <p:nvSpPr>
          <p:cNvPr id="4" name="Shape 2"/>
          <p:cNvSpPr/>
          <p:nvPr/>
        </p:nvSpPr>
        <p:spPr>
          <a:xfrm>
            <a:off x="640080" y="1682496"/>
            <a:ext cx="5336896" cy="1828800"/>
          </a:xfrm>
          <a:prstGeom prst="roundRect">
            <a:avLst>
              <a:gd name="adj" fmla="val 2500"/>
            </a:avLst>
          </a:prstGeom>
          <a:solidFill>
            <a:srgbClr val="14524A"/>
          </a:solidFill>
          <a:ln w="12700">
            <a:solidFill>
              <a:srgbClr val="14524A"/>
            </a:solidFill>
            <a:prstDash val="solid"/>
          </a:ln>
        </p:spPr>
      </p:sp>
      <p:sp>
        <p:nvSpPr>
          <p:cNvPr id="5" name="Text 3"/>
          <p:cNvSpPr txBox="1"/>
          <p:nvPr/>
        </p:nvSpPr>
        <p:spPr>
          <a:xfrm>
            <a:off x="914400" y="1792224"/>
            <a:ext cx="1828800" cy="877824"/>
          </a:xfrm>
          <a:prstGeom prst="rect">
            <a:avLst/>
          </a:prstGeom>
          <a:noFill/>
          <a:ln/>
        </p:spPr>
        <p:txBody>
          <a:bodyPr wrap="square" lIns="0" tIns="0" rIns="0" bIns="0" rtlCol="0" anchor="ctr"/>
          <a:lstStyle/>
          <a:p>
            <a:pPr indent="0" marL="0">
              <a:buNone/>
            </a:pPr>
            <a:r>
              <a:rPr lang="en-US" sz="5200" b="1" dirty="0">
                <a:solidFill>
                  <a:srgbClr val="E8A33D"/>
                </a:solidFill>
                <a:latin typeface="Cambria" pitchFamily="34" charset="0"/>
                <a:ea typeface="Cambria" pitchFamily="34" charset="-122"/>
                <a:cs typeface="Cambria" pitchFamily="34" charset="-120"/>
              </a:rPr>
              <a:t>137</a:t>
            </a:r>
            <a:endParaRPr lang="en-US" sz="5200" dirty="0"/>
          </a:p>
        </p:txBody>
      </p:sp>
      <p:sp>
        <p:nvSpPr>
          <p:cNvPr id="6" name="Text 4"/>
          <p:cNvSpPr txBox="1"/>
          <p:nvPr/>
        </p:nvSpPr>
        <p:spPr>
          <a:xfrm>
            <a:off x="2743200" y="1792224"/>
            <a:ext cx="2959456" cy="877824"/>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pruebas automatizadas</a:t>
            </a:r>
            <a:endParaRPr lang="en-US" sz="1500" dirty="0"/>
          </a:p>
        </p:txBody>
      </p:sp>
      <p:sp>
        <p:nvSpPr>
          <p:cNvPr id="7" name="Text 5"/>
          <p:cNvSpPr txBox="1"/>
          <p:nvPr/>
        </p:nvSpPr>
        <p:spPr>
          <a:xfrm>
            <a:off x="914400" y="2706624"/>
            <a:ext cx="4788256" cy="676656"/>
          </a:xfrm>
          <a:prstGeom prst="rect">
            <a:avLst/>
          </a:prstGeom>
          <a:noFill/>
          <a:ln/>
        </p:spPr>
        <p:txBody>
          <a:bodyPr wrap="square" lIns="0" tIns="0" rIns="0" bIns="0" rtlCol="0" anchor="t"/>
          <a:lstStyle/>
          <a:p>
            <a:pPr indent="0" marL="0">
              <a:lnSpc>
                <a:spcPts val="1600"/>
              </a:lnSpc>
              <a:buNone/>
            </a:pPr>
            <a:r>
              <a:rPr lang="en-US" sz="1150" dirty="0">
                <a:solidFill>
                  <a:srgbClr val="CFE3DC"/>
                </a:solidFill>
                <a:latin typeface="Calibri" pitchFamily="34" charset="0"/>
                <a:ea typeface="Calibri" pitchFamily="34" charset="-122"/>
                <a:cs typeface="Calibri" pitchFamily="34" charset="-120"/>
              </a:rPr>
              <a:t>346 aserciones, ejecutadas contra base de datos real y no contra una simulación. Al menos una prueba por cada una de las 22 reglas de negocio.</a:t>
            </a:r>
            <a:endParaRPr lang="en-US" sz="1150" dirty="0"/>
          </a:p>
        </p:txBody>
      </p:sp>
      <p:sp>
        <p:nvSpPr>
          <p:cNvPr id="8" name="Shape 6"/>
          <p:cNvSpPr/>
          <p:nvPr/>
        </p:nvSpPr>
        <p:spPr>
          <a:xfrm>
            <a:off x="6214720" y="1682496"/>
            <a:ext cx="5336896" cy="1828800"/>
          </a:xfrm>
          <a:prstGeom prst="roundRect">
            <a:avLst>
              <a:gd name="adj" fmla="val 2500"/>
            </a:avLst>
          </a:prstGeom>
          <a:solidFill>
            <a:srgbClr val="EEF5F1"/>
          </a:solidFill>
          <a:ln w="12700">
            <a:solidFill>
              <a:srgbClr val="D9E5DF"/>
            </a:solidFill>
            <a:prstDash val="solid"/>
          </a:ln>
        </p:spPr>
      </p:sp>
      <p:sp>
        <p:nvSpPr>
          <p:cNvPr id="9" name="Text 7"/>
          <p:cNvSpPr txBox="1"/>
          <p:nvPr/>
        </p:nvSpPr>
        <p:spPr>
          <a:xfrm>
            <a:off x="6470752" y="1883664"/>
            <a:ext cx="4824832" cy="274320"/>
          </a:xfrm>
          <a:prstGeom prst="rect">
            <a:avLst/>
          </a:prstGeom>
          <a:noFill/>
          <a:ln/>
        </p:spPr>
        <p:txBody>
          <a:bodyPr wrap="square" lIns="0" tIns="0" rIns="0" bIns="0" rtlCol="0" anchor="ctr"/>
          <a:lstStyle/>
          <a:p>
            <a:pPr indent="0" marL="0">
              <a:buNone/>
            </a:pPr>
            <a:r>
              <a:rPr lang="en-US" sz="1050" b="1" dirty="0">
                <a:solidFill>
                  <a:srgbClr val="E8A33D"/>
                </a:solidFill>
                <a:latin typeface="Calibri" pitchFamily="34" charset="0"/>
                <a:ea typeface="Calibri" pitchFamily="34" charset="-122"/>
                <a:cs typeface="Calibri" pitchFamily="34" charset="-120"/>
              </a:rPr>
              <a:t>POR QUÉ IMPORTA</a:t>
            </a:r>
            <a:endParaRPr lang="en-US" sz="1050" dirty="0"/>
          </a:p>
        </p:txBody>
      </p:sp>
      <p:sp>
        <p:nvSpPr>
          <p:cNvPr id="10" name="Text 8"/>
          <p:cNvSpPr txBox="1"/>
          <p:nvPr/>
        </p:nvSpPr>
        <p:spPr>
          <a:xfrm>
            <a:off x="6470752" y="2176272"/>
            <a:ext cx="4824832" cy="365760"/>
          </a:xfrm>
          <a:prstGeom prst="rect">
            <a:avLst/>
          </a:prstGeom>
          <a:noFill/>
          <a:ln/>
        </p:spPr>
        <p:txBody>
          <a:bodyPr wrap="square" lIns="0" tIns="0" rIns="0" bIns="0" rtlCol="0" anchor="ctr"/>
          <a:lstStyle/>
          <a:p>
            <a:pPr indent="0" marL="0">
              <a:buNone/>
            </a:pPr>
            <a:r>
              <a:rPr lang="en-US" sz="1600" b="1" dirty="0">
                <a:solidFill>
                  <a:srgbClr val="14524A"/>
                </a:solidFill>
                <a:latin typeface="Cambria" pitchFamily="34" charset="0"/>
                <a:ea typeface="Cambria" pitchFamily="34" charset="-122"/>
                <a:cs typeface="Cambria" pitchFamily="34" charset="-120"/>
              </a:rPr>
              <a:t>La regla se vuelve a comprobar sola</a:t>
            </a:r>
            <a:endParaRPr lang="en-US" sz="1600" dirty="0"/>
          </a:p>
        </p:txBody>
      </p:sp>
      <p:sp>
        <p:nvSpPr>
          <p:cNvPr id="11" name="Text 9"/>
          <p:cNvSpPr txBox="1"/>
          <p:nvPr/>
        </p:nvSpPr>
        <p:spPr>
          <a:xfrm>
            <a:off x="6470752" y="2615184"/>
            <a:ext cx="4824832" cy="694944"/>
          </a:xfrm>
          <a:prstGeom prst="rect">
            <a:avLst/>
          </a:prstGeom>
          <a:noFill/>
          <a:ln/>
        </p:spPr>
        <p:txBody>
          <a:bodyPr wrap="square" lIns="0" tIns="0" rIns="0" bIns="0" rtlCol="0" anchor="t"/>
          <a:lstStyle/>
          <a:p>
            <a:pPr indent="0" marL="0">
              <a:lnSpc>
                <a:spcPts val="1740"/>
              </a:lnSpc>
              <a:buNone/>
            </a:pPr>
            <a:r>
              <a:rPr lang="en-US" sz="1200" dirty="0">
                <a:solidFill>
                  <a:srgbClr val="1C2321"/>
                </a:solidFill>
                <a:latin typeface="Calibri" pitchFamily="34" charset="0"/>
                <a:ea typeface="Calibri" pitchFamily="34" charset="-122"/>
                <a:cs typeface="Calibri" pitchFamily="34" charset="-120"/>
              </a:rPr>
              <a:t>Antes de cada entrega se ejecuta la suite completa. Si un cambio rompe una regla del negocio, se sabe en el momento y no en el reclamo del cliente.</a:t>
            </a:r>
            <a:endParaRPr lang="en-US" sz="1200" dirty="0"/>
          </a:p>
        </p:txBody>
      </p:sp>
      <p:pic>
        <p:nvPicPr>
          <p:cNvPr id="12" name="Image 0" descr="/home/user/VetPetSurco/docs/capturas-reglas/05-carrito-bloqueado.png">    </p:cNvPr>
          <p:cNvPicPr>
            <a:picLocks noChangeAspect="1"/>
          </p:cNvPicPr>
          <p:nvPr/>
        </p:nvPicPr>
        <p:blipFill>
          <a:blip r:embed="rId1"/>
          <a:srcRect l="0" r="0" t="0" b="0"/>
          <a:stretch/>
        </p:blipFill>
        <p:spPr>
          <a:xfrm>
            <a:off x="640080" y="3694176"/>
            <a:ext cx="5336896" cy="2048256"/>
          </a:xfrm>
          <a:prstGeom prst="rect">
            <a:avLst/>
          </a:prstGeom>
        </p:spPr>
      </p:pic>
      <p:pic>
        <p:nvPicPr>
          <p:cNvPr id="13" name="Image 1" descr="/home/user/VetPetSurco/docs/capturas-reglas/09-inventario.png">    </p:cNvPr>
          <p:cNvPicPr>
            <a:picLocks noChangeAspect="1"/>
          </p:cNvPicPr>
          <p:nvPr/>
        </p:nvPicPr>
        <p:blipFill>
          <a:blip r:embed="rId2"/>
          <a:srcRect l="0" r="0" t="0" b="0"/>
          <a:stretch/>
        </p:blipFill>
        <p:spPr>
          <a:xfrm>
            <a:off x="6214720" y="3694176"/>
            <a:ext cx="5336896" cy="2048256"/>
          </a:xfrm>
          <a:prstGeom prst="rect">
            <a:avLst/>
          </a:prstGeom>
        </p:spPr>
      </p:pic>
      <p:sp>
        <p:nvSpPr>
          <p:cNvPr id="14" name="Text 10"/>
          <p:cNvSpPr txBox="1"/>
          <p:nvPr/>
        </p:nvSpPr>
        <p:spPr>
          <a:xfrm>
            <a:off x="640080" y="6327648"/>
            <a:ext cx="10911535" cy="292608"/>
          </a:xfrm>
          <a:prstGeom prst="rect">
            <a:avLst/>
          </a:prstGeom>
          <a:noFill/>
          <a:ln/>
        </p:spPr>
        <p:txBody>
          <a:bodyPr wrap="square" lIns="0" tIns="0" rIns="0" bIns="0" rtlCol="0" anchor="ctr"/>
          <a:lstStyle/>
          <a:p>
            <a:pPr indent="0" marL="0">
              <a:buNone/>
            </a:pPr>
            <a:r>
              <a:rPr lang="en-US" sz="1000" i="1" dirty="0">
                <a:solidFill>
                  <a:srgbClr val="5D6B66"/>
                </a:solidFill>
                <a:latin typeface="Calibri" pitchFamily="34" charset="0"/>
                <a:ea typeface="Calibri" pitchFamily="34" charset="-122"/>
                <a:cs typeface="Calibri" pitchFamily="34" charset="-120"/>
              </a:rPr>
              <a:t>Capturas del sistema con la regla señalada sobre el control que la aplica: a la izquierda RN-12 bloqueando la compra sin stock, a la derecha el semáforo de reposición (RN-08).</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384048"/>
            <a:ext cx="10911535" cy="658368"/>
          </a:xfrm>
          <a:prstGeom prst="rect">
            <a:avLst/>
          </a:prstGeom>
          <a:noFill/>
          <a:ln/>
        </p:spPr>
        <p:txBody>
          <a:bodyPr wrap="square" lIns="0" tIns="0" rIns="0" bIns="0" rtlCol="0" anchor="ctr"/>
          <a:lstStyle/>
          <a:p>
            <a:pPr indent="0" marL="0">
              <a:buNone/>
            </a:pPr>
            <a:r>
              <a:rPr lang="en-US" sz="3200" b="1" dirty="0">
                <a:solidFill>
                  <a:srgbClr val="14524A"/>
                </a:solidFill>
                <a:latin typeface="Cambria" pitchFamily="34" charset="0"/>
                <a:ea typeface="Cambria" pitchFamily="34" charset="-122"/>
                <a:cs typeface="Cambria" pitchFamily="34" charset="-120"/>
              </a:rPr>
              <a:t>Estado del proyecto y lo que sigue</a:t>
            </a:r>
            <a:endParaRPr lang="en-US" sz="3200" dirty="0"/>
          </a:p>
        </p:txBody>
      </p:sp>
      <p:sp>
        <p:nvSpPr>
          <p:cNvPr id="3" name="Text 1"/>
          <p:cNvSpPr txBox="1"/>
          <p:nvPr/>
        </p:nvSpPr>
        <p:spPr>
          <a:xfrm>
            <a:off x="640080" y="1042416"/>
            <a:ext cx="10911535" cy="384048"/>
          </a:xfrm>
          <a:prstGeom prst="rect">
            <a:avLst/>
          </a:prstGeom>
          <a:noFill/>
          <a:ln/>
        </p:spPr>
        <p:txBody>
          <a:bodyPr wrap="square" lIns="0" tIns="0" rIns="0" bIns="0" rtlCol="0" anchor="ctr"/>
          <a:lstStyle/>
          <a:p>
            <a:pPr indent="0" marL="0">
              <a:buNone/>
            </a:pPr>
            <a:r>
              <a:rPr lang="en-US" sz="1400" dirty="0">
                <a:solidFill>
                  <a:srgbClr val="5D6B66"/>
                </a:solidFill>
                <a:latin typeface="Calibri" pitchFamily="34" charset="0"/>
                <a:ea typeface="Calibri" pitchFamily="34" charset="-122"/>
                <a:cs typeface="Calibri" pitchFamily="34" charset="-120"/>
              </a:rPr>
              <a:t>Dónde estamos parados al cerrar este avance</a:t>
            </a:r>
            <a:endParaRPr lang="en-US" sz="1400" dirty="0"/>
          </a:p>
        </p:txBody>
      </p:sp>
      <p:sp>
        <p:nvSpPr>
          <p:cNvPr id="4" name="Shape 2"/>
          <p:cNvSpPr/>
          <p:nvPr/>
        </p:nvSpPr>
        <p:spPr>
          <a:xfrm>
            <a:off x="640080" y="1719072"/>
            <a:ext cx="3503066" cy="2432304"/>
          </a:xfrm>
          <a:prstGeom prst="roundRect">
            <a:avLst>
              <a:gd name="adj" fmla="val 1880"/>
            </a:avLst>
          </a:prstGeom>
          <a:solidFill>
            <a:srgbClr val="EEF5F1"/>
          </a:solidFill>
          <a:ln w="12700">
            <a:solidFill>
              <a:srgbClr val="D9E5DF"/>
            </a:solidFill>
            <a:prstDash val="solid"/>
          </a:ln>
        </p:spPr>
      </p:sp>
      <p:sp>
        <p:nvSpPr>
          <p:cNvPr id="5" name="Text 3"/>
          <p:cNvSpPr txBox="1"/>
          <p:nvPr/>
        </p:nvSpPr>
        <p:spPr>
          <a:xfrm>
            <a:off x="896112" y="1920240"/>
            <a:ext cx="2991002" cy="274320"/>
          </a:xfrm>
          <a:prstGeom prst="rect">
            <a:avLst/>
          </a:prstGeom>
          <a:noFill/>
          <a:ln/>
        </p:spPr>
        <p:txBody>
          <a:bodyPr wrap="square" lIns="0" tIns="0" rIns="0" bIns="0" rtlCol="0" anchor="ctr"/>
          <a:lstStyle/>
          <a:p>
            <a:pPr indent="0" marL="0">
              <a:buNone/>
            </a:pPr>
            <a:r>
              <a:rPr lang="en-US" sz="1050" b="1" dirty="0">
                <a:solidFill>
                  <a:srgbClr val="2C7A6B"/>
                </a:solidFill>
                <a:latin typeface="Calibri" pitchFamily="34" charset="0"/>
                <a:ea typeface="Calibri" pitchFamily="34" charset="-122"/>
                <a:cs typeface="Calibri" pitchFamily="34" charset="-120"/>
              </a:rPr>
              <a:t>TERMINADO</a:t>
            </a:r>
            <a:endParaRPr lang="en-US" sz="1050" dirty="0"/>
          </a:p>
        </p:txBody>
      </p:sp>
      <p:sp>
        <p:nvSpPr>
          <p:cNvPr id="6" name="Text 4"/>
          <p:cNvSpPr txBox="1"/>
          <p:nvPr/>
        </p:nvSpPr>
        <p:spPr>
          <a:xfrm>
            <a:off x="896112" y="2212848"/>
            <a:ext cx="2991002" cy="365760"/>
          </a:xfrm>
          <a:prstGeom prst="rect">
            <a:avLst/>
          </a:prstGeom>
          <a:noFill/>
          <a:ln/>
        </p:spPr>
        <p:txBody>
          <a:bodyPr wrap="square" lIns="0" tIns="0" rIns="0" bIns="0" rtlCol="0" anchor="ctr"/>
          <a:lstStyle/>
          <a:p>
            <a:pPr indent="0" marL="0">
              <a:buNone/>
            </a:pPr>
            <a:r>
              <a:rPr lang="en-US" sz="1600" b="1" dirty="0">
                <a:solidFill>
                  <a:srgbClr val="14524A"/>
                </a:solidFill>
                <a:latin typeface="Cambria" pitchFamily="34" charset="0"/>
                <a:ea typeface="Cambria" pitchFamily="34" charset="-122"/>
                <a:cs typeface="Cambria" pitchFamily="34" charset="-120"/>
              </a:rPr>
              <a:t>El núcleo funciona</a:t>
            </a:r>
            <a:endParaRPr lang="en-US" sz="1600" dirty="0"/>
          </a:p>
        </p:txBody>
      </p:sp>
      <p:sp>
        <p:nvSpPr>
          <p:cNvPr id="7" name="Text 5"/>
          <p:cNvSpPr txBox="1"/>
          <p:nvPr/>
        </p:nvSpPr>
        <p:spPr>
          <a:xfrm>
            <a:off x="896112" y="2651760"/>
            <a:ext cx="2991002" cy="1298448"/>
          </a:xfrm>
          <a:prstGeom prst="rect">
            <a:avLst/>
          </a:prstGeom>
          <a:noFill/>
          <a:ln/>
        </p:spPr>
        <p:txBody>
          <a:bodyPr wrap="square" lIns="0" tIns="0" rIns="0" bIns="0" rtlCol="0" anchor="t"/>
          <a:lstStyle/>
          <a:p>
            <a:pPr indent="0" marL="0">
              <a:lnSpc>
                <a:spcPts val="1740"/>
              </a:lnSpc>
              <a:buNone/>
            </a:pPr>
            <a:r>
              <a:rPr lang="en-US" sz="1200" dirty="0">
                <a:solidFill>
                  <a:srgbClr val="1C2321"/>
                </a:solidFill>
                <a:latin typeface="Calibri" pitchFamily="34" charset="0"/>
                <a:ea typeface="Calibri" pitchFamily="34" charset="-122"/>
                <a:cs typeface="Calibri" pitchFamily="34" charset="-120"/>
              </a:rPr>
              <a:t>Los tres perfiles, la venta con descuento de inventario, el cobro en línea, la suscripción con despacho automático, la agenda sin cruce, la historia clínica con alertas, el asistente del sitio y los correos automáticos.</a:t>
            </a:r>
            <a:endParaRPr lang="en-US" sz="1200" dirty="0"/>
          </a:p>
        </p:txBody>
      </p:sp>
      <p:sp>
        <p:nvSpPr>
          <p:cNvPr id="8" name="Shape 6"/>
          <p:cNvSpPr/>
          <p:nvPr/>
        </p:nvSpPr>
        <p:spPr>
          <a:xfrm>
            <a:off x="4344314" y="1719072"/>
            <a:ext cx="3503066" cy="2432304"/>
          </a:xfrm>
          <a:prstGeom prst="roundRect">
            <a:avLst>
              <a:gd name="adj" fmla="val 1880"/>
            </a:avLst>
          </a:prstGeom>
          <a:solidFill>
            <a:srgbClr val="EEF5F1"/>
          </a:solidFill>
          <a:ln w="12700">
            <a:solidFill>
              <a:srgbClr val="D9E5DF"/>
            </a:solidFill>
            <a:prstDash val="solid"/>
          </a:ln>
        </p:spPr>
      </p:sp>
      <p:sp>
        <p:nvSpPr>
          <p:cNvPr id="9" name="Text 7"/>
          <p:cNvSpPr txBox="1"/>
          <p:nvPr/>
        </p:nvSpPr>
        <p:spPr>
          <a:xfrm>
            <a:off x="4600346" y="1920240"/>
            <a:ext cx="2991002" cy="274320"/>
          </a:xfrm>
          <a:prstGeom prst="rect">
            <a:avLst/>
          </a:prstGeom>
          <a:noFill/>
          <a:ln/>
        </p:spPr>
        <p:txBody>
          <a:bodyPr wrap="square" lIns="0" tIns="0" rIns="0" bIns="0" rtlCol="0" anchor="ctr"/>
          <a:lstStyle/>
          <a:p>
            <a:pPr indent="0" marL="0">
              <a:buNone/>
            </a:pPr>
            <a:r>
              <a:rPr lang="en-US" sz="1050" b="1" dirty="0">
                <a:solidFill>
                  <a:srgbClr val="E8A33D"/>
                </a:solidFill>
                <a:latin typeface="Calibri" pitchFamily="34" charset="0"/>
                <a:ea typeface="Calibri" pitchFamily="34" charset="-122"/>
                <a:cs typeface="Calibri" pitchFamily="34" charset="-120"/>
              </a:rPr>
              <a:t>EN CURSO</a:t>
            </a:r>
            <a:endParaRPr lang="en-US" sz="1050" dirty="0"/>
          </a:p>
        </p:txBody>
      </p:sp>
      <p:sp>
        <p:nvSpPr>
          <p:cNvPr id="10" name="Text 8"/>
          <p:cNvSpPr txBox="1"/>
          <p:nvPr/>
        </p:nvSpPr>
        <p:spPr>
          <a:xfrm>
            <a:off x="4600346" y="2212848"/>
            <a:ext cx="2991002" cy="365760"/>
          </a:xfrm>
          <a:prstGeom prst="rect">
            <a:avLst/>
          </a:prstGeom>
          <a:noFill/>
          <a:ln/>
        </p:spPr>
        <p:txBody>
          <a:bodyPr wrap="square" lIns="0" tIns="0" rIns="0" bIns="0" rtlCol="0" anchor="ctr"/>
          <a:lstStyle/>
          <a:p>
            <a:pPr indent="0" marL="0">
              <a:buNone/>
            </a:pPr>
            <a:r>
              <a:rPr lang="en-US" sz="1600" b="1" dirty="0">
                <a:solidFill>
                  <a:srgbClr val="14524A"/>
                </a:solidFill>
                <a:latin typeface="Cambria" pitchFamily="34" charset="0"/>
                <a:ea typeface="Cambria" pitchFamily="34" charset="-122"/>
                <a:cs typeface="Cambria" pitchFamily="34" charset="-120"/>
              </a:rPr>
              <a:t>Documentación final</a:t>
            </a:r>
            <a:endParaRPr lang="en-US" sz="1600" dirty="0"/>
          </a:p>
        </p:txBody>
      </p:sp>
      <p:sp>
        <p:nvSpPr>
          <p:cNvPr id="11" name="Text 9"/>
          <p:cNvSpPr txBox="1"/>
          <p:nvPr/>
        </p:nvSpPr>
        <p:spPr>
          <a:xfrm>
            <a:off x="4600346" y="2651760"/>
            <a:ext cx="2991002" cy="1298448"/>
          </a:xfrm>
          <a:prstGeom prst="rect">
            <a:avLst/>
          </a:prstGeom>
          <a:noFill/>
          <a:ln/>
        </p:spPr>
        <p:txBody>
          <a:bodyPr wrap="square" lIns="0" tIns="0" rIns="0" bIns="0" rtlCol="0" anchor="t"/>
          <a:lstStyle/>
          <a:p>
            <a:pPr indent="0" marL="0">
              <a:lnSpc>
                <a:spcPts val="1740"/>
              </a:lnSpc>
              <a:buNone/>
            </a:pPr>
            <a:r>
              <a:rPr lang="en-US" sz="1200" dirty="0">
                <a:solidFill>
                  <a:srgbClr val="1C2321"/>
                </a:solidFill>
                <a:latin typeface="Calibri" pitchFamily="34" charset="0"/>
                <a:ea typeface="Calibri" pitchFamily="34" charset="-122"/>
                <a:cs typeface="Calibri" pitchFamily="34" charset="-120"/>
              </a:rPr>
              <a:t>El documento de requerimientos ya está firmado. Queda cerrar el manual de instalación y el procedimiento de respaldo que exige el RNF-10.</a:t>
            </a:r>
            <a:endParaRPr lang="en-US" sz="1200" dirty="0"/>
          </a:p>
        </p:txBody>
      </p:sp>
      <p:sp>
        <p:nvSpPr>
          <p:cNvPr id="12" name="Shape 10"/>
          <p:cNvSpPr/>
          <p:nvPr/>
        </p:nvSpPr>
        <p:spPr>
          <a:xfrm>
            <a:off x="8048549" y="1719072"/>
            <a:ext cx="3503066" cy="2432304"/>
          </a:xfrm>
          <a:prstGeom prst="roundRect">
            <a:avLst>
              <a:gd name="adj" fmla="val 1880"/>
            </a:avLst>
          </a:prstGeom>
          <a:solidFill>
            <a:srgbClr val="EEF5F1"/>
          </a:solidFill>
          <a:ln w="12700">
            <a:solidFill>
              <a:srgbClr val="D9E5DF"/>
            </a:solidFill>
            <a:prstDash val="solid"/>
          </a:ln>
        </p:spPr>
      </p:sp>
      <p:sp>
        <p:nvSpPr>
          <p:cNvPr id="13" name="Text 11"/>
          <p:cNvSpPr txBox="1"/>
          <p:nvPr/>
        </p:nvSpPr>
        <p:spPr>
          <a:xfrm>
            <a:off x="8304581" y="1920240"/>
            <a:ext cx="2991002" cy="274320"/>
          </a:xfrm>
          <a:prstGeom prst="rect">
            <a:avLst/>
          </a:prstGeom>
          <a:noFill/>
          <a:ln/>
        </p:spPr>
        <p:txBody>
          <a:bodyPr wrap="square" lIns="0" tIns="0" rIns="0" bIns="0" rtlCol="0" anchor="ctr"/>
          <a:lstStyle/>
          <a:p>
            <a:pPr indent="0" marL="0">
              <a:buNone/>
            </a:pPr>
            <a:r>
              <a:rPr lang="en-US" sz="1050" b="1" dirty="0">
                <a:solidFill>
                  <a:srgbClr val="B4652A"/>
                </a:solidFill>
                <a:latin typeface="Calibri" pitchFamily="34" charset="0"/>
                <a:ea typeface="Calibri" pitchFamily="34" charset="-122"/>
                <a:cs typeface="Calibri" pitchFamily="34" charset="-120"/>
              </a:rPr>
              <a:t>PENDIENTE</a:t>
            </a:r>
            <a:endParaRPr lang="en-US" sz="1050" dirty="0"/>
          </a:p>
        </p:txBody>
      </p:sp>
      <p:sp>
        <p:nvSpPr>
          <p:cNvPr id="14" name="Text 12"/>
          <p:cNvSpPr txBox="1"/>
          <p:nvPr/>
        </p:nvSpPr>
        <p:spPr>
          <a:xfrm>
            <a:off x="8304581" y="2212848"/>
            <a:ext cx="2991002" cy="365760"/>
          </a:xfrm>
          <a:prstGeom prst="rect">
            <a:avLst/>
          </a:prstGeom>
          <a:noFill/>
          <a:ln/>
        </p:spPr>
        <p:txBody>
          <a:bodyPr wrap="square" lIns="0" tIns="0" rIns="0" bIns="0" rtlCol="0" anchor="ctr"/>
          <a:lstStyle/>
          <a:p>
            <a:pPr indent="0" marL="0">
              <a:buNone/>
            </a:pPr>
            <a:r>
              <a:rPr lang="en-US" sz="1600" b="1" dirty="0">
                <a:solidFill>
                  <a:srgbClr val="14524A"/>
                </a:solidFill>
                <a:latin typeface="Cambria" pitchFamily="34" charset="0"/>
                <a:ea typeface="Cambria" pitchFamily="34" charset="-122"/>
                <a:cs typeface="Cambria" pitchFamily="34" charset="-120"/>
              </a:rPr>
              <a:t>Salida a producción</a:t>
            </a:r>
            <a:endParaRPr lang="en-US" sz="1600" dirty="0"/>
          </a:p>
        </p:txBody>
      </p:sp>
      <p:sp>
        <p:nvSpPr>
          <p:cNvPr id="15" name="Text 13"/>
          <p:cNvSpPr txBox="1"/>
          <p:nvPr/>
        </p:nvSpPr>
        <p:spPr>
          <a:xfrm>
            <a:off x="8304581" y="2651760"/>
            <a:ext cx="2991002" cy="1298448"/>
          </a:xfrm>
          <a:prstGeom prst="rect">
            <a:avLst/>
          </a:prstGeom>
          <a:noFill/>
          <a:ln/>
        </p:spPr>
        <p:txBody>
          <a:bodyPr wrap="square" lIns="0" tIns="0" rIns="0" bIns="0" rtlCol="0" anchor="t"/>
          <a:lstStyle/>
          <a:p>
            <a:pPr indent="0" marL="0">
              <a:lnSpc>
                <a:spcPts val="1740"/>
              </a:lnSpc>
              <a:buNone/>
            </a:pPr>
            <a:r>
              <a:rPr lang="en-US" sz="1200" dirty="0">
                <a:solidFill>
                  <a:srgbClr val="1C2321"/>
                </a:solidFill>
                <a:latin typeface="Calibri" pitchFamily="34" charset="0"/>
                <a:ea typeface="Calibri" pitchFamily="34" charset="-122"/>
                <a:cs typeface="Calibri" pitchFamily="34" charset="-120"/>
              </a:rPr>
              <a:t>Falta registrar el dominio, contratar el alojamiento y ejecutar la prueba de rendimiento del catálogo en conexión móvil (RNF-04).</a:t>
            </a:r>
            <a:endParaRPr lang="en-US" sz="1200" dirty="0"/>
          </a:p>
        </p:txBody>
      </p:sp>
      <p:sp>
        <p:nvSpPr>
          <p:cNvPr id="16" name="Shape 14"/>
          <p:cNvSpPr/>
          <p:nvPr/>
        </p:nvSpPr>
        <p:spPr>
          <a:xfrm>
            <a:off x="640080" y="4352544"/>
            <a:ext cx="10911535" cy="1481328"/>
          </a:xfrm>
          <a:prstGeom prst="roundRect">
            <a:avLst>
              <a:gd name="adj" fmla="val 3086"/>
            </a:avLst>
          </a:prstGeom>
          <a:solidFill>
            <a:srgbClr val="14524A"/>
          </a:solidFill>
          <a:ln w="12700">
            <a:solidFill>
              <a:srgbClr val="14524A"/>
            </a:solidFill>
            <a:prstDash val="solid"/>
          </a:ln>
        </p:spPr>
      </p:sp>
      <p:sp>
        <p:nvSpPr>
          <p:cNvPr id="17" name="Text 15"/>
          <p:cNvSpPr txBox="1"/>
          <p:nvPr/>
        </p:nvSpPr>
        <p:spPr>
          <a:xfrm>
            <a:off x="1097280" y="4553712"/>
            <a:ext cx="9997135" cy="45720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Las reglas del negocio viven en el sistema.</a:t>
            </a:r>
            <a:endParaRPr lang="en-US" sz="2100" dirty="0"/>
          </a:p>
        </p:txBody>
      </p:sp>
      <p:sp>
        <p:nvSpPr>
          <p:cNvPr id="18" name="Text 16"/>
          <p:cNvSpPr txBox="1"/>
          <p:nvPr/>
        </p:nvSpPr>
        <p:spPr>
          <a:xfrm>
            <a:off x="1645920" y="5047488"/>
            <a:ext cx="8899855" cy="640080"/>
          </a:xfrm>
          <a:prstGeom prst="rect">
            <a:avLst/>
          </a:prstGeom>
          <a:noFill/>
          <a:ln/>
        </p:spPr>
        <p:txBody>
          <a:bodyPr wrap="square" lIns="0" tIns="0" rIns="0" bIns="0" rtlCol="0" anchor="ctr"/>
          <a:lstStyle/>
          <a:p>
            <a:pPr algn="ctr" indent="0" marL="0">
              <a:lnSpc>
                <a:spcPts val="1900"/>
              </a:lnSpc>
              <a:buNone/>
            </a:pPr>
            <a:r>
              <a:rPr lang="en-US" sz="1300" dirty="0">
                <a:solidFill>
                  <a:srgbClr val="CFE3DC"/>
                </a:solidFill>
                <a:latin typeface="Calibri" pitchFamily="34" charset="0"/>
                <a:ea typeface="Calibri" pitchFamily="34" charset="-122"/>
                <a:cs typeface="Calibri" pitchFamily="34" charset="-120"/>
              </a:rPr>
              <a:t>No en la pantalla ni en la memoria del personal: por eso se comprueban solas. Y por eso una veterinaria de barrio puede saber, antes de que empiece el mes, cuánto va a facturar.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VetPet Surco E.I.R.L.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EA2 - VetPet Connect</dc:title>
  <dc:subject>PptxGenJS Presentation</dc:subject>
  <dc:creator>Equipo 4</dc:creator>
  <cp:lastModifiedBy>Equipo 4</cp:lastModifiedBy>
  <cp:revision>1</cp:revision>
  <dcterms:created xsi:type="dcterms:W3CDTF">2026-09-30T01:34:41Z</dcterms:created>
  <dcterms:modified xsi:type="dcterms:W3CDTF">2026-09-30T01:34:41Z</dcterms:modified>
</cp:coreProperties>
</file>