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EA2. La presentación tiene tres partes: para qué existe el negocio, cómo lo estamos construyendo y qué se puede comprobar hoy. Todas las cifras de las últimas láminas salen de ejecutar el proyecto, no de los documentos.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Aviso de ruta para el jurado: primero el negocio, después el método, al final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negocio no es vender una bolsa de alimento: es quedarse con la recompra mensual de esa bolsa. Eso es lo que convierte un local de barrio en un negocio con ingreso previsible.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cinco problemas son el origen de todo lo que viene después: cada requerimiento del sistema responde a uno de ellos, y eso está trazado en la matriz del documento de requerimientos.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jurado pregunta cómo se medirá: OE-1 comparando la venta recurrente antes y después; OE-2 con el desenlace de cada cita, que el sistema obliga a registrar; OE-3 con el reporte de quiebres de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cuotas y las unidades no son una etiqueta comercial: la cantidad se usa de verdad al generar el pedido, así que se ve en el detalle y en el stock descontado.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por qué no Scrum: Scrum necesita un equipo con roles y ceremonias sostenidas en el tiempo. Para un proyecto con tres incrementos aplicamos el ciclo iterativo e incremental, que es el que realmente seguimos. Saber la diferencia vale más que repetir la palabra de moda.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honesto y a la vez fuerte: la especificación formal llegó en el tercer incremento, después de construir. En un modelo evolutivo eso no es un defecto, es el método: se construye para aprender qué hacía falta y luego se consolida.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documento está redactado desde el pedido de la empresa, sin nombrar tecnología, y cierra con un acta de conformidad. Lo que no está ahí se trata como solicitud de cambio.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PHP 8.2 y no 8.3 o superior porque Laravel 12 es la última versión que lo admite, y 8.2 es lo que ofrecen los hostings peruanos económicos. Culqi entra detrás de una interfaz, así que cambiar de pasarela no toca el resto del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MailHog es la pieza que permite demostrar el correo en vivo: se dispara un pedido o un recordatorio y el mensaje aparece en el buzón del navegador, con su diseño y sus datos, sin enviar nada a una casilla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lámina técnica que más pesa: las reglas de negocio no viven en la pantalla, donde cualquier cambio las rompe, sino en el servicio y en el motor de datos. Es lo que exige el RNF-08 del documento de requerimientos.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si el chatbot usa IA: no, y es una decisión, no una carencia. Un motor de palabras clave con una configuración revisable es auditable, no inventa respuestas y no tiene costo por consulta. Para las preguntas frecuentes de una veterinaria es suficiente.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jurado pide demostración en vivo: la suite corre en siete segundos y el recorrido completo de compra se puede mostrar en el navegador.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Si hay una sola idea que quede: las reglas del negocio están escritas en el sistema y se comprueban solas. Eso es lo que separa un prototipo de un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524A"/>
        </a:solidFill>
      </p:bgPr>
    </p:bg>
    <p:spTree>
      <p:nvGrpSpPr>
        <p:cNvPr id="1" name=""/>
        <p:cNvGrpSpPr/>
        <p:nvPr/>
      </p:nvGrpSpPr>
      <p:grpSpPr>
        <a:xfrm>
          <a:off x="0" y="0"/>
          <a:ext cx="0" cy="0"/>
          <a:chOff x="0" y="0"/>
          <a:chExt cx="0" cy="0"/>
        </a:xfrm>
      </p:grpSpPr>
      <p:pic>
        <p:nvPicPr>
          <p:cNvPr id="2" name="Image 0" descr="/tmp/claude-0/-home-user-VetPetSurco/b8d13659-c8d7-578f-913d-52522fae5ff2/scratchpad/ppt/assets/logo.png">    </p:cNvPr>
          <p:cNvPicPr>
            <a:picLocks noChangeAspect="1"/>
          </p:cNvPicPr>
          <p:nvPr/>
        </p:nvPicPr>
        <p:blipFill>
          <a:blip r:embed="rId1"/>
          <a:stretch>
            <a:fillRect/>
          </a:stretch>
        </p:blipFill>
        <p:spPr>
          <a:xfrm>
            <a:off x="914400" y="2103120"/>
            <a:ext cx="1234440" cy="1234440"/>
          </a:xfrm>
          <a:prstGeom prst="rect">
            <a:avLst/>
          </a:prstGeom>
        </p:spPr>
      </p:pic>
      <p:sp>
        <p:nvSpPr>
          <p:cNvPr id="3" name="Text 0"/>
          <p:cNvSpPr txBox="1"/>
          <p:nvPr/>
        </p:nvSpPr>
        <p:spPr>
          <a:xfrm>
            <a:off x="2514600" y="1865376"/>
            <a:ext cx="8778240" cy="548640"/>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Evaluación de Avance 2</a:t>
            </a:r>
            <a:endParaRPr lang="en-US" sz="1900" dirty="0"/>
          </a:p>
        </p:txBody>
      </p:sp>
      <p:sp>
        <p:nvSpPr>
          <p:cNvPr id="4" name="Text 1"/>
          <p:cNvSpPr txBox="1"/>
          <p:nvPr/>
        </p:nvSpPr>
        <p:spPr>
          <a:xfrm>
            <a:off x="2514600" y="2322576"/>
            <a:ext cx="877824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VetPet Connect</a:t>
            </a:r>
            <a:endParaRPr lang="en-US" sz="4400" dirty="0"/>
          </a:p>
        </p:txBody>
      </p:sp>
      <p:sp>
        <p:nvSpPr>
          <p:cNvPr id="5" name="Text 2"/>
          <p:cNvSpPr txBox="1"/>
          <p:nvPr/>
        </p:nvSpPr>
        <p:spPr>
          <a:xfrm>
            <a:off x="2514600" y="3200400"/>
            <a:ext cx="8595360" cy="402336"/>
          </a:xfrm>
          <a:prstGeom prst="rect">
            <a:avLst/>
          </a:prstGeom>
          <a:noFill/>
          <a:ln/>
        </p:spPr>
        <p:txBody>
          <a:bodyPr wrap="square" lIns="0" tIns="0" rIns="0" bIns="0" rtlCol="0" anchor="ctr"/>
          <a:lstStyle/>
          <a:p>
            <a:pPr indent="0" marL="0">
              <a:buNone/>
            </a:pPr>
            <a:r>
              <a:rPr lang="en-US" sz="1500" dirty="0">
                <a:solidFill>
                  <a:srgbClr val="CFE3DC"/>
                </a:solidFill>
                <a:latin typeface="Calibri" pitchFamily="34" charset="0"/>
                <a:ea typeface="Calibri" pitchFamily="34" charset="-122"/>
                <a:cs typeface="Calibri" pitchFamily="34" charset="-120"/>
              </a:rPr>
              <a:t>Visión de negocio, metodología de desarrollo y estado verificable del sistema</a:t>
            </a:r>
            <a:endParaRPr lang="en-US" sz="1500" dirty="0"/>
          </a:p>
        </p:txBody>
      </p:sp>
      <p:sp>
        <p:nvSpPr>
          <p:cNvPr id="6" name="Shape 3"/>
          <p:cNvSpPr/>
          <p:nvPr/>
        </p:nvSpPr>
        <p:spPr>
          <a:xfrm>
            <a:off x="2514600" y="3767328"/>
            <a:ext cx="4206240" cy="384048"/>
          </a:xfrm>
          <a:prstGeom prst="roundRect">
            <a:avLst>
              <a:gd name="adj" fmla="val 119048"/>
            </a:avLst>
          </a:prstGeom>
          <a:solidFill>
            <a:srgbClr val="2C7A6B"/>
          </a:solidFill>
          <a:ln w="12700">
            <a:solidFill>
              <a:srgbClr val="2C7A6B"/>
            </a:solidFill>
            <a:prstDash val="solid"/>
          </a:ln>
        </p:spPr>
      </p:sp>
      <p:sp>
        <p:nvSpPr>
          <p:cNvPr id="7" name="Text 4"/>
          <p:cNvSpPr txBox="1"/>
          <p:nvPr/>
        </p:nvSpPr>
        <p:spPr>
          <a:xfrm>
            <a:off x="2514600" y="3767328"/>
            <a:ext cx="4206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Plataforma B2C  ·  Comercio + salud animal</a:t>
            </a:r>
            <a:endParaRPr lang="en-US" sz="1100" dirty="0"/>
          </a:p>
        </p:txBody>
      </p:sp>
      <p:sp>
        <p:nvSpPr>
          <p:cNvPr id="8" name="Text 5"/>
          <p:cNvSpPr txBox="1"/>
          <p:nvPr/>
        </p:nvSpPr>
        <p:spPr>
          <a:xfrm>
            <a:off x="914400" y="5230368"/>
            <a:ext cx="10332720" cy="731520"/>
          </a:xfrm>
          <a:prstGeom prst="rect">
            <a:avLst/>
          </a:prstGeom>
          <a:noFill/>
          <a:ln/>
        </p:spPr>
        <p:txBody>
          <a:bodyPr wrap="square" lIns="0" tIns="0" rIns="0" bIns="0" rtlCol="0" anchor="ctr"/>
          <a:lstStyle/>
          <a:p>
            <a:pPr indent="0" marL="0">
              <a:lnSpc>
                <a:spcPts val="2000"/>
              </a:lnSpc>
              <a:buNone/>
            </a:pPr>
            <a:r>
              <a:rPr lang="en-US" sz="1300" b="1" dirty="0">
                <a:solidFill>
                  <a:srgbClr val="CFE3DC"/>
                </a:solidFill>
                <a:latin typeface="Calibri" pitchFamily="34" charset="0"/>
                <a:ea typeface="Calibri" pitchFamily="34" charset="-122"/>
                <a:cs typeface="Calibri" pitchFamily="34" charset="-120"/>
              </a:rPr>
              <a:t>VetPet Surco E.I.R.L.  ·  Santiago de Surco, Lima</a:t>
            </a:r>
            <a:endParaRPr lang="en-US" sz="1300" dirty="0"/>
          </a:p>
          <a:p>
            <a:pPr indent="0" marL="0">
              <a:lnSpc>
                <a:spcPts val="2000"/>
              </a:lnSpc>
              <a:buNone/>
            </a:pPr>
            <a:r>
              <a:rPr lang="en-US" sz="1300" dirty="0">
                <a:solidFill>
                  <a:srgbClr val="CFE3DC"/>
                </a:solidFill>
                <a:latin typeface="Calibri" pitchFamily="34" charset="0"/>
                <a:ea typeface="Calibri" pitchFamily="34" charset="-122"/>
                <a:cs typeface="Calibri" pitchFamily="34" charset="-120"/>
              </a:rPr>
              <a:t>Equipo 4  ·  2026  ·  Caso de estudio con fines académicos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Lo que veremos</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Tres preguntas: por qué, cómo y qué hay hoy</a:t>
            </a:r>
            <a:endParaRPr lang="en-US" sz="1400" dirty="0"/>
          </a:p>
        </p:txBody>
      </p:sp>
      <p:sp>
        <p:nvSpPr>
          <p:cNvPr id="4" name="Shape 2"/>
          <p:cNvSpPr/>
          <p:nvPr/>
        </p:nvSpPr>
        <p:spPr>
          <a:xfrm>
            <a:off x="640080" y="1719072"/>
            <a:ext cx="10911535" cy="749808"/>
          </a:xfrm>
          <a:prstGeom prst="roundRect">
            <a:avLst>
              <a:gd name="adj" fmla="val 6098"/>
            </a:avLst>
          </a:prstGeom>
          <a:solidFill>
            <a:srgbClr val="EEF5F1"/>
          </a:solidFill>
          <a:ln w="12700">
            <a:solidFill>
              <a:srgbClr val="D9E5DF"/>
            </a:solidFill>
            <a:prstDash val="solid"/>
          </a:ln>
        </p:spPr>
      </p:sp>
      <p:sp>
        <p:nvSpPr>
          <p:cNvPr id="5" name="Shape 3"/>
          <p:cNvSpPr/>
          <p:nvPr/>
        </p:nvSpPr>
        <p:spPr>
          <a:xfrm>
            <a:off x="859536" y="1892808"/>
            <a:ext cx="402336" cy="402336"/>
          </a:xfrm>
          <a:prstGeom prst="ellipse">
            <a:avLst/>
          </a:prstGeom>
          <a:solidFill>
            <a:srgbClr val="14524A"/>
          </a:solidFill>
          <a:ln w="12700">
            <a:solidFill>
              <a:srgbClr val="14524A"/>
            </a:solidFill>
            <a:prstDash val="solid"/>
          </a:ln>
        </p:spPr>
      </p:sp>
      <p:sp>
        <p:nvSpPr>
          <p:cNvPr id="6" name="Text 4"/>
          <p:cNvSpPr txBox="1"/>
          <p:nvPr/>
        </p:nvSpPr>
        <p:spPr>
          <a:xfrm>
            <a:off x="859536" y="189280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426464" y="1801368"/>
            <a:ext cx="3657600" cy="292608"/>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La visión de negocio</a:t>
            </a:r>
            <a:endParaRPr lang="en-US" sz="1500" dirty="0"/>
          </a:p>
        </p:txBody>
      </p:sp>
      <p:sp>
        <p:nvSpPr>
          <p:cNvPr id="8" name="Text 6"/>
          <p:cNvSpPr txBox="1"/>
          <p:nvPr/>
        </p:nvSpPr>
        <p:spPr>
          <a:xfrm>
            <a:off x="1426464" y="2103120"/>
            <a:ext cx="8778240" cy="274320"/>
          </a:xfrm>
          <a:prstGeom prst="rect">
            <a:avLst/>
          </a:prstGeom>
          <a:noFill/>
          <a:ln/>
        </p:spPr>
        <p:txBody>
          <a:bodyPr wrap="square" lIns="0" tIns="0" rIns="0" bIns="0" rtlCol="0" anchor="ctr"/>
          <a:lstStyle/>
          <a:p>
            <a:pPr indent="0" marL="0">
              <a:buNone/>
            </a:pPr>
            <a:r>
              <a:rPr lang="en-US" sz="1150" dirty="0">
                <a:solidFill>
                  <a:srgbClr val="5D6B66"/>
                </a:solidFill>
                <a:latin typeface="Calibri" pitchFamily="34" charset="0"/>
                <a:ea typeface="Calibri" pitchFamily="34" charset="-122"/>
                <a:cs typeface="Calibri" pitchFamily="34" charset="-120"/>
              </a:rPr>
              <a:t>Qué gasto queremos capturar y por qué hoy se escapa</a:t>
            </a:r>
            <a:endParaRPr lang="en-US" sz="1150" dirty="0"/>
          </a:p>
        </p:txBody>
      </p:sp>
      <p:sp>
        <p:nvSpPr>
          <p:cNvPr id="9" name="Shape 7"/>
          <p:cNvSpPr/>
          <p:nvPr/>
        </p:nvSpPr>
        <p:spPr>
          <a:xfrm>
            <a:off x="640080" y="2578608"/>
            <a:ext cx="10911535" cy="749808"/>
          </a:xfrm>
          <a:prstGeom prst="roundRect">
            <a:avLst>
              <a:gd name="adj" fmla="val 6098"/>
            </a:avLst>
          </a:prstGeom>
          <a:solidFill>
            <a:srgbClr val="EEF5F1"/>
          </a:solidFill>
          <a:ln w="12700">
            <a:solidFill>
              <a:srgbClr val="D9E5DF"/>
            </a:solidFill>
            <a:prstDash val="solid"/>
          </a:ln>
        </p:spPr>
      </p:sp>
      <p:sp>
        <p:nvSpPr>
          <p:cNvPr id="10" name="Shape 8"/>
          <p:cNvSpPr/>
          <p:nvPr/>
        </p:nvSpPr>
        <p:spPr>
          <a:xfrm>
            <a:off x="859536" y="2752344"/>
            <a:ext cx="402336" cy="402336"/>
          </a:xfrm>
          <a:prstGeom prst="ellipse">
            <a:avLst/>
          </a:prstGeom>
          <a:solidFill>
            <a:srgbClr val="14524A"/>
          </a:solidFill>
          <a:ln w="12700">
            <a:solidFill>
              <a:srgbClr val="14524A"/>
            </a:solidFill>
            <a:prstDash val="solid"/>
          </a:ln>
        </p:spPr>
      </p:sp>
      <p:sp>
        <p:nvSpPr>
          <p:cNvPr id="11" name="Text 9"/>
          <p:cNvSpPr txBox="1"/>
          <p:nvPr/>
        </p:nvSpPr>
        <p:spPr>
          <a:xfrm>
            <a:off x="859536" y="275234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426464" y="2660904"/>
            <a:ext cx="3657600" cy="292608"/>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Diagnóstico y objetivos</a:t>
            </a:r>
            <a:endParaRPr lang="en-US" sz="1500" dirty="0"/>
          </a:p>
        </p:txBody>
      </p:sp>
      <p:sp>
        <p:nvSpPr>
          <p:cNvPr id="13" name="Text 11"/>
          <p:cNvSpPr txBox="1"/>
          <p:nvPr/>
        </p:nvSpPr>
        <p:spPr>
          <a:xfrm>
            <a:off x="1426464" y="2962656"/>
            <a:ext cx="8778240" cy="274320"/>
          </a:xfrm>
          <a:prstGeom prst="rect">
            <a:avLst/>
          </a:prstGeom>
          <a:noFill/>
          <a:ln/>
        </p:spPr>
        <p:txBody>
          <a:bodyPr wrap="square" lIns="0" tIns="0" rIns="0" bIns="0" rtlCol="0" anchor="ctr"/>
          <a:lstStyle/>
          <a:p>
            <a:pPr indent="0" marL="0">
              <a:buNone/>
            </a:pPr>
            <a:r>
              <a:rPr lang="en-US" sz="1150" dirty="0">
                <a:solidFill>
                  <a:srgbClr val="5D6B66"/>
                </a:solidFill>
                <a:latin typeface="Calibri" pitchFamily="34" charset="0"/>
                <a:ea typeface="Calibri" pitchFamily="34" charset="-122"/>
                <a:cs typeface="Calibri" pitchFamily="34" charset="-120"/>
              </a:rPr>
              <a:t>Cinco problemas medidos y tres objetivos con métrica</a:t>
            </a:r>
            <a:endParaRPr lang="en-US" sz="1150" dirty="0"/>
          </a:p>
        </p:txBody>
      </p:sp>
      <p:sp>
        <p:nvSpPr>
          <p:cNvPr id="14" name="Shape 12"/>
          <p:cNvSpPr/>
          <p:nvPr/>
        </p:nvSpPr>
        <p:spPr>
          <a:xfrm>
            <a:off x="640080" y="3438144"/>
            <a:ext cx="10911535" cy="749808"/>
          </a:xfrm>
          <a:prstGeom prst="roundRect">
            <a:avLst>
              <a:gd name="adj" fmla="val 6098"/>
            </a:avLst>
          </a:prstGeom>
          <a:solidFill>
            <a:srgbClr val="EEF5F1"/>
          </a:solidFill>
          <a:ln w="12700">
            <a:solidFill>
              <a:srgbClr val="D9E5DF"/>
            </a:solidFill>
            <a:prstDash val="solid"/>
          </a:ln>
        </p:spPr>
      </p:sp>
      <p:sp>
        <p:nvSpPr>
          <p:cNvPr id="15" name="Shape 13"/>
          <p:cNvSpPr/>
          <p:nvPr/>
        </p:nvSpPr>
        <p:spPr>
          <a:xfrm>
            <a:off x="859536" y="3611880"/>
            <a:ext cx="402336" cy="402336"/>
          </a:xfrm>
          <a:prstGeom prst="ellipse">
            <a:avLst/>
          </a:prstGeom>
          <a:solidFill>
            <a:srgbClr val="14524A"/>
          </a:solidFill>
          <a:ln w="12700">
            <a:solidFill>
              <a:srgbClr val="14524A"/>
            </a:solidFill>
            <a:prstDash val="solid"/>
          </a:ln>
        </p:spPr>
      </p:sp>
      <p:sp>
        <p:nvSpPr>
          <p:cNvPr id="16" name="Text 14"/>
          <p:cNvSpPr txBox="1"/>
          <p:nvPr/>
        </p:nvSpPr>
        <p:spPr>
          <a:xfrm>
            <a:off x="859536" y="36118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426464" y="3520440"/>
            <a:ext cx="3657600" cy="292608"/>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La metodología</a:t>
            </a:r>
            <a:endParaRPr lang="en-US" sz="1500" dirty="0"/>
          </a:p>
        </p:txBody>
      </p:sp>
      <p:sp>
        <p:nvSpPr>
          <p:cNvPr id="18" name="Text 16"/>
          <p:cNvSpPr txBox="1"/>
          <p:nvPr/>
        </p:nvSpPr>
        <p:spPr>
          <a:xfrm>
            <a:off x="1426464" y="3822192"/>
            <a:ext cx="8778240" cy="274320"/>
          </a:xfrm>
          <a:prstGeom prst="rect">
            <a:avLst/>
          </a:prstGeom>
          <a:noFill/>
          <a:ln/>
        </p:spPr>
        <p:txBody>
          <a:bodyPr wrap="square" lIns="0" tIns="0" rIns="0" bIns="0" rtlCol="0" anchor="ctr"/>
          <a:lstStyle/>
          <a:p>
            <a:pPr indent="0" marL="0">
              <a:buNone/>
            </a:pPr>
            <a:r>
              <a:rPr lang="en-US" sz="1150" dirty="0">
                <a:solidFill>
                  <a:srgbClr val="5D6B66"/>
                </a:solidFill>
                <a:latin typeface="Calibri" pitchFamily="34" charset="0"/>
                <a:ea typeface="Calibri" pitchFamily="34" charset="-122"/>
                <a:cs typeface="Calibri" pitchFamily="34" charset="-120"/>
              </a:rPr>
              <a:t>Modelo iterativo e incremental, y la evidencia de cada incremento</a:t>
            </a:r>
            <a:endParaRPr lang="en-US" sz="1150" dirty="0"/>
          </a:p>
        </p:txBody>
      </p:sp>
      <p:sp>
        <p:nvSpPr>
          <p:cNvPr id="19" name="Shape 17"/>
          <p:cNvSpPr/>
          <p:nvPr/>
        </p:nvSpPr>
        <p:spPr>
          <a:xfrm>
            <a:off x="640080" y="4297680"/>
            <a:ext cx="10911535" cy="749808"/>
          </a:xfrm>
          <a:prstGeom prst="roundRect">
            <a:avLst>
              <a:gd name="adj" fmla="val 6098"/>
            </a:avLst>
          </a:prstGeom>
          <a:solidFill>
            <a:srgbClr val="EEF5F1"/>
          </a:solidFill>
          <a:ln w="12700">
            <a:solidFill>
              <a:srgbClr val="D9E5DF"/>
            </a:solidFill>
            <a:prstDash val="solid"/>
          </a:ln>
        </p:spPr>
      </p:sp>
      <p:sp>
        <p:nvSpPr>
          <p:cNvPr id="20" name="Shape 18"/>
          <p:cNvSpPr/>
          <p:nvPr/>
        </p:nvSpPr>
        <p:spPr>
          <a:xfrm>
            <a:off x="859536" y="4471416"/>
            <a:ext cx="402336" cy="402336"/>
          </a:xfrm>
          <a:prstGeom prst="ellipse">
            <a:avLst/>
          </a:prstGeom>
          <a:solidFill>
            <a:srgbClr val="14524A"/>
          </a:solidFill>
          <a:ln w="12700">
            <a:solidFill>
              <a:srgbClr val="14524A"/>
            </a:solidFill>
            <a:prstDash val="solid"/>
          </a:ln>
        </p:spPr>
      </p:sp>
      <p:sp>
        <p:nvSpPr>
          <p:cNvPr id="21" name="Text 19"/>
          <p:cNvSpPr txBox="1"/>
          <p:nvPr/>
        </p:nvSpPr>
        <p:spPr>
          <a:xfrm>
            <a:off x="859536" y="447141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1426464" y="4379976"/>
            <a:ext cx="3657600" cy="292608"/>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Requerimientos y tecnología</a:t>
            </a:r>
            <a:endParaRPr lang="en-US" sz="1500" dirty="0"/>
          </a:p>
        </p:txBody>
      </p:sp>
      <p:sp>
        <p:nvSpPr>
          <p:cNvPr id="23" name="Text 21"/>
          <p:cNvSpPr txBox="1"/>
          <p:nvPr/>
        </p:nvSpPr>
        <p:spPr>
          <a:xfrm>
            <a:off x="1426464" y="4681728"/>
            <a:ext cx="8778240" cy="274320"/>
          </a:xfrm>
          <a:prstGeom prst="rect">
            <a:avLst/>
          </a:prstGeom>
          <a:noFill/>
          <a:ln/>
        </p:spPr>
        <p:txBody>
          <a:bodyPr wrap="square" lIns="0" tIns="0" rIns="0" bIns="0" rtlCol="0" anchor="ctr"/>
          <a:lstStyle/>
          <a:p>
            <a:pPr indent="0" marL="0">
              <a:buNone/>
            </a:pPr>
            <a:r>
              <a:rPr lang="en-US" sz="1150" dirty="0">
                <a:solidFill>
                  <a:srgbClr val="5D6B66"/>
                </a:solidFill>
                <a:latin typeface="Calibri" pitchFamily="34" charset="0"/>
                <a:ea typeface="Calibri" pitchFamily="34" charset="-122"/>
                <a:cs typeface="Calibri" pitchFamily="34" charset="-120"/>
              </a:rPr>
              <a:t>Qué pide el negocio, con qué está construido y cómo se hacen cumplir las reglas</a:t>
            </a:r>
            <a:endParaRPr lang="en-US" sz="1150" dirty="0"/>
          </a:p>
        </p:txBody>
      </p:sp>
      <p:sp>
        <p:nvSpPr>
          <p:cNvPr id="24" name="Shape 22"/>
          <p:cNvSpPr/>
          <p:nvPr/>
        </p:nvSpPr>
        <p:spPr>
          <a:xfrm>
            <a:off x="640080" y="5157216"/>
            <a:ext cx="10911535" cy="749808"/>
          </a:xfrm>
          <a:prstGeom prst="roundRect">
            <a:avLst>
              <a:gd name="adj" fmla="val 6098"/>
            </a:avLst>
          </a:prstGeom>
          <a:solidFill>
            <a:srgbClr val="EEF5F1"/>
          </a:solidFill>
          <a:ln w="12700">
            <a:solidFill>
              <a:srgbClr val="D9E5DF"/>
            </a:solidFill>
            <a:prstDash val="solid"/>
          </a:ln>
        </p:spPr>
      </p:sp>
      <p:sp>
        <p:nvSpPr>
          <p:cNvPr id="25" name="Shape 23"/>
          <p:cNvSpPr/>
          <p:nvPr/>
        </p:nvSpPr>
        <p:spPr>
          <a:xfrm>
            <a:off x="859536" y="5330952"/>
            <a:ext cx="402336" cy="402336"/>
          </a:xfrm>
          <a:prstGeom prst="ellipse">
            <a:avLst/>
          </a:prstGeom>
          <a:solidFill>
            <a:srgbClr val="14524A"/>
          </a:solidFill>
          <a:ln w="12700">
            <a:solidFill>
              <a:srgbClr val="14524A"/>
            </a:solidFill>
            <a:prstDash val="solid"/>
          </a:ln>
        </p:spPr>
      </p:sp>
      <p:sp>
        <p:nvSpPr>
          <p:cNvPr id="26" name="Text 24"/>
          <p:cNvSpPr txBox="1"/>
          <p:nvPr/>
        </p:nvSpPr>
        <p:spPr>
          <a:xfrm>
            <a:off x="859536" y="533095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txBox="1"/>
          <p:nvPr/>
        </p:nvSpPr>
        <p:spPr>
          <a:xfrm>
            <a:off x="1426464" y="5239512"/>
            <a:ext cx="3657600" cy="292608"/>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Evidencia y estado</a:t>
            </a:r>
            <a:endParaRPr lang="en-US" sz="1500" dirty="0"/>
          </a:p>
        </p:txBody>
      </p:sp>
      <p:sp>
        <p:nvSpPr>
          <p:cNvPr id="28" name="Text 26"/>
          <p:cNvSpPr txBox="1"/>
          <p:nvPr/>
        </p:nvSpPr>
        <p:spPr>
          <a:xfrm>
            <a:off x="1426464" y="5541264"/>
            <a:ext cx="8778240" cy="274320"/>
          </a:xfrm>
          <a:prstGeom prst="rect">
            <a:avLst/>
          </a:prstGeom>
          <a:noFill/>
          <a:ln/>
        </p:spPr>
        <p:txBody>
          <a:bodyPr wrap="square" lIns="0" tIns="0" rIns="0" bIns="0" rtlCol="0" anchor="ctr"/>
          <a:lstStyle/>
          <a:p>
            <a:pPr indent="0" marL="0">
              <a:buNone/>
            </a:pPr>
            <a:r>
              <a:rPr lang="en-US" sz="1150" dirty="0">
                <a:solidFill>
                  <a:srgbClr val="5D6B66"/>
                </a:solidFill>
                <a:latin typeface="Calibri" pitchFamily="34" charset="0"/>
                <a:ea typeface="Calibri" pitchFamily="34" charset="-122"/>
                <a:cs typeface="Calibri" pitchFamily="34" charset="-120"/>
              </a:rPr>
              <a:t>137 pruebas ejecutadas y lo que falta para producción</a:t>
            </a:r>
            <a:endParaRPr lang="en-US" sz="1150" dirty="0"/>
          </a:p>
        </p:txBody>
      </p:sp>
      <p:sp>
        <p:nvSpPr>
          <p:cNvPr id="29" name="Text 27"/>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Cada afirmación de esta presentación se puede verificar en el repositorio del proyecto.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La visión de negocio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Qué queremos que cambie en VetPet Surco</a:t>
            </a:r>
            <a:endParaRPr lang="en-US" sz="1400" dirty="0"/>
          </a:p>
        </p:txBody>
      </p:sp>
      <p:sp>
        <p:nvSpPr>
          <p:cNvPr id="4" name="Shape 2"/>
          <p:cNvSpPr/>
          <p:nvPr/>
        </p:nvSpPr>
        <p:spPr>
          <a:xfrm>
            <a:off x="640080" y="1664208"/>
            <a:ext cx="10911535" cy="1024128"/>
          </a:xfrm>
          <a:prstGeom prst="roundRect">
            <a:avLst>
              <a:gd name="adj" fmla="val 4464"/>
            </a:avLst>
          </a:prstGeom>
          <a:solidFill>
            <a:srgbClr val="14524A"/>
          </a:solidFill>
          <a:ln w="12700">
            <a:solidFill>
              <a:srgbClr val="14524A"/>
            </a:solidFill>
            <a:prstDash val="solid"/>
          </a:ln>
        </p:spPr>
      </p:sp>
      <p:sp>
        <p:nvSpPr>
          <p:cNvPr id="5" name="Text 3"/>
          <p:cNvSpPr txBox="1"/>
          <p:nvPr/>
        </p:nvSpPr>
        <p:spPr>
          <a:xfrm>
            <a:off x="1005840" y="1664208"/>
            <a:ext cx="10180015" cy="10241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Que el gasto recurrente del dueño de mascota deje de depender de que pase por la puerta del local.</a:t>
            </a:r>
            <a:endParaRPr lang="en-US" sz="1900" dirty="0"/>
          </a:p>
        </p:txBody>
      </p:sp>
      <p:sp>
        <p:nvSpPr>
          <p:cNvPr id="6" name="Shape 4"/>
          <p:cNvSpPr/>
          <p:nvPr/>
        </p:nvSpPr>
        <p:spPr>
          <a:xfrm>
            <a:off x="640080" y="2871216"/>
            <a:ext cx="3503066" cy="2286000"/>
          </a:xfrm>
          <a:prstGeom prst="roundRect">
            <a:avLst>
              <a:gd name="adj" fmla="val 2000"/>
            </a:avLst>
          </a:prstGeom>
          <a:solidFill>
            <a:srgbClr val="EEF5F1"/>
          </a:solidFill>
          <a:ln w="12700">
            <a:solidFill>
              <a:srgbClr val="D9E5DF"/>
            </a:solidFill>
            <a:prstDash val="solid"/>
          </a:ln>
        </p:spPr>
      </p:sp>
      <p:sp>
        <p:nvSpPr>
          <p:cNvPr id="7" name="Text 5"/>
          <p:cNvSpPr txBox="1"/>
          <p:nvPr/>
        </p:nvSpPr>
        <p:spPr>
          <a:xfrm>
            <a:off x="896112" y="3072384"/>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HOY</a:t>
            </a:r>
            <a:endParaRPr lang="en-US" sz="1050" dirty="0"/>
          </a:p>
        </p:txBody>
      </p:sp>
      <p:sp>
        <p:nvSpPr>
          <p:cNvPr id="8" name="Text 6"/>
          <p:cNvSpPr txBox="1"/>
          <p:nvPr/>
        </p:nvSpPr>
        <p:spPr>
          <a:xfrm>
            <a:off x="896112" y="3364992"/>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Negocio de mostrador</a:t>
            </a:r>
            <a:endParaRPr lang="en-US" sz="1600" dirty="0"/>
          </a:p>
        </p:txBody>
      </p:sp>
      <p:sp>
        <p:nvSpPr>
          <p:cNvPr id="9" name="Text 7"/>
          <p:cNvSpPr txBox="1"/>
          <p:nvPr/>
        </p:nvSpPr>
        <p:spPr>
          <a:xfrm>
            <a:off x="896112" y="3803904"/>
            <a:ext cx="2991002" cy="115214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El ingreso es igual al tránsito peatonal del distrito. Sube en campaña de vacunación y cae el resto del año. Nadie sabe cuánto entrará el próximo mes.</a:t>
            </a:r>
            <a:endParaRPr lang="en-US" sz="1200" dirty="0"/>
          </a:p>
        </p:txBody>
      </p:sp>
      <p:sp>
        <p:nvSpPr>
          <p:cNvPr id="10" name="Shape 8"/>
          <p:cNvSpPr/>
          <p:nvPr/>
        </p:nvSpPr>
        <p:spPr>
          <a:xfrm>
            <a:off x="4344314" y="2871216"/>
            <a:ext cx="3503066" cy="2286000"/>
          </a:xfrm>
          <a:prstGeom prst="roundRect">
            <a:avLst>
              <a:gd name="adj" fmla="val 2000"/>
            </a:avLst>
          </a:prstGeom>
          <a:solidFill>
            <a:srgbClr val="EEF5F1"/>
          </a:solidFill>
          <a:ln w="12700">
            <a:solidFill>
              <a:srgbClr val="D9E5DF"/>
            </a:solidFill>
            <a:prstDash val="solid"/>
          </a:ln>
        </p:spPr>
      </p:sp>
      <p:sp>
        <p:nvSpPr>
          <p:cNvPr id="11" name="Text 9"/>
          <p:cNvSpPr txBox="1"/>
          <p:nvPr/>
        </p:nvSpPr>
        <p:spPr>
          <a:xfrm>
            <a:off x="4600346" y="3072384"/>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CON LA PLATAFORMA</a:t>
            </a:r>
            <a:endParaRPr lang="en-US" sz="1050" dirty="0"/>
          </a:p>
        </p:txBody>
      </p:sp>
      <p:sp>
        <p:nvSpPr>
          <p:cNvPr id="12" name="Text 10"/>
          <p:cNvSpPr txBox="1"/>
          <p:nvPr/>
        </p:nvSpPr>
        <p:spPr>
          <a:xfrm>
            <a:off x="4600346" y="3364992"/>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Base de clientes activa</a:t>
            </a:r>
            <a:endParaRPr lang="en-US" sz="1600" dirty="0"/>
          </a:p>
        </p:txBody>
      </p:sp>
      <p:sp>
        <p:nvSpPr>
          <p:cNvPr id="13" name="Text 11"/>
          <p:cNvSpPr txBox="1"/>
          <p:nvPr/>
        </p:nvSpPr>
        <p:spPr>
          <a:xfrm>
            <a:off x="4600346" y="3803904"/>
            <a:ext cx="2991002" cy="115214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El ingreso es igual a los clientes suscritos más las citas agendadas. Se conoce antes de que empiece el mes, porque cada plan tiene su fecha de despacho.</a:t>
            </a:r>
            <a:endParaRPr lang="en-US" sz="1200" dirty="0"/>
          </a:p>
        </p:txBody>
      </p:sp>
      <p:sp>
        <p:nvSpPr>
          <p:cNvPr id="14" name="Shape 12"/>
          <p:cNvSpPr/>
          <p:nvPr/>
        </p:nvSpPr>
        <p:spPr>
          <a:xfrm>
            <a:off x="8048549" y="2871216"/>
            <a:ext cx="3503066" cy="2286000"/>
          </a:xfrm>
          <a:prstGeom prst="roundRect">
            <a:avLst>
              <a:gd name="adj" fmla="val 2000"/>
            </a:avLst>
          </a:prstGeom>
          <a:solidFill>
            <a:srgbClr val="EEF5F1"/>
          </a:solidFill>
          <a:ln w="12700">
            <a:solidFill>
              <a:srgbClr val="D9E5DF"/>
            </a:solidFill>
            <a:prstDash val="solid"/>
          </a:ln>
        </p:spPr>
      </p:sp>
      <p:sp>
        <p:nvSpPr>
          <p:cNvPr id="15" name="Text 13"/>
          <p:cNvSpPr txBox="1"/>
          <p:nvPr/>
        </p:nvSpPr>
        <p:spPr>
          <a:xfrm>
            <a:off x="8304581" y="3072384"/>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LA PALANCA</a:t>
            </a:r>
            <a:endParaRPr lang="en-US" sz="1050" dirty="0"/>
          </a:p>
        </p:txBody>
      </p:sp>
      <p:sp>
        <p:nvSpPr>
          <p:cNvPr id="16" name="Text 14"/>
          <p:cNvSpPr txBox="1"/>
          <p:nvPr/>
        </p:nvSpPr>
        <p:spPr>
          <a:xfrm>
            <a:off x="8304581" y="3364992"/>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Gasto predecible</a:t>
            </a:r>
            <a:endParaRPr lang="en-US" sz="1600" dirty="0"/>
          </a:p>
        </p:txBody>
      </p:sp>
      <p:sp>
        <p:nvSpPr>
          <p:cNvPr id="17" name="Text 15"/>
          <p:cNvSpPr txBox="1"/>
          <p:nvPr/>
        </p:nvSpPr>
        <p:spPr>
          <a:xfrm>
            <a:off x="8304581" y="3803904"/>
            <a:ext cx="2991002" cy="115214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Alimento, arena, vacunas y controles se repiten cada mes. Quien captura esa recurrencia estabiliza su caja; quien espera en el mostrador, no.</a:t>
            </a:r>
            <a:endParaRPr lang="en-US" sz="1200" dirty="0"/>
          </a:p>
        </p:txBody>
      </p:sp>
      <p:sp>
        <p:nvSpPr>
          <p:cNvPr id="18" name="Shape 16"/>
          <p:cNvSpPr/>
          <p:nvPr/>
        </p:nvSpPr>
        <p:spPr>
          <a:xfrm>
            <a:off x="640080" y="5340096"/>
            <a:ext cx="10911535" cy="566928"/>
          </a:xfrm>
          <a:prstGeom prst="roundRect">
            <a:avLst>
              <a:gd name="adj" fmla="val 8065"/>
            </a:avLst>
          </a:prstGeom>
          <a:solidFill>
            <a:srgbClr val="EEF5F1"/>
          </a:solidFill>
          <a:ln w="12700">
            <a:solidFill>
              <a:srgbClr val="D9E5DF"/>
            </a:solidFill>
            <a:prstDash val="solid"/>
          </a:ln>
        </p:spPr>
      </p:sp>
      <p:sp>
        <p:nvSpPr>
          <p:cNvPr id="19" name="Text 17"/>
          <p:cNvSpPr txBox="1"/>
          <p:nvPr/>
        </p:nvSpPr>
        <p:spPr>
          <a:xfrm>
            <a:off x="914400" y="5340096"/>
            <a:ext cx="10362895" cy="566928"/>
          </a:xfrm>
          <a:prstGeom prst="rect">
            <a:avLst/>
          </a:prstGeom>
          <a:noFill/>
          <a:ln/>
        </p:spPr>
        <p:txBody>
          <a:bodyPr wrap="square" lIns="0" tIns="0" rIns="0" bIns="0" rtlCol="0" anchor="ctr"/>
          <a:lstStyle/>
          <a:p>
            <a:pPr indent="0" marL="0">
              <a:buNone/>
            </a:pPr>
            <a:r>
              <a:rPr lang="en-US" sz="1200" dirty="0">
                <a:solidFill>
                  <a:srgbClr val="1C2321"/>
                </a:solidFill>
                <a:latin typeface="Calibri" pitchFamily="34" charset="0"/>
                <a:ea typeface="Calibri" pitchFamily="34" charset="-122"/>
                <a:cs typeface="Calibri" pitchFamily="34" charset="-120"/>
              </a:rPr>
              <a:t>Modelo B2C: la empresa vende directo al consumidor final, sin intermediarios, y la mascota es el motivo de la recompra.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Diagnóstico: cinco problemas concretos</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Lo que hoy le cuesta dinero a la empresa, según el levantamiento</a:t>
            </a:r>
            <a:endParaRPr lang="en-US" sz="1400" dirty="0"/>
          </a:p>
        </p:txBody>
      </p:sp>
      <p:sp>
        <p:nvSpPr>
          <p:cNvPr id="4" name="Shape 2"/>
          <p:cNvSpPr/>
          <p:nvPr/>
        </p:nvSpPr>
        <p:spPr>
          <a:xfrm>
            <a:off x="640080" y="1755648"/>
            <a:ext cx="10911535" cy="768096"/>
          </a:xfrm>
          <a:prstGeom prst="roundRect">
            <a:avLst>
              <a:gd name="adj" fmla="val 5952"/>
            </a:avLst>
          </a:prstGeom>
          <a:solidFill>
            <a:srgbClr val="EEF5F1"/>
          </a:solidFill>
          <a:ln w="12700">
            <a:solidFill>
              <a:srgbClr val="D9E5DF"/>
            </a:solidFill>
            <a:prstDash val="solid"/>
          </a:ln>
        </p:spPr>
      </p:sp>
      <p:sp>
        <p:nvSpPr>
          <p:cNvPr id="5" name="Shape 3"/>
          <p:cNvSpPr/>
          <p:nvPr/>
        </p:nvSpPr>
        <p:spPr>
          <a:xfrm>
            <a:off x="841248" y="1993392"/>
            <a:ext cx="749808" cy="292608"/>
          </a:xfrm>
          <a:prstGeom prst="roundRect">
            <a:avLst>
              <a:gd name="adj" fmla="val 156250"/>
            </a:avLst>
          </a:prstGeom>
          <a:solidFill>
            <a:srgbClr val="14524A"/>
          </a:solidFill>
          <a:ln w="12700">
            <a:solidFill>
              <a:srgbClr val="14524A"/>
            </a:solidFill>
            <a:prstDash val="solid"/>
          </a:ln>
        </p:spPr>
      </p:sp>
      <p:sp>
        <p:nvSpPr>
          <p:cNvPr id="6" name="Text 4"/>
          <p:cNvSpPr txBox="1"/>
          <p:nvPr/>
        </p:nvSpPr>
        <p:spPr>
          <a:xfrm>
            <a:off x="841248" y="1993392"/>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N-01</a:t>
            </a:r>
            <a:endParaRPr lang="en-US" sz="1050" dirty="0"/>
          </a:p>
        </p:txBody>
      </p:sp>
      <p:sp>
        <p:nvSpPr>
          <p:cNvPr id="7" name="Text 5"/>
          <p:cNvSpPr txBox="1"/>
          <p:nvPr/>
        </p:nvSpPr>
        <p:spPr>
          <a:xfrm>
            <a:off x="1719072" y="1828800"/>
            <a:ext cx="4846320" cy="310896"/>
          </a:xfrm>
          <a:prstGeom prst="rect">
            <a:avLst/>
          </a:prstGeom>
          <a:noFill/>
          <a:ln/>
        </p:spPr>
        <p:txBody>
          <a:bodyPr wrap="square" lIns="0" tIns="0" rIns="0" bIns="0" rtlCol="0" anchor="ctr"/>
          <a:lstStyle/>
          <a:p>
            <a:pPr indent="0" marL="0">
              <a:buNone/>
            </a:pPr>
            <a:r>
              <a:rPr lang="en-US" sz="1250" b="1" dirty="0">
                <a:solidFill>
                  <a:srgbClr val="1C2321"/>
                </a:solidFill>
                <a:latin typeface="Calibri" pitchFamily="34" charset="0"/>
                <a:ea typeface="Calibri" pitchFamily="34" charset="-122"/>
                <a:cs typeface="Calibri" pitchFamily="34" charset="-120"/>
              </a:rPr>
              <a:t>Las citas se coordinan por llamada y WhatsApp personal</a:t>
            </a:r>
            <a:endParaRPr lang="en-US" sz="1250" dirty="0"/>
          </a:p>
        </p:txBody>
      </p:sp>
      <p:sp>
        <p:nvSpPr>
          <p:cNvPr id="8" name="Text 6"/>
          <p:cNvSpPr txBox="1"/>
          <p:nvPr/>
        </p:nvSpPr>
        <p:spPr>
          <a:xfrm>
            <a:off x="1719072" y="2139696"/>
            <a:ext cx="9235440" cy="31089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Dos mascotas citadas a la misma hora, y clientes que no logran comunicarse y se van</a:t>
            </a:r>
            <a:endParaRPr lang="en-US" sz="1100" dirty="0"/>
          </a:p>
        </p:txBody>
      </p:sp>
      <p:sp>
        <p:nvSpPr>
          <p:cNvPr id="9" name="Shape 7"/>
          <p:cNvSpPr/>
          <p:nvPr/>
        </p:nvSpPr>
        <p:spPr>
          <a:xfrm>
            <a:off x="640080" y="2615184"/>
            <a:ext cx="10911535" cy="768096"/>
          </a:xfrm>
          <a:prstGeom prst="roundRect">
            <a:avLst>
              <a:gd name="adj" fmla="val 5952"/>
            </a:avLst>
          </a:prstGeom>
          <a:solidFill>
            <a:srgbClr val="EEF5F1"/>
          </a:solidFill>
          <a:ln w="12700">
            <a:solidFill>
              <a:srgbClr val="D9E5DF"/>
            </a:solidFill>
            <a:prstDash val="solid"/>
          </a:ln>
        </p:spPr>
      </p:sp>
      <p:sp>
        <p:nvSpPr>
          <p:cNvPr id="10" name="Shape 8"/>
          <p:cNvSpPr/>
          <p:nvPr/>
        </p:nvSpPr>
        <p:spPr>
          <a:xfrm>
            <a:off x="841248" y="2852928"/>
            <a:ext cx="749808" cy="292608"/>
          </a:xfrm>
          <a:prstGeom prst="roundRect">
            <a:avLst>
              <a:gd name="adj" fmla="val 156250"/>
            </a:avLst>
          </a:prstGeom>
          <a:solidFill>
            <a:srgbClr val="14524A"/>
          </a:solidFill>
          <a:ln w="12700">
            <a:solidFill>
              <a:srgbClr val="14524A"/>
            </a:solidFill>
            <a:prstDash val="solid"/>
          </a:ln>
        </p:spPr>
      </p:sp>
      <p:sp>
        <p:nvSpPr>
          <p:cNvPr id="11" name="Text 9"/>
          <p:cNvSpPr txBox="1"/>
          <p:nvPr/>
        </p:nvSpPr>
        <p:spPr>
          <a:xfrm>
            <a:off x="841248" y="2852928"/>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N-02</a:t>
            </a:r>
            <a:endParaRPr lang="en-US" sz="1050" dirty="0"/>
          </a:p>
        </p:txBody>
      </p:sp>
      <p:sp>
        <p:nvSpPr>
          <p:cNvPr id="12" name="Text 10"/>
          <p:cNvSpPr txBox="1"/>
          <p:nvPr/>
        </p:nvSpPr>
        <p:spPr>
          <a:xfrm>
            <a:off x="1719072" y="2688336"/>
            <a:ext cx="4846320" cy="310896"/>
          </a:xfrm>
          <a:prstGeom prst="rect">
            <a:avLst/>
          </a:prstGeom>
          <a:noFill/>
          <a:ln/>
        </p:spPr>
        <p:txBody>
          <a:bodyPr wrap="square" lIns="0" tIns="0" rIns="0" bIns="0" rtlCol="0" anchor="ctr"/>
          <a:lstStyle/>
          <a:p>
            <a:pPr indent="0" marL="0">
              <a:buNone/>
            </a:pPr>
            <a:r>
              <a:rPr lang="en-US" sz="1250" b="1" dirty="0">
                <a:solidFill>
                  <a:srgbClr val="1C2321"/>
                </a:solidFill>
                <a:latin typeface="Calibri" pitchFamily="34" charset="0"/>
                <a:ea typeface="Calibri" pitchFamily="34" charset="-122"/>
                <a:cs typeface="Calibri" pitchFamily="34" charset="-120"/>
              </a:rPr>
              <a:t>El historial de cada mascota vive en fichas de cartón</a:t>
            </a:r>
            <a:endParaRPr lang="en-US" sz="1250" dirty="0"/>
          </a:p>
        </p:txBody>
      </p:sp>
      <p:sp>
        <p:nvSpPr>
          <p:cNvPr id="13" name="Text 11"/>
          <p:cNvSpPr txBox="1"/>
          <p:nvPr/>
        </p:nvSpPr>
        <p:spPr>
          <a:xfrm>
            <a:off x="1719072" y="2999232"/>
            <a:ext cx="9235440" cy="31089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Información que se pierde y que no se puede consultar de forma remota</a:t>
            </a:r>
            <a:endParaRPr lang="en-US" sz="1100" dirty="0"/>
          </a:p>
        </p:txBody>
      </p:sp>
      <p:sp>
        <p:nvSpPr>
          <p:cNvPr id="14" name="Shape 12"/>
          <p:cNvSpPr/>
          <p:nvPr/>
        </p:nvSpPr>
        <p:spPr>
          <a:xfrm>
            <a:off x="640080" y="3474720"/>
            <a:ext cx="10911535" cy="768096"/>
          </a:xfrm>
          <a:prstGeom prst="roundRect">
            <a:avLst>
              <a:gd name="adj" fmla="val 5952"/>
            </a:avLst>
          </a:prstGeom>
          <a:solidFill>
            <a:srgbClr val="EEF5F1"/>
          </a:solidFill>
          <a:ln w="12700">
            <a:solidFill>
              <a:srgbClr val="D9E5DF"/>
            </a:solidFill>
            <a:prstDash val="solid"/>
          </a:ln>
        </p:spPr>
      </p:sp>
      <p:sp>
        <p:nvSpPr>
          <p:cNvPr id="15" name="Shape 13"/>
          <p:cNvSpPr/>
          <p:nvPr/>
        </p:nvSpPr>
        <p:spPr>
          <a:xfrm>
            <a:off x="841248" y="3712464"/>
            <a:ext cx="749808" cy="292608"/>
          </a:xfrm>
          <a:prstGeom prst="roundRect">
            <a:avLst>
              <a:gd name="adj" fmla="val 156250"/>
            </a:avLst>
          </a:prstGeom>
          <a:solidFill>
            <a:srgbClr val="14524A"/>
          </a:solidFill>
          <a:ln w="12700">
            <a:solidFill>
              <a:srgbClr val="14524A"/>
            </a:solidFill>
            <a:prstDash val="solid"/>
          </a:ln>
        </p:spPr>
      </p:sp>
      <p:sp>
        <p:nvSpPr>
          <p:cNvPr id="16" name="Text 14"/>
          <p:cNvSpPr txBox="1"/>
          <p:nvPr/>
        </p:nvSpPr>
        <p:spPr>
          <a:xfrm>
            <a:off x="841248" y="3712464"/>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N-03</a:t>
            </a:r>
            <a:endParaRPr lang="en-US" sz="1050" dirty="0"/>
          </a:p>
        </p:txBody>
      </p:sp>
      <p:sp>
        <p:nvSpPr>
          <p:cNvPr id="17" name="Text 15"/>
          <p:cNvSpPr txBox="1"/>
          <p:nvPr/>
        </p:nvSpPr>
        <p:spPr>
          <a:xfrm>
            <a:off x="1719072" y="3547872"/>
            <a:ext cx="4846320" cy="310896"/>
          </a:xfrm>
          <a:prstGeom prst="rect">
            <a:avLst/>
          </a:prstGeom>
          <a:noFill/>
          <a:ln/>
        </p:spPr>
        <p:txBody>
          <a:bodyPr wrap="square" lIns="0" tIns="0" rIns="0" bIns="0" rtlCol="0" anchor="ctr"/>
          <a:lstStyle/>
          <a:p>
            <a:pPr indent="0" marL="0">
              <a:buNone/>
            </a:pPr>
            <a:r>
              <a:rPr lang="en-US" sz="1250" b="1" dirty="0">
                <a:solidFill>
                  <a:srgbClr val="1C2321"/>
                </a:solidFill>
                <a:latin typeface="Calibri" pitchFamily="34" charset="0"/>
                <a:ea typeface="Calibri" pitchFamily="34" charset="-122"/>
                <a:cs typeface="Calibri" pitchFamily="34" charset="-120"/>
              </a:rPr>
              <a:t>El inventario se lleva en un cuaderno</a:t>
            </a:r>
            <a:endParaRPr lang="en-US" sz="1250" dirty="0"/>
          </a:p>
        </p:txBody>
      </p:sp>
      <p:sp>
        <p:nvSpPr>
          <p:cNvPr id="18" name="Text 16"/>
          <p:cNvSpPr txBox="1"/>
          <p:nvPr/>
        </p:nvSpPr>
        <p:spPr>
          <a:xfrm>
            <a:off x="1719072" y="3858768"/>
            <a:ext cx="9235440" cy="31089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Quiebre de stock del alimento, que es lo que más rota, y sobre-stock de lo que no vende</a:t>
            </a:r>
            <a:endParaRPr lang="en-US" sz="1100" dirty="0"/>
          </a:p>
        </p:txBody>
      </p:sp>
      <p:sp>
        <p:nvSpPr>
          <p:cNvPr id="19" name="Shape 17"/>
          <p:cNvSpPr/>
          <p:nvPr/>
        </p:nvSpPr>
        <p:spPr>
          <a:xfrm>
            <a:off x="640080" y="4334256"/>
            <a:ext cx="10911535" cy="768096"/>
          </a:xfrm>
          <a:prstGeom prst="roundRect">
            <a:avLst>
              <a:gd name="adj" fmla="val 5952"/>
            </a:avLst>
          </a:prstGeom>
          <a:solidFill>
            <a:srgbClr val="EEF5F1"/>
          </a:solidFill>
          <a:ln w="12700">
            <a:solidFill>
              <a:srgbClr val="D9E5DF"/>
            </a:solidFill>
            <a:prstDash val="solid"/>
          </a:ln>
        </p:spPr>
      </p:sp>
      <p:sp>
        <p:nvSpPr>
          <p:cNvPr id="20" name="Shape 18"/>
          <p:cNvSpPr/>
          <p:nvPr/>
        </p:nvSpPr>
        <p:spPr>
          <a:xfrm>
            <a:off x="841248" y="4572000"/>
            <a:ext cx="749808" cy="292608"/>
          </a:xfrm>
          <a:prstGeom prst="roundRect">
            <a:avLst>
              <a:gd name="adj" fmla="val 156250"/>
            </a:avLst>
          </a:prstGeom>
          <a:solidFill>
            <a:srgbClr val="14524A"/>
          </a:solidFill>
          <a:ln w="12700">
            <a:solidFill>
              <a:srgbClr val="14524A"/>
            </a:solidFill>
            <a:prstDash val="solid"/>
          </a:ln>
        </p:spPr>
      </p:sp>
      <p:sp>
        <p:nvSpPr>
          <p:cNvPr id="21" name="Text 19"/>
          <p:cNvSpPr txBox="1"/>
          <p:nvPr/>
        </p:nvSpPr>
        <p:spPr>
          <a:xfrm>
            <a:off x="841248" y="4572000"/>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N-04</a:t>
            </a:r>
            <a:endParaRPr lang="en-US" sz="1050" dirty="0"/>
          </a:p>
        </p:txBody>
      </p:sp>
      <p:sp>
        <p:nvSpPr>
          <p:cNvPr id="22" name="Text 20"/>
          <p:cNvSpPr txBox="1"/>
          <p:nvPr/>
        </p:nvSpPr>
        <p:spPr>
          <a:xfrm>
            <a:off x="1719072" y="4407408"/>
            <a:ext cx="4846320" cy="310896"/>
          </a:xfrm>
          <a:prstGeom prst="rect">
            <a:avLst/>
          </a:prstGeom>
          <a:noFill/>
          <a:ln/>
        </p:spPr>
        <p:txBody>
          <a:bodyPr wrap="square" lIns="0" tIns="0" rIns="0" bIns="0" rtlCol="0" anchor="ctr"/>
          <a:lstStyle/>
          <a:p>
            <a:pPr indent="0" marL="0">
              <a:buNone/>
            </a:pPr>
            <a:r>
              <a:rPr lang="en-US" sz="1250" b="1" dirty="0">
                <a:solidFill>
                  <a:srgbClr val="1C2321"/>
                </a:solidFill>
                <a:latin typeface="Calibri" pitchFamily="34" charset="0"/>
                <a:ea typeface="Calibri" pitchFamily="34" charset="-122"/>
                <a:cs typeface="Calibri" pitchFamily="34" charset="-120"/>
              </a:rPr>
              <a:t>No existe ningún canal de venta en línea</a:t>
            </a:r>
            <a:endParaRPr lang="en-US" sz="1250" dirty="0"/>
          </a:p>
        </p:txBody>
      </p:sp>
      <p:sp>
        <p:nvSpPr>
          <p:cNvPr id="23" name="Text 21"/>
          <p:cNvSpPr txBox="1"/>
          <p:nvPr/>
        </p:nvSpPr>
        <p:spPr>
          <a:xfrm>
            <a:off x="1719072" y="4718304"/>
            <a:ext cx="9235440" cy="31089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El ingreso depende del tráfico peatonal y cae fuera de campaña</a:t>
            </a:r>
            <a:endParaRPr lang="en-US" sz="1100" dirty="0"/>
          </a:p>
        </p:txBody>
      </p:sp>
      <p:sp>
        <p:nvSpPr>
          <p:cNvPr id="24" name="Shape 22"/>
          <p:cNvSpPr/>
          <p:nvPr/>
        </p:nvSpPr>
        <p:spPr>
          <a:xfrm>
            <a:off x="640080" y="5193792"/>
            <a:ext cx="10911535" cy="768096"/>
          </a:xfrm>
          <a:prstGeom prst="roundRect">
            <a:avLst>
              <a:gd name="adj" fmla="val 5952"/>
            </a:avLst>
          </a:prstGeom>
          <a:solidFill>
            <a:srgbClr val="EEF5F1"/>
          </a:solidFill>
          <a:ln w="12700">
            <a:solidFill>
              <a:srgbClr val="D9E5DF"/>
            </a:solidFill>
            <a:prstDash val="solid"/>
          </a:ln>
        </p:spPr>
      </p:sp>
      <p:sp>
        <p:nvSpPr>
          <p:cNvPr id="25" name="Shape 23"/>
          <p:cNvSpPr/>
          <p:nvPr/>
        </p:nvSpPr>
        <p:spPr>
          <a:xfrm>
            <a:off x="841248" y="5431536"/>
            <a:ext cx="749808" cy="292608"/>
          </a:xfrm>
          <a:prstGeom prst="roundRect">
            <a:avLst>
              <a:gd name="adj" fmla="val 156250"/>
            </a:avLst>
          </a:prstGeom>
          <a:solidFill>
            <a:srgbClr val="14524A"/>
          </a:solidFill>
          <a:ln w="12700">
            <a:solidFill>
              <a:srgbClr val="14524A"/>
            </a:solidFill>
            <a:prstDash val="solid"/>
          </a:ln>
        </p:spPr>
      </p:sp>
      <p:sp>
        <p:nvSpPr>
          <p:cNvPr id="26" name="Text 24"/>
          <p:cNvSpPr txBox="1"/>
          <p:nvPr/>
        </p:nvSpPr>
        <p:spPr>
          <a:xfrm>
            <a:off x="841248" y="5431536"/>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N-05</a:t>
            </a:r>
            <a:endParaRPr lang="en-US" sz="1050" dirty="0"/>
          </a:p>
        </p:txBody>
      </p:sp>
      <p:sp>
        <p:nvSpPr>
          <p:cNvPr id="27" name="Text 25"/>
          <p:cNvSpPr txBox="1"/>
          <p:nvPr/>
        </p:nvSpPr>
        <p:spPr>
          <a:xfrm>
            <a:off x="1719072" y="5266944"/>
            <a:ext cx="4846320" cy="310896"/>
          </a:xfrm>
          <a:prstGeom prst="rect">
            <a:avLst/>
          </a:prstGeom>
          <a:noFill/>
          <a:ln/>
        </p:spPr>
        <p:txBody>
          <a:bodyPr wrap="square" lIns="0" tIns="0" rIns="0" bIns="0" rtlCol="0" anchor="ctr"/>
          <a:lstStyle/>
          <a:p>
            <a:pPr indent="0" marL="0">
              <a:buNone/>
            </a:pPr>
            <a:r>
              <a:rPr lang="en-US" sz="1250" b="1" dirty="0">
                <a:solidFill>
                  <a:srgbClr val="1C2321"/>
                </a:solidFill>
                <a:latin typeface="Calibri" pitchFamily="34" charset="0"/>
                <a:ea typeface="Calibri" pitchFamily="34" charset="-122"/>
                <a:cs typeface="Calibri" pitchFamily="34" charset="-120"/>
              </a:rPr>
              <a:t>No hay ningún recordatorio hacia el cliente</a:t>
            </a:r>
            <a:endParaRPr lang="en-US" sz="1250" dirty="0"/>
          </a:p>
        </p:txBody>
      </p:sp>
      <p:sp>
        <p:nvSpPr>
          <p:cNvPr id="28" name="Text 26"/>
          <p:cNvSpPr txBox="1"/>
          <p:nvPr/>
        </p:nvSpPr>
        <p:spPr>
          <a:xfrm>
            <a:off x="1719072" y="5577840"/>
            <a:ext cx="9235440" cy="31089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El dueño olvida el control y la recompra; la fidelización se pierde</a:t>
            </a:r>
            <a:endParaRPr lang="en-US" sz="1100" dirty="0"/>
          </a:p>
        </p:txBody>
      </p:sp>
      <p:sp>
        <p:nvSpPr>
          <p:cNvPr id="29" name="Text 27"/>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Fuente: entrevistas con gerencia, veterinarios y encargada de tienda, más observación de un día de atención.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Tres objetivos con métrica y plazo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Así se medirá si el proyecto sirvió</a:t>
            </a:r>
            <a:endParaRPr lang="en-US" sz="1400" dirty="0"/>
          </a:p>
        </p:txBody>
      </p:sp>
      <p:sp>
        <p:nvSpPr>
          <p:cNvPr id="4" name="Shape 2"/>
          <p:cNvSpPr/>
          <p:nvPr/>
        </p:nvSpPr>
        <p:spPr>
          <a:xfrm>
            <a:off x="640080" y="1737360"/>
            <a:ext cx="3503066" cy="4114800"/>
          </a:xfrm>
          <a:prstGeom prst="roundRect">
            <a:avLst>
              <a:gd name="adj" fmla="val 1305"/>
            </a:avLst>
          </a:prstGeom>
          <a:solidFill>
            <a:srgbClr val="14524A"/>
          </a:solidFill>
          <a:ln w="12700">
            <a:solidFill>
              <a:srgbClr val="14524A"/>
            </a:solidFill>
            <a:prstDash val="solid"/>
          </a:ln>
        </p:spPr>
      </p:sp>
      <p:sp>
        <p:nvSpPr>
          <p:cNvPr id="5" name="Text 3"/>
          <p:cNvSpPr txBox="1"/>
          <p:nvPr/>
        </p:nvSpPr>
        <p:spPr>
          <a:xfrm>
            <a:off x="640080" y="1938528"/>
            <a:ext cx="3503066" cy="1097280"/>
          </a:xfrm>
          <a:prstGeom prst="rect">
            <a:avLst/>
          </a:prstGeom>
          <a:noFill/>
          <a:ln/>
        </p:spPr>
        <p:txBody>
          <a:bodyPr wrap="square" lIns="0" tIns="0" rIns="0" bIns="0" rtlCol="0" anchor="ctr"/>
          <a:lstStyle/>
          <a:p>
            <a:pPr algn="ctr" indent="0" marL="0">
              <a:buNone/>
            </a:pPr>
            <a:r>
              <a:rPr lang="en-US" sz="5400" b="1" dirty="0">
                <a:solidFill>
                  <a:srgbClr val="E8A33D"/>
                </a:solidFill>
                <a:latin typeface="Cambria" pitchFamily="34" charset="0"/>
                <a:ea typeface="Cambria" pitchFamily="34" charset="-122"/>
                <a:cs typeface="Cambria" pitchFamily="34" charset="-120"/>
              </a:rPr>
              <a:t>+30%</a:t>
            </a:r>
            <a:endParaRPr lang="en-US" sz="5400" dirty="0"/>
          </a:p>
        </p:txBody>
      </p:sp>
      <p:sp>
        <p:nvSpPr>
          <p:cNvPr id="6" name="Text 4"/>
          <p:cNvSpPr txBox="1"/>
          <p:nvPr/>
        </p:nvSpPr>
        <p:spPr>
          <a:xfrm>
            <a:off x="640080" y="3035808"/>
            <a:ext cx="3503066"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OE-1  ·  Ventas recurrentes</a:t>
            </a:r>
            <a:endParaRPr lang="en-US" sz="1250" dirty="0"/>
          </a:p>
        </p:txBody>
      </p:sp>
      <p:sp>
        <p:nvSpPr>
          <p:cNvPr id="7" name="Text 5"/>
          <p:cNvSpPr txBox="1"/>
          <p:nvPr/>
        </p:nvSpPr>
        <p:spPr>
          <a:xfrm>
            <a:off x="914400" y="3493008"/>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CFE3DC"/>
                </a:solidFill>
                <a:latin typeface="Calibri" pitchFamily="34" charset="0"/>
                <a:ea typeface="Calibri" pitchFamily="34" charset="-122"/>
                <a:cs typeface="Calibri" pitchFamily="34" charset="-120"/>
              </a:rPr>
              <a:t>Incrementar la venta mensual recurrente de alimento y arena mediante la suscripción</a:t>
            </a:r>
            <a:endParaRPr lang="en-US" sz="1200" dirty="0"/>
          </a:p>
        </p:txBody>
      </p:sp>
      <p:sp>
        <p:nvSpPr>
          <p:cNvPr id="8" name="Shape 6"/>
          <p:cNvSpPr/>
          <p:nvPr/>
        </p:nvSpPr>
        <p:spPr>
          <a:xfrm>
            <a:off x="1614373" y="5120640"/>
            <a:ext cx="1554480" cy="384048"/>
          </a:xfrm>
          <a:prstGeom prst="roundRect">
            <a:avLst>
              <a:gd name="adj" fmla="val 119048"/>
            </a:avLst>
          </a:prstGeom>
          <a:solidFill>
            <a:srgbClr val="2C7A6B"/>
          </a:solidFill>
          <a:ln w="12700">
            <a:solidFill>
              <a:srgbClr val="2C7A6B"/>
            </a:solidFill>
            <a:prstDash val="solid"/>
          </a:ln>
        </p:spPr>
      </p:sp>
      <p:sp>
        <p:nvSpPr>
          <p:cNvPr id="9" name="Text 7"/>
          <p:cNvSpPr txBox="1"/>
          <p:nvPr/>
        </p:nvSpPr>
        <p:spPr>
          <a:xfrm>
            <a:off x="1614373" y="512064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Plazo: 6 meses</a:t>
            </a:r>
            <a:endParaRPr lang="en-US" sz="1100" dirty="0"/>
          </a:p>
        </p:txBody>
      </p:sp>
      <p:sp>
        <p:nvSpPr>
          <p:cNvPr id="10" name="Shape 8"/>
          <p:cNvSpPr/>
          <p:nvPr/>
        </p:nvSpPr>
        <p:spPr>
          <a:xfrm>
            <a:off x="4344314" y="1737360"/>
            <a:ext cx="3503066" cy="4114800"/>
          </a:xfrm>
          <a:prstGeom prst="roundRect">
            <a:avLst>
              <a:gd name="adj" fmla="val 1305"/>
            </a:avLst>
          </a:prstGeom>
          <a:solidFill>
            <a:srgbClr val="EEF5F1"/>
          </a:solidFill>
          <a:ln w="12700">
            <a:solidFill>
              <a:srgbClr val="D9E5DF"/>
            </a:solidFill>
            <a:prstDash val="solid"/>
          </a:ln>
        </p:spPr>
      </p:sp>
      <p:sp>
        <p:nvSpPr>
          <p:cNvPr id="11" name="Text 9"/>
          <p:cNvSpPr txBox="1"/>
          <p:nvPr/>
        </p:nvSpPr>
        <p:spPr>
          <a:xfrm>
            <a:off x="4344314" y="1938528"/>
            <a:ext cx="3503066" cy="1097280"/>
          </a:xfrm>
          <a:prstGeom prst="rect">
            <a:avLst/>
          </a:prstGeom>
          <a:noFill/>
          <a:ln/>
        </p:spPr>
        <p:txBody>
          <a:bodyPr wrap="square" lIns="0" tIns="0" rIns="0" bIns="0" rtlCol="0" anchor="ctr"/>
          <a:lstStyle/>
          <a:p>
            <a:pPr algn="ctr" indent="0" marL="0">
              <a:buNone/>
            </a:pPr>
            <a:r>
              <a:rPr lang="en-US" sz="5400" b="1" dirty="0">
                <a:solidFill>
                  <a:srgbClr val="14524A"/>
                </a:solidFill>
                <a:latin typeface="Cambria" pitchFamily="34" charset="0"/>
                <a:ea typeface="Cambria" pitchFamily="34" charset="-122"/>
                <a:cs typeface="Cambria" pitchFamily="34" charset="-120"/>
              </a:rPr>
              <a:t>−40%</a:t>
            </a:r>
            <a:endParaRPr lang="en-US" sz="5400" dirty="0"/>
          </a:p>
        </p:txBody>
      </p:sp>
      <p:sp>
        <p:nvSpPr>
          <p:cNvPr id="12" name="Text 10"/>
          <p:cNvSpPr txBox="1"/>
          <p:nvPr/>
        </p:nvSpPr>
        <p:spPr>
          <a:xfrm>
            <a:off x="4344314" y="3035808"/>
            <a:ext cx="3503066" cy="347472"/>
          </a:xfrm>
          <a:prstGeom prst="rect">
            <a:avLst/>
          </a:prstGeom>
          <a:noFill/>
          <a:ln/>
        </p:spPr>
        <p:txBody>
          <a:bodyPr wrap="square" lIns="0" tIns="0" rIns="0" bIns="0" rtlCol="0" anchor="ctr"/>
          <a:lstStyle/>
          <a:p>
            <a:pPr algn="ctr" indent="0" marL="0">
              <a:buNone/>
            </a:pPr>
            <a:r>
              <a:rPr lang="en-US" sz="1250" b="1" dirty="0">
                <a:solidFill>
                  <a:srgbClr val="14524A"/>
                </a:solidFill>
                <a:latin typeface="Calibri" pitchFamily="34" charset="0"/>
                <a:ea typeface="Calibri" pitchFamily="34" charset="-122"/>
                <a:cs typeface="Calibri" pitchFamily="34" charset="-120"/>
              </a:rPr>
              <a:t>OE-2  ·  Inasistencias</a:t>
            </a:r>
            <a:endParaRPr lang="en-US" sz="1250" dirty="0"/>
          </a:p>
        </p:txBody>
      </p:sp>
      <p:sp>
        <p:nvSpPr>
          <p:cNvPr id="13" name="Text 11"/>
          <p:cNvSpPr txBox="1"/>
          <p:nvPr/>
        </p:nvSpPr>
        <p:spPr>
          <a:xfrm>
            <a:off x="4618634" y="3493008"/>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Reducir las inasistencias y atrasos a los controles mediante alertas automáticas</a:t>
            </a:r>
            <a:endParaRPr lang="en-US" sz="1200" dirty="0"/>
          </a:p>
        </p:txBody>
      </p:sp>
      <p:sp>
        <p:nvSpPr>
          <p:cNvPr id="14" name="Shape 12"/>
          <p:cNvSpPr/>
          <p:nvPr/>
        </p:nvSpPr>
        <p:spPr>
          <a:xfrm>
            <a:off x="5318608" y="5120640"/>
            <a:ext cx="1554480" cy="384048"/>
          </a:xfrm>
          <a:prstGeom prst="roundRect">
            <a:avLst>
              <a:gd name="adj" fmla="val 119048"/>
            </a:avLst>
          </a:prstGeom>
          <a:solidFill>
            <a:srgbClr val="14524A"/>
          </a:solidFill>
          <a:ln w="12700">
            <a:solidFill>
              <a:srgbClr val="14524A"/>
            </a:solidFill>
            <a:prstDash val="solid"/>
          </a:ln>
        </p:spPr>
      </p:sp>
      <p:sp>
        <p:nvSpPr>
          <p:cNvPr id="15" name="Text 13"/>
          <p:cNvSpPr txBox="1"/>
          <p:nvPr/>
        </p:nvSpPr>
        <p:spPr>
          <a:xfrm>
            <a:off x="5318608" y="512064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Plazo: 12 meses</a:t>
            </a:r>
            <a:endParaRPr lang="en-US" sz="1100" dirty="0"/>
          </a:p>
        </p:txBody>
      </p:sp>
      <p:sp>
        <p:nvSpPr>
          <p:cNvPr id="16" name="Shape 14"/>
          <p:cNvSpPr/>
          <p:nvPr/>
        </p:nvSpPr>
        <p:spPr>
          <a:xfrm>
            <a:off x="8048549" y="1737360"/>
            <a:ext cx="3503066" cy="4114800"/>
          </a:xfrm>
          <a:prstGeom prst="roundRect">
            <a:avLst>
              <a:gd name="adj" fmla="val 1305"/>
            </a:avLst>
          </a:prstGeom>
          <a:solidFill>
            <a:srgbClr val="EEF5F1"/>
          </a:solidFill>
          <a:ln w="12700">
            <a:solidFill>
              <a:srgbClr val="D9E5DF"/>
            </a:solidFill>
            <a:prstDash val="solid"/>
          </a:ln>
        </p:spPr>
      </p:sp>
      <p:sp>
        <p:nvSpPr>
          <p:cNvPr id="17" name="Text 15"/>
          <p:cNvSpPr txBox="1"/>
          <p:nvPr/>
        </p:nvSpPr>
        <p:spPr>
          <a:xfrm>
            <a:off x="8048549" y="1938528"/>
            <a:ext cx="3503066" cy="1097280"/>
          </a:xfrm>
          <a:prstGeom prst="rect">
            <a:avLst/>
          </a:prstGeom>
          <a:noFill/>
          <a:ln/>
        </p:spPr>
        <p:txBody>
          <a:bodyPr wrap="square" lIns="0" tIns="0" rIns="0" bIns="0" rtlCol="0" anchor="ctr"/>
          <a:lstStyle/>
          <a:p>
            <a:pPr algn="ctr" indent="0" marL="0">
              <a:buNone/>
            </a:pPr>
            <a:r>
              <a:rPr lang="en-US" sz="5400" b="1" dirty="0">
                <a:solidFill>
                  <a:srgbClr val="14524A"/>
                </a:solidFill>
                <a:latin typeface="Cambria" pitchFamily="34" charset="0"/>
                <a:ea typeface="Cambria" pitchFamily="34" charset="-122"/>
                <a:cs typeface="Cambria" pitchFamily="34" charset="-120"/>
              </a:rPr>
              <a:t>100%</a:t>
            </a:r>
            <a:endParaRPr lang="en-US" sz="5400" dirty="0"/>
          </a:p>
        </p:txBody>
      </p:sp>
      <p:sp>
        <p:nvSpPr>
          <p:cNvPr id="18" name="Text 16"/>
          <p:cNvSpPr txBox="1"/>
          <p:nvPr/>
        </p:nvSpPr>
        <p:spPr>
          <a:xfrm>
            <a:off x="8048549" y="3035808"/>
            <a:ext cx="3503066" cy="347472"/>
          </a:xfrm>
          <a:prstGeom prst="rect">
            <a:avLst/>
          </a:prstGeom>
          <a:noFill/>
          <a:ln/>
        </p:spPr>
        <p:txBody>
          <a:bodyPr wrap="square" lIns="0" tIns="0" rIns="0" bIns="0" rtlCol="0" anchor="ctr"/>
          <a:lstStyle/>
          <a:p>
            <a:pPr algn="ctr" indent="0" marL="0">
              <a:buNone/>
            </a:pPr>
            <a:r>
              <a:rPr lang="en-US" sz="1250" b="1" dirty="0">
                <a:solidFill>
                  <a:srgbClr val="14524A"/>
                </a:solidFill>
                <a:latin typeface="Calibri" pitchFamily="34" charset="0"/>
                <a:ea typeface="Calibri" pitchFamily="34" charset="-122"/>
                <a:cs typeface="Calibri" pitchFamily="34" charset="-120"/>
              </a:rPr>
              <a:t>OE-3  ·  Inventario automático</a:t>
            </a:r>
            <a:endParaRPr lang="en-US" sz="1250" dirty="0"/>
          </a:p>
        </p:txBody>
      </p:sp>
      <p:sp>
        <p:nvSpPr>
          <p:cNvPr id="19" name="Text 17"/>
          <p:cNvSpPr txBox="1"/>
          <p:nvPr/>
        </p:nvSpPr>
        <p:spPr>
          <a:xfrm>
            <a:off x="8322869" y="3493008"/>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Registrar toda venta en línea con descuento de inventario, sin quiebres no planificados</a:t>
            </a:r>
            <a:endParaRPr lang="en-US" sz="1200" dirty="0"/>
          </a:p>
        </p:txBody>
      </p:sp>
      <p:sp>
        <p:nvSpPr>
          <p:cNvPr id="20" name="Shape 18"/>
          <p:cNvSpPr/>
          <p:nvPr/>
        </p:nvSpPr>
        <p:spPr>
          <a:xfrm>
            <a:off x="9022842" y="5120640"/>
            <a:ext cx="1554480" cy="384048"/>
          </a:xfrm>
          <a:prstGeom prst="roundRect">
            <a:avLst>
              <a:gd name="adj" fmla="val 119048"/>
            </a:avLst>
          </a:prstGeom>
          <a:solidFill>
            <a:srgbClr val="14524A"/>
          </a:solidFill>
          <a:ln w="12700">
            <a:solidFill>
              <a:srgbClr val="14524A"/>
            </a:solidFill>
            <a:prstDash val="solid"/>
          </a:ln>
        </p:spPr>
      </p:sp>
      <p:sp>
        <p:nvSpPr>
          <p:cNvPr id="21" name="Text 19"/>
          <p:cNvSpPr txBox="1"/>
          <p:nvPr/>
        </p:nvSpPr>
        <p:spPr>
          <a:xfrm>
            <a:off x="9022842" y="512064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Plazo: 3 meses</a:t>
            </a:r>
            <a:endParaRPr lang="en-US" sz="1100" dirty="0"/>
          </a:p>
        </p:txBody>
      </p:sp>
      <p:sp>
        <p:nvSpPr>
          <p:cNvPr id="22" name="Text 20"/>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Los tres objetivos específicos se desprenden del objetivo general: estabilizar el ingreso mensual y fidelizar durante el primer año.</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De dónde viene el ingreso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Tres fuentes, y solo una de ellas es predecible</a:t>
            </a:r>
            <a:endParaRPr lang="en-US" sz="1400" dirty="0"/>
          </a:p>
        </p:txBody>
      </p:sp>
      <p:sp>
        <p:nvSpPr>
          <p:cNvPr id="4" name="Shape 2"/>
          <p:cNvSpPr/>
          <p:nvPr/>
        </p:nvSpPr>
        <p:spPr>
          <a:xfrm>
            <a:off x="640080" y="1737360"/>
            <a:ext cx="3503066" cy="3017520"/>
          </a:xfrm>
          <a:prstGeom prst="roundRect">
            <a:avLst>
              <a:gd name="adj" fmla="val 1515"/>
            </a:avLst>
          </a:prstGeom>
          <a:solidFill>
            <a:srgbClr val="EEF5F1"/>
          </a:solidFill>
          <a:ln w="12700">
            <a:solidFill>
              <a:srgbClr val="D9E5DF"/>
            </a:solidFill>
            <a:prstDash val="solid"/>
          </a:ln>
        </p:spPr>
      </p:sp>
      <p:sp>
        <p:nvSpPr>
          <p:cNvPr id="5" name="Text 3"/>
          <p:cNvSpPr txBox="1"/>
          <p:nvPr/>
        </p:nvSpPr>
        <p:spPr>
          <a:xfrm>
            <a:off x="896112" y="1938528"/>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FUENTE 1</a:t>
            </a:r>
            <a:endParaRPr lang="en-US" sz="1050" dirty="0"/>
          </a:p>
        </p:txBody>
      </p:sp>
      <p:sp>
        <p:nvSpPr>
          <p:cNvPr id="6" name="Text 4"/>
          <p:cNvSpPr txBox="1"/>
          <p:nvPr/>
        </p:nvSpPr>
        <p:spPr>
          <a:xfrm>
            <a:off x="896112" y="2231136"/>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Venta directa</a:t>
            </a:r>
            <a:endParaRPr lang="en-US" sz="1600" dirty="0"/>
          </a:p>
        </p:txBody>
      </p:sp>
      <p:sp>
        <p:nvSpPr>
          <p:cNvPr id="7" name="Text 5"/>
          <p:cNvSpPr txBox="1"/>
          <p:nvPr/>
        </p:nvSpPr>
        <p:spPr>
          <a:xfrm>
            <a:off x="896112" y="2670048"/>
            <a:ext cx="2991002" cy="188366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Catálogo en línea de alimento, accesorios, medicamento de venta libre y arena. El cliente compra cuando quiere; el ingreso es variable, igual que en el mostrador.</a:t>
            </a:r>
            <a:endParaRPr lang="en-US" sz="1200" dirty="0"/>
          </a:p>
        </p:txBody>
      </p:sp>
      <p:sp>
        <p:nvSpPr>
          <p:cNvPr id="8" name="Shape 6"/>
          <p:cNvSpPr/>
          <p:nvPr/>
        </p:nvSpPr>
        <p:spPr>
          <a:xfrm>
            <a:off x="4344314" y="1737360"/>
            <a:ext cx="3503066" cy="3017520"/>
          </a:xfrm>
          <a:prstGeom prst="roundRect">
            <a:avLst>
              <a:gd name="adj" fmla="val 1515"/>
            </a:avLst>
          </a:prstGeom>
          <a:solidFill>
            <a:srgbClr val="14524A"/>
          </a:solidFill>
          <a:ln w="12700">
            <a:solidFill>
              <a:srgbClr val="14524A"/>
            </a:solidFill>
            <a:prstDash val="solid"/>
          </a:ln>
        </p:spPr>
      </p:sp>
      <p:sp>
        <p:nvSpPr>
          <p:cNvPr id="9" name="Text 7"/>
          <p:cNvSpPr txBox="1"/>
          <p:nvPr/>
        </p:nvSpPr>
        <p:spPr>
          <a:xfrm>
            <a:off x="4600346" y="1938528"/>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FUENTE 2  ·  EL EJE DEL MODELO</a:t>
            </a:r>
            <a:endParaRPr lang="en-US" sz="1050" dirty="0"/>
          </a:p>
        </p:txBody>
      </p:sp>
      <p:sp>
        <p:nvSpPr>
          <p:cNvPr id="10" name="Text 8"/>
          <p:cNvSpPr txBox="1"/>
          <p:nvPr/>
        </p:nvSpPr>
        <p:spPr>
          <a:xfrm>
            <a:off x="4600346" y="2231136"/>
            <a:ext cx="2991002"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Suscripción mensual</a:t>
            </a:r>
            <a:endParaRPr lang="en-US" sz="1600" dirty="0"/>
          </a:p>
        </p:txBody>
      </p:sp>
      <p:sp>
        <p:nvSpPr>
          <p:cNvPr id="11" name="Text 9"/>
          <p:cNvSpPr txBox="1"/>
          <p:nvPr/>
        </p:nvSpPr>
        <p:spPr>
          <a:xfrm>
            <a:off x="4600346" y="2651760"/>
            <a:ext cx="2991002" cy="548640"/>
          </a:xfrm>
          <a:prstGeom prst="rect">
            <a:avLst/>
          </a:prstGeom>
          <a:noFill/>
          <a:ln/>
        </p:spPr>
        <p:txBody>
          <a:bodyPr wrap="square" lIns="0" tIns="0" rIns="0" bIns="0" rtlCol="0" anchor="t"/>
          <a:lstStyle/>
          <a:p>
            <a:pPr indent="0" marL="0">
              <a:lnSpc>
                <a:spcPts val="1600"/>
              </a:lnSpc>
              <a:buNone/>
            </a:pPr>
            <a:r>
              <a:rPr lang="en-US" sz="1150" dirty="0">
                <a:solidFill>
                  <a:srgbClr val="CFE3DC"/>
                </a:solidFill>
                <a:latin typeface="Calibri" pitchFamily="34" charset="0"/>
                <a:ea typeface="Calibri" pitchFamily="34" charset="-122"/>
                <a:cs typeface="Calibri" pitchFamily="34" charset="-120"/>
              </a:rPr>
              <a:t>Un plan por mascota y producto. Lo que separa un plan de otro son las unidades de cada despacho:</a:t>
            </a:r>
            <a:endParaRPr lang="en-US" sz="1150" dirty="0"/>
          </a:p>
        </p:txBody>
      </p:sp>
      <p:sp>
        <p:nvSpPr>
          <p:cNvPr id="12" name="Text 10"/>
          <p:cNvSpPr txBox="1"/>
          <p:nvPr/>
        </p:nvSpPr>
        <p:spPr>
          <a:xfrm>
            <a:off x="4600346" y="3255264"/>
            <a:ext cx="118872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BÁSICO</a:t>
            </a:r>
            <a:endParaRPr lang="en-US" sz="1100" dirty="0"/>
          </a:p>
        </p:txBody>
      </p:sp>
      <p:sp>
        <p:nvSpPr>
          <p:cNvPr id="13" name="Text 11"/>
          <p:cNvSpPr txBox="1"/>
          <p:nvPr/>
        </p:nvSpPr>
        <p:spPr>
          <a:xfrm>
            <a:off x="5807354" y="3255264"/>
            <a:ext cx="868680" cy="347472"/>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S/ 99</a:t>
            </a:r>
            <a:endParaRPr lang="en-US" sz="1100" dirty="0"/>
          </a:p>
        </p:txBody>
      </p:sp>
      <p:sp>
        <p:nvSpPr>
          <p:cNvPr id="14" name="Text 12"/>
          <p:cNvSpPr txBox="1"/>
          <p:nvPr/>
        </p:nvSpPr>
        <p:spPr>
          <a:xfrm>
            <a:off x="6630314" y="3255264"/>
            <a:ext cx="1188720" cy="347472"/>
          </a:xfrm>
          <a:prstGeom prst="rect">
            <a:avLst/>
          </a:prstGeom>
          <a:noFill/>
          <a:ln/>
        </p:spPr>
        <p:txBody>
          <a:bodyPr wrap="square" lIns="0" tIns="0" rIns="0" bIns="0" rtlCol="0" anchor="ctr"/>
          <a:lstStyle/>
          <a:p>
            <a:pPr indent="0" marL="0">
              <a:buNone/>
            </a:pPr>
            <a:r>
              <a:rPr lang="en-US" sz="1050" dirty="0">
                <a:solidFill>
                  <a:srgbClr val="CFE3DC"/>
                </a:solidFill>
                <a:latin typeface="Calibri" pitchFamily="34" charset="0"/>
                <a:ea typeface="Calibri" pitchFamily="34" charset="-122"/>
                <a:cs typeface="Calibri" pitchFamily="34" charset="-120"/>
              </a:rPr>
              <a:t>1 unidad</a:t>
            </a:r>
            <a:endParaRPr lang="en-US" sz="1050" dirty="0"/>
          </a:p>
        </p:txBody>
      </p:sp>
      <p:sp>
        <p:nvSpPr>
          <p:cNvPr id="15" name="Text 13"/>
          <p:cNvSpPr txBox="1"/>
          <p:nvPr/>
        </p:nvSpPr>
        <p:spPr>
          <a:xfrm>
            <a:off x="4600346" y="3712464"/>
            <a:ext cx="118872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CUIDADO</a:t>
            </a:r>
            <a:endParaRPr lang="en-US" sz="1100" dirty="0"/>
          </a:p>
        </p:txBody>
      </p:sp>
      <p:sp>
        <p:nvSpPr>
          <p:cNvPr id="16" name="Text 14"/>
          <p:cNvSpPr txBox="1"/>
          <p:nvPr/>
        </p:nvSpPr>
        <p:spPr>
          <a:xfrm>
            <a:off x="5807354" y="3712464"/>
            <a:ext cx="868680" cy="347472"/>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S/ 149</a:t>
            </a:r>
            <a:endParaRPr lang="en-US" sz="1100" dirty="0"/>
          </a:p>
        </p:txBody>
      </p:sp>
      <p:sp>
        <p:nvSpPr>
          <p:cNvPr id="17" name="Text 15"/>
          <p:cNvSpPr txBox="1"/>
          <p:nvPr/>
        </p:nvSpPr>
        <p:spPr>
          <a:xfrm>
            <a:off x="6630314" y="3712464"/>
            <a:ext cx="1188720" cy="347472"/>
          </a:xfrm>
          <a:prstGeom prst="rect">
            <a:avLst/>
          </a:prstGeom>
          <a:noFill/>
          <a:ln/>
        </p:spPr>
        <p:txBody>
          <a:bodyPr wrap="square" lIns="0" tIns="0" rIns="0" bIns="0" rtlCol="0" anchor="ctr"/>
          <a:lstStyle/>
          <a:p>
            <a:pPr indent="0" marL="0">
              <a:buNone/>
            </a:pPr>
            <a:r>
              <a:rPr lang="en-US" sz="1050" dirty="0">
                <a:solidFill>
                  <a:srgbClr val="CFE3DC"/>
                </a:solidFill>
                <a:latin typeface="Calibri" pitchFamily="34" charset="0"/>
                <a:ea typeface="Calibri" pitchFamily="34" charset="-122"/>
                <a:cs typeface="Calibri" pitchFamily="34" charset="-120"/>
              </a:rPr>
              <a:t>2 unidades</a:t>
            </a:r>
            <a:endParaRPr lang="en-US" sz="1050" dirty="0"/>
          </a:p>
        </p:txBody>
      </p:sp>
      <p:sp>
        <p:nvSpPr>
          <p:cNvPr id="18" name="Text 16"/>
          <p:cNvSpPr txBox="1"/>
          <p:nvPr/>
        </p:nvSpPr>
        <p:spPr>
          <a:xfrm>
            <a:off x="4600346" y="4169664"/>
            <a:ext cx="118872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INTEGRAL</a:t>
            </a:r>
            <a:endParaRPr lang="en-US" sz="1100" dirty="0"/>
          </a:p>
        </p:txBody>
      </p:sp>
      <p:sp>
        <p:nvSpPr>
          <p:cNvPr id="19" name="Text 17"/>
          <p:cNvSpPr txBox="1"/>
          <p:nvPr/>
        </p:nvSpPr>
        <p:spPr>
          <a:xfrm>
            <a:off x="5807354" y="4169664"/>
            <a:ext cx="868680" cy="347472"/>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S/ 219</a:t>
            </a:r>
            <a:endParaRPr lang="en-US" sz="1100" dirty="0"/>
          </a:p>
        </p:txBody>
      </p:sp>
      <p:sp>
        <p:nvSpPr>
          <p:cNvPr id="20" name="Text 18"/>
          <p:cNvSpPr txBox="1"/>
          <p:nvPr/>
        </p:nvSpPr>
        <p:spPr>
          <a:xfrm>
            <a:off x="6630314" y="4169664"/>
            <a:ext cx="1188720" cy="347472"/>
          </a:xfrm>
          <a:prstGeom prst="rect">
            <a:avLst/>
          </a:prstGeom>
          <a:noFill/>
          <a:ln/>
        </p:spPr>
        <p:txBody>
          <a:bodyPr wrap="square" lIns="0" tIns="0" rIns="0" bIns="0" rtlCol="0" anchor="ctr"/>
          <a:lstStyle/>
          <a:p>
            <a:pPr indent="0" marL="0">
              <a:buNone/>
            </a:pPr>
            <a:r>
              <a:rPr lang="en-US" sz="1050" dirty="0">
                <a:solidFill>
                  <a:srgbClr val="CFE3DC"/>
                </a:solidFill>
                <a:latin typeface="Calibri" pitchFamily="34" charset="0"/>
                <a:ea typeface="Calibri" pitchFamily="34" charset="-122"/>
                <a:cs typeface="Calibri" pitchFamily="34" charset="-120"/>
              </a:rPr>
              <a:t>3 unidades</a:t>
            </a:r>
            <a:endParaRPr lang="en-US" sz="1050" dirty="0"/>
          </a:p>
        </p:txBody>
      </p:sp>
      <p:sp>
        <p:nvSpPr>
          <p:cNvPr id="21" name="Shape 19"/>
          <p:cNvSpPr/>
          <p:nvPr/>
        </p:nvSpPr>
        <p:spPr>
          <a:xfrm>
            <a:off x="8048549" y="1737360"/>
            <a:ext cx="3503066" cy="3017520"/>
          </a:xfrm>
          <a:prstGeom prst="roundRect">
            <a:avLst>
              <a:gd name="adj" fmla="val 1515"/>
            </a:avLst>
          </a:prstGeom>
          <a:solidFill>
            <a:srgbClr val="EEF5F1"/>
          </a:solidFill>
          <a:ln w="12700">
            <a:solidFill>
              <a:srgbClr val="D9E5DF"/>
            </a:solidFill>
            <a:prstDash val="solid"/>
          </a:ln>
        </p:spPr>
      </p:sp>
      <p:sp>
        <p:nvSpPr>
          <p:cNvPr id="22" name="Text 20"/>
          <p:cNvSpPr txBox="1"/>
          <p:nvPr/>
        </p:nvSpPr>
        <p:spPr>
          <a:xfrm>
            <a:off x="8304581" y="1938528"/>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FUENTE 3</a:t>
            </a:r>
            <a:endParaRPr lang="en-US" sz="1050" dirty="0"/>
          </a:p>
        </p:txBody>
      </p:sp>
      <p:sp>
        <p:nvSpPr>
          <p:cNvPr id="23" name="Text 21"/>
          <p:cNvSpPr txBox="1"/>
          <p:nvPr/>
        </p:nvSpPr>
        <p:spPr>
          <a:xfrm>
            <a:off x="8304581" y="2231136"/>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Servicios veterinarios</a:t>
            </a:r>
            <a:endParaRPr lang="en-US" sz="1600" dirty="0"/>
          </a:p>
        </p:txBody>
      </p:sp>
      <p:sp>
        <p:nvSpPr>
          <p:cNvPr id="24" name="Text 22"/>
          <p:cNvSpPr txBox="1"/>
          <p:nvPr/>
        </p:nvSpPr>
        <p:spPr>
          <a:xfrm>
            <a:off x="8304581" y="2670048"/>
            <a:ext cx="2991002" cy="188366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Consulta, vacunación, desparasitación y grooming, agendados en línea. Traen al cliente al local, y de ahí sale la venta cruzada de producto.</a:t>
            </a:r>
            <a:endParaRPr lang="en-US" sz="1200" dirty="0"/>
          </a:p>
        </p:txBody>
      </p:sp>
      <p:sp>
        <p:nvSpPr>
          <p:cNvPr id="25" name="Shape 23"/>
          <p:cNvSpPr/>
          <p:nvPr/>
        </p:nvSpPr>
        <p:spPr>
          <a:xfrm>
            <a:off x="640080" y="4956048"/>
            <a:ext cx="10911535" cy="969264"/>
          </a:xfrm>
          <a:prstGeom prst="roundRect">
            <a:avLst>
              <a:gd name="adj" fmla="val 4717"/>
            </a:avLst>
          </a:prstGeom>
          <a:solidFill>
            <a:srgbClr val="EEF5F1"/>
          </a:solidFill>
          <a:ln w="12700">
            <a:solidFill>
              <a:srgbClr val="D9E5DF"/>
            </a:solidFill>
            <a:prstDash val="solid"/>
          </a:ln>
        </p:spPr>
      </p:sp>
      <p:sp>
        <p:nvSpPr>
          <p:cNvPr id="26" name="Text 24"/>
          <p:cNvSpPr txBox="1"/>
          <p:nvPr/>
        </p:nvSpPr>
        <p:spPr>
          <a:xfrm>
            <a:off x="914400" y="4956048"/>
            <a:ext cx="10362895" cy="969264"/>
          </a:xfrm>
          <a:prstGeom prst="rect">
            <a:avLst/>
          </a:prstGeom>
          <a:noFill/>
          <a:ln/>
        </p:spPr>
        <p:txBody>
          <a:bodyPr wrap="square" lIns="0" tIns="0" rIns="0" bIns="0" rtlCol="0" anchor="ctr"/>
          <a:lstStyle/>
          <a:p>
            <a:pPr indent="0" marL="0">
              <a:lnSpc>
                <a:spcPts val="1700"/>
              </a:lnSpc>
              <a:buNone/>
            </a:pPr>
            <a:r>
              <a:rPr lang="en-US" sz="1200" b="1" dirty="0">
                <a:solidFill>
                  <a:srgbClr val="14524A"/>
                </a:solidFill>
                <a:latin typeface="Calibri" pitchFamily="34" charset="0"/>
                <a:ea typeface="Calibri" pitchFamily="34" charset="-122"/>
                <a:cs typeface="Calibri" pitchFamily="34" charset="-120"/>
              </a:rPr>
              <a:t xml:space="preserve">Por qué la suscripción es el eje.  </a:t>
            </a:r>
            <a:pPr indent="0" marL="0">
              <a:lnSpc>
                <a:spcPts val="1700"/>
              </a:lnSpc>
              <a:buNone/>
            </a:pPr>
            <a:r>
              <a:rPr lang="en-US" sz="1200" dirty="0">
                <a:solidFill>
                  <a:srgbClr val="1C2321"/>
                </a:solidFill>
                <a:latin typeface="Calibri" pitchFamily="34" charset="0"/>
                <a:ea typeface="Calibri" pitchFamily="34" charset="-122"/>
                <a:cs typeface="Calibri" pitchFamily="34" charset="-120"/>
              </a:rPr>
              <a:t>Es la única fuente que se conoce antes de que empiece el mes: cada plan activo tiene una fecha de despacho y un monto. El sistema emite ese pedido por su cuenta, sin que el cliente lo pida ni el personal lo recuerde.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La metodología que aplicamos</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Y por qué no declaramos Scrum</a:t>
            </a:r>
            <a:endParaRPr lang="en-US" sz="1400" dirty="0"/>
          </a:p>
        </p:txBody>
      </p:sp>
      <p:sp>
        <p:nvSpPr>
          <p:cNvPr id="4" name="Shape 2"/>
          <p:cNvSpPr/>
          <p:nvPr/>
        </p:nvSpPr>
        <p:spPr>
          <a:xfrm>
            <a:off x="640080" y="1645920"/>
            <a:ext cx="10911535" cy="914400"/>
          </a:xfrm>
          <a:prstGeom prst="roundRect">
            <a:avLst>
              <a:gd name="adj" fmla="val 5000"/>
            </a:avLst>
          </a:prstGeom>
          <a:solidFill>
            <a:srgbClr val="14524A"/>
          </a:solidFill>
          <a:ln w="12700">
            <a:solidFill>
              <a:srgbClr val="14524A"/>
            </a:solidFill>
            <a:prstDash val="solid"/>
          </a:ln>
        </p:spPr>
      </p:sp>
      <p:sp>
        <p:nvSpPr>
          <p:cNvPr id="5" name="Text 3"/>
          <p:cNvSpPr txBox="1"/>
          <p:nvPr/>
        </p:nvSpPr>
        <p:spPr>
          <a:xfrm>
            <a:off x="1005840" y="1645920"/>
            <a:ext cx="10180015" cy="9144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Modelo iterativo e incremental con prototipado evolutivo</a:t>
            </a:r>
            <a:endParaRPr lang="en-US" sz="2400" dirty="0"/>
          </a:p>
        </p:txBody>
      </p:sp>
      <p:sp>
        <p:nvSpPr>
          <p:cNvPr id="6" name="Shape 4"/>
          <p:cNvSpPr/>
          <p:nvPr/>
        </p:nvSpPr>
        <p:spPr>
          <a:xfrm>
            <a:off x="640080" y="2743200"/>
            <a:ext cx="5336896" cy="1152144"/>
          </a:xfrm>
          <a:prstGeom prst="roundRect">
            <a:avLst>
              <a:gd name="adj" fmla="val 3968"/>
            </a:avLst>
          </a:prstGeom>
          <a:solidFill>
            <a:srgbClr val="EEF5F1"/>
          </a:solidFill>
          <a:ln w="12700">
            <a:solidFill>
              <a:srgbClr val="D9E5DF"/>
            </a:solidFill>
            <a:prstDash val="solid"/>
          </a:ln>
        </p:spPr>
      </p:sp>
      <p:sp>
        <p:nvSpPr>
          <p:cNvPr id="7" name="Shape 5"/>
          <p:cNvSpPr/>
          <p:nvPr/>
        </p:nvSpPr>
        <p:spPr>
          <a:xfrm>
            <a:off x="877824" y="3108960"/>
            <a:ext cx="420624" cy="420624"/>
          </a:xfrm>
          <a:prstGeom prst="ellipse">
            <a:avLst/>
          </a:prstGeom>
          <a:solidFill>
            <a:srgbClr val="E8A33D"/>
          </a:solidFill>
          <a:ln w="12700">
            <a:solidFill>
              <a:srgbClr val="E8A33D"/>
            </a:solidFill>
            <a:prstDash val="solid"/>
          </a:ln>
        </p:spPr>
      </p:sp>
      <p:sp>
        <p:nvSpPr>
          <p:cNvPr id="8" name="Text 6"/>
          <p:cNvSpPr txBox="1"/>
          <p:nvPr/>
        </p:nvSpPr>
        <p:spPr>
          <a:xfrm>
            <a:off x="877824" y="3108960"/>
            <a:ext cx="420624" cy="420624"/>
          </a:xfrm>
          <a:prstGeom prst="rect">
            <a:avLst/>
          </a:prstGeom>
          <a:noFill/>
          <a:ln/>
        </p:spPr>
        <p:txBody>
          <a:bodyPr wrap="square" lIns="0" tIns="0" rIns="0" bIns="0" rtlCol="0" anchor="ctr"/>
          <a:lstStyle/>
          <a:p>
            <a:pPr algn="ctr" indent="0" marL="0">
              <a:buNone/>
            </a:pPr>
            <a:r>
              <a:rPr lang="en-US" sz="1400" b="1" dirty="0">
                <a:solidFill>
                  <a:srgbClr val="14524A"/>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44752" y="2889504"/>
            <a:ext cx="4276192" cy="310896"/>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Incrementos con producto usable</a:t>
            </a:r>
            <a:endParaRPr lang="en-US" sz="1400" dirty="0"/>
          </a:p>
        </p:txBody>
      </p:sp>
      <p:sp>
        <p:nvSpPr>
          <p:cNvPr id="10" name="Text 8"/>
          <p:cNvSpPr txBox="1"/>
          <p:nvPr/>
        </p:nvSpPr>
        <p:spPr>
          <a:xfrm>
            <a:off x="1444752" y="3218688"/>
            <a:ext cx="4276192" cy="548640"/>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Cada etapa cierra con algo que funciona, no con un documento de avance.</a:t>
            </a:r>
            <a:endParaRPr lang="en-US" sz="1100" dirty="0"/>
          </a:p>
        </p:txBody>
      </p:sp>
      <p:sp>
        <p:nvSpPr>
          <p:cNvPr id="11" name="Shape 9"/>
          <p:cNvSpPr/>
          <p:nvPr/>
        </p:nvSpPr>
        <p:spPr>
          <a:xfrm>
            <a:off x="6214720" y="2743200"/>
            <a:ext cx="5336896" cy="1152144"/>
          </a:xfrm>
          <a:prstGeom prst="roundRect">
            <a:avLst>
              <a:gd name="adj" fmla="val 3968"/>
            </a:avLst>
          </a:prstGeom>
          <a:solidFill>
            <a:srgbClr val="EEF5F1"/>
          </a:solidFill>
          <a:ln w="12700">
            <a:solidFill>
              <a:srgbClr val="D9E5DF"/>
            </a:solidFill>
            <a:prstDash val="solid"/>
          </a:ln>
        </p:spPr>
      </p:sp>
      <p:sp>
        <p:nvSpPr>
          <p:cNvPr id="12" name="Shape 10"/>
          <p:cNvSpPr/>
          <p:nvPr/>
        </p:nvSpPr>
        <p:spPr>
          <a:xfrm>
            <a:off x="6452464" y="3108960"/>
            <a:ext cx="420624" cy="420624"/>
          </a:xfrm>
          <a:prstGeom prst="ellipse">
            <a:avLst/>
          </a:prstGeom>
          <a:solidFill>
            <a:srgbClr val="E8A33D"/>
          </a:solidFill>
          <a:ln w="12700">
            <a:solidFill>
              <a:srgbClr val="E8A33D"/>
            </a:solidFill>
            <a:prstDash val="solid"/>
          </a:ln>
        </p:spPr>
      </p:sp>
      <p:sp>
        <p:nvSpPr>
          <p:cNvPr id="13" name="Text 11"/>
          <p:cNvSpPr txBox="1"/>
          <p:nvPr/>
        </p:nvSpPr>
        <p:spPr>
          <a:xfrm>
            <a:off x="6452464" y="3108960"/>
            <a:ext cx="420624" cy="420624"/>
          </a:xfrm>
          <a:prstGeom prst="rect">
            <a:avLst/>
          </a:prstGeom>
          <a:noFill/>
          <a:ln/>
        </p:spPr>
        <p:txBody>
          <a:bodyPr wrap="square" lIns="0" tIns="0" rIns="0" bIns="0" rtlCol="0" anchor="ctr"/>
          <a:lstStyle/>
          <a:p>
            <a:pPr algn="ctr" indent="0" marL="0">
              <a:buNone/>
            </a:pPr>
            <a:r>
              <a:rPr lang="en-US" sz="1400" b="1" dirty="0">
                <a:solidFill>
                  <a:srgbClr val="14524A"/>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7019392" y="2889504"/>
            <a:ext cx="4276192" cy="310896"/>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Prototipado evolutivo</a:t>
            </a:r>
            <a:endParaRPr lang="en-US" sz="1400" dirty="0"/>
          </a:p>
        </p:txBody>
      </p:sp>
      <p:sp>
        <p:nvSpPr>
          <p:cNvPr id="15" name="Text 13"/>
          <p:cNvSpPr txBox="1"/>
          <p:nvPr/>
        </p:nvSpPr>
        <p:spPr>
          <a:xfrm>
            <a:off x="7019392" y="3218688"/>
            <a:ext cx="4276192" cy="548640"/>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El prototipo no se tira: evoluciona. Sirvió para descubrir requerimientos que la entrevista no reveló.</a:t>
            </a:r>
            <a:endParaRPr lang="en-US" sz="1100" dirty="0"/>
          </a:p>
        </p:txBody>
      </p:sp>
      <p:sp>
        <p:nvSpPr>
          <p:cNvPr id="16" name="Shape 14"/>
          <p:cNvSpPr/>
          <p:nvPr/>
        </p:nvSpPr>
        <p:spPr>
          <a:xfrm>
            <a:off x="640080" y="4059936"/>
            <a:ext cx="5336896" cy="1152144"/>
          </a:xfrm>
          <a:prstGeom prst="roundRect">
            <a:avLst>
              <a:gd name="adj" fmla="val 3968"/>
            </a:avLst>
          </a:prstGeom>
          <a:solidFill>
            <a:srgbClr val="EEF5F1"/>
          </a:solidFill>
          <a:ln w="12700">
            <a:solidFill>
              <a:srgbClr val="D9E5DF"/>
            </a:solidFill>
            <a:prstDash val="solid"/>
          </a:ln>
        </p:spPr>
      </p:sp>
      <p:sp>
        <p:nvSpPr>
          <p:cNvPr id="17" name="Shape 15"/>
          <p:cNvSpPr/>
          <p:nvPr/>
        </p:nvSpPr>
        <p:spPr>
          <a:xfrm>
            <a:off x="877824" y="4425696"/>
            <a:ext cx="420624" cy="420624"/>
          </a:xfrm>
          <a:prstGeom prst="ellipse">
            <a:avLst/>
          </a:prstGeom>
          <a:solidFill>
            <a:srgbClr val="E8A33D"/>
          </a:solidFill>
          <a:ln w="12700">
            <a:solidFill>
              <a:srgbClr val="E8A33D"/>
            </a:solidFill>
            <a:prstDash val="solid"/>
          </a:ln>
        </p:spPr>
      </p:sp>
      <p:sp>
        <p:nvSpPr>
          <p:cNvPr id="18" name="Text 16"/>
          <p:cNvSpPr txBox="1"/>
          <p:nvPr/>
        </p:nvSpPr>
        <p:spPr>
          <a:xfrm>
            <a:off x="877824" y="4425696"/>
            <a:ext cx="420624" cy="420624"/>
          </a:xfrm>
          <a:prstGeom prst="rect">
            <a:avLst/>
          </a:prstGeom>
          <a:noFill/>
          <a:ln/>
        </p:spPr>
        <p:txBody>
          <a:bodyPr wrap="square" lIns="0" tIns="0" rIns="0" bIns="0" rtlCol="0" anchor="ctr"/>
          <a:lstStyle/>
          <a:p>
            <a:pPr algn="ctr" indent="0" marL="0">
              <a:buNone/>
            </a:pPr>
            <a:r>
              <a:rPr lang="en-US" sz="1400" b="1" dirty="0">
                <a:solidFill>
                  <a:srgbClr val="14524A"/>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444752" y="4206240"/>
            <a:ext cx="4276192" cy="310896"/>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Priorización MoSCoW</a:t>
            </a:r>
            <a:endParaRPr lang="en-US" sz="1400" dirty="0"/>
          </a:p>
        </p:txBody>
      </p:sp>
      <p:sp>
        <p:nvSpPr>
          <p:cNvPr id="20" name="Text 18"/>
          <p:cNvSpPr txBox="1"/>
          <p:nvPr/>
        </p:nvSpPr>
        <p:spPr>
          <a:xfrm>
            <a:off x="1444752" y="4535424"/>
            <a:ext cx="4276192" cy="548640"/>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Cada requerimiento marcado como «debe tener» o «debería tener», y las entregas ordenadas por valor.</a:t>
            </a:r>
            <a:endParaRPr lang="en-US" sz="1100" dirty="0"/>
          </a:p>
        </p:txBody>
      </p:sp>
      <p:sp>
        <p:nvSpPr>
          <p:cNvPr id="21" name="Shape 19"/>
          <p:cNvSpPr/>
          <p:nvPr/>
        </p:nvSpPr>
        <p:spPr>
          <a:xfrm>
            <a:off x="6214720" y="4059936"/>
            <a:ext cx="5336896" cy="1152144"/>
          </a:xfrm>
          <a:prstGeom prst="roundRect">
            <a:avLst>
              <a:gd name="adj" fmla="val 3968"/>
            </a:avLst>
          </a:prstGeom>
          <a:solidFill>
            <a:srgbClr val="EEF5F1"/>
          </a:solidFill>
          <a:ln w="12700">
            <a:solidFill>
              <a:srgbClr val="D9E5DF"/>
            </a:solidFill>
            <a:prstDash val="solid"/>
          </a:ln>
        </p:spPr>
      </p:sp>
      <p:sp>
        <p:nvSpPr>
          <p:cNvPr id="22" name="Shape 20"/>
          <p:cNvSpPr/>
          <p:nvPr/>
        </p:nvSpPr>
        <p:spPr>
          <a:xfrm>
            <a:off x="6452464" y="4425696"/>
            <a:ext cx="420624" cy="420624"/>
          </a:xfrm>
          <a:prstGeom prst="ellipse">
            <a:avLst/>
          </a:prstGeom>
          <a:solidFill>
            <a:srgbClr val="E8A33D"/>
          </a:solidFill>
          <a:ln w="12700">
            <a:solidFill>
              <a:srgbClr val="E8A33D"/>
            </a:solidFill>
            <a:prstDash val="solid"/>
          </a:ln>
        </p:spPr>
      </p:sp>
      <p:sp>
        <p:nvSpPr>
          <p:cNvPr id="23" name="Text 21"/>
          <p:cNvSpPr txBox="1"/>
          <p:nvPr/>
        </p:nvSpPr>
        <p:spPr>
          <a:xfrm>
            <a:off x="6452464" y="4425696"/>
            <a:ext cx="420624" cy="420624"/>
          </a:xfrm>
          <a:prstGeom prst="rect">
            <a:avLst/>
          </a:prstGeom>
          <a:noFill/>
          <a:ln/>
        </p:spPr>
        <p:txBody>
          <a:bodyPr wrap="square" lIns="0" tIns="0" rIns="0" bIns="0" rtlCol="0" anchor="ctr"/>
          <a:lstStyle/>
          <a:p>
            <a:pPr algn="ctr" indent="0" marL="0">
              <a:buNone/>
            </a:pPr>
            <a:r>
              <a:rPr lang="en-US" sz="1400" b="1" dirty="0">
                <a:solidFill>
                  <a:srgbClr val="14524A"/>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7019392" y="4206240"/>
            <a:ext cx="4276192" cy="310896"/>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Verificación automatizada</a:t>
            </a:r>
            <a:endParaRPr lang="en-US" sz="1400" dirty="0"/>
          </a:p>
        </p:txBody>
      </p:sp>
      <p:sp>
        <p:nvSpPr>
          <p:cNvPr id="25" name="Text 23"/>
          <p:cNvSpPr txBox="1"/>
          <p:nvPr/>
        </p:nvSpPr>
        <p:spPr>
          <a:xfrm>
            <a:off x="7019392" y="4535424"/>
            <a:ext cx="4276192" cy="548640"/>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Cada regla de negocio tiene una prueba que se vuelve a ejecutar antes de cada entrega.</a:t>
            </a:r>
            <a:endParaRPr lang="en-US" sz="1100" dirty="0"/>
          </a:p>
        </p:txBody>
      </p:sp>
      <p:sp>
        <p:nvSpPr>
          <p:cNvPr id="26" name="Shape 24"/>
          <p:cNvSpPr/>
          <p:nvPr/>
        </p:nvSpPr>
        <p:spPr>
          <a:xfrm>
            <a:off x="640080" y="5431536"/>
            <a:ext cx="10911535" cy="658368"/>
          </a:xfrm>
          <a:prstGeom prst="roundRect">
            <a:avLst>
              <a:gd name="adj" fmla="val 6944"/>
            </a:avLst>
          </a:prstGeom>
          <a:solidFill>
            <a:srgbClr val="F6EADA"/>
          </a:solidFill>
          <a:ln w="12700">
            <a:solidFill>
              <a:srgbClr val="F6EADA"/>
            </a:solidFill>
            <a:prstDash val="solid"/>
          </a:ln>
        </p:spPr>
      </p:sp>
      <p:sp>
        <p:nvSpPr>
          <p:cNvPr id="27" name="Text 25"/>
          <p:cNvSpPr txBox="1"/>
          <p:nvPr/>
        </p:nvSpPr>
        <p:spPr>
          <a:xfrm>
            <a:off x="914400" y="5431536"/>
            <a:ext cx="10362895" cy="658368"/>
          </a:xfrm>
          <a:prstGeom prst="rect">
            <a:avLst/>
          </a:prstGeom>
          <a:noFill/>
          <a:ln/>
        </p:spPr>
        <p:txBody>
          <a:bodyPr wrap="square" lIns="0" tIns="0" rIns="0" bIns="0" rtlCol="0" anchor="ctr"/>
          <a:lstStyle/>
          <a:p>
            <a:pPr indent="0" marL="0">
              <a:lnSpc>
                <a:spcPts val="1600"/>
              </a:lnSpc>
              <a:buNone/>
            </a:pPr>
            <a:r>
              <a:rPr lang="en-US" sz="1150" b="1" dirty="0">
                <a:solidFill>
                  <a:srgbClr val="8A5A12"/>
                </a:solidFill>
                <a:latin typeface="Calibri" pitchFamily="34" charset="0"/>
                <a:ea typeface="Calibri" pitchFamily="34" charset="-122"/>
                <a:cs typeface="Calibri" pitchFamily="34" charset="-120"/>
              </a:rPr>
              <a:t xml:space="preserve">No es Scrum, y no lo declaramos.  </a:t>
            </a:r>
            <a:pPr indent="0" marL="0">
              <a:lnSpc>
                <a:spcPts val="1600"/>
              </a:lnSpc>
              <a:buNone/>
            </a:pPr>
            <a:r>
              <a:rPr lang="en-US" sz="1150" dirty="0">
                <a:solidFill>
                  <a:srgbClr val="1C2321"/>
                </a:solidFill>
                <a:latin typeface="Calibri" pitchFamily="34" charset="0"/>
                <a:ea typeface="Calibri" pitchFamily="34" charset="-122"/>
                <a:cs typeface="Calibri" pitchFamily="34" charset="-120"/>
              </a:rPr>
              <a:t>Scrum exige sprints con fecha, product backlog, roles y ceremonias sostenidas en el tiempo. Un proyecto de tres incrementos no los sostiene, y preferimos declarar el modelo que de verdad seguimos antes que un marco cuyos artefactos no podríamos mostrar.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Los tres incrementos</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Cada uno cerró con producto usable, y está fechado en el historial del repositorio</a:t>
            </a:r>
            <a:endParaRPr lang="en-US" sz="1400" dirty="0"/>
          </a:p>
        </p:txBody>
      </p:sp>
      <p:sp>
        <p:nvSpPr>
          <p:cNvPr id="4" name="Shape 2"/>
          <p:cNvSpPr/>
          <p:nvPr/>
        </p:nvSpPr>
        <p:spPr>
          <a:xfrm>
            <a:off x="640080" y="1755648"/>
            <a:ext cx="3503066" cy="4041648"/>
          </a:xfrm>
          <a:prstGeom prst="roundRect">
            <a:avLst>
              <a:gd name="adj" fmla="val 1305"/>
            </a:avLst>
          </a:prstGeom>
          <a:solidFill>
            <a:srgbClr val="EEF5F1"/>
          </a:solidFill>
          <a:ln w="12700">
            <a:solidFill>
              <a:srgbClr val="D9E5DF"/>
            </a:solidFill>
            <a:prstDash val="solid"/>
          </a:ln>
        </p:spPr>
      </p:sp>
      <p:sp>
        <p:nvSpPr>
          <p:cNvPr id="5" name="Shape 3"/>
          <p:cNvSpPr/>
          <p:nvPr/>
        </p:nvSpPr>
        <p:spPr>
          <a:xfrm>
            <a:off x="2108149" y="1975104"/>
            <a:ext cx="566928" cy="566928"/>
          </a:xfrm>
          <a:prstGeom prst="ellipse">
            <a:avLst/>
          </a:prstGeom>
          <a:solidFill>
            <a:srgbClr val="14524A"/>
          </a:solidFill>
          <a:ln w="12700">
            <a:solidFill>
              <a:srgbClr val="14524A"/>
            </a:solidFill>
            <a:prstDash val="solid"/>
          </a:ln>
        </p:spPr>
      </p:sp>
      <p:sp>
        <p:nvSpPr>
          <p:cNvPr id="6" name="Text 4"/>
          <p:cNvSpPr txBox="1"/>
          <p:nvPr/>
        </p:nvSpPr>
        <p:spPr>
          <a:xfrm>
            <a:off x="2108149" y="1975104"/>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a:t>
            </a:r>
            <a:endParaRPr lang="en-US" sz="1700" dirty="0"/>
          </a:p>
        </p:txBody>
      </p:sp>
      <p:sp>
        <p:nvSpPr>
          <p:cNvPr id="7" name="Text 5"/>
          <p:cNvSpPr txBox="1"/>
          <p:nvPr/>
        </p:nvSpPr>
        <p:spPr>
          <a:xfrm>
            <a:off x="640080" y="2651760"/>
            <a:ext cx="3503066" cy="292608"/>
          </a:xfrm>
          <a:prstGeom prst="rect">
            <a:avLst/>
          </a:prstGeom>
          <a:noFill/>
          <a:ln/>
        </p:spPr>
        <p:txBody>
          <a:bodyPr wrap="square" lIns="0" tIns="0" rIns="0" bIns="0" rtlCol="0" anchor="ctr"/>
          <a:lstStyle/>
          <a:p>
            <a:pPr algn="ctr" indent="0" marL="0">
              <a:buNone/>
            </a:pPr>
            <a:r>
              <a:rPr lang="en-US" sz="1100" b="1" dirty="0">
                <a:solidFill>
                  <a:srgbClr val="5D6B66"/>
                </a:solidFill>
                <a:latin typeface="Calibri" pitchFamily="34" charset="0"/>
                <a:ea typeface="Calibri" pitchFamily="34" charset="-122"/>
                <a:cs typeface="Calibri" pitchFamily="34" charset="-120"/>
              </a:rPr>
              <a:t>8 de septiembre</a:t>
            </a:r>
            <a:endParaRPr lang="en-US" sz="1100" dirty="0"/>
          </a:p>
        </p:txBody>
      </p:sp>
      <p:sp>
        <p:nvSpPr>
          <p:cNvPr id="8" name="Text 6"/>
          <p:cNvSpPr txBox="1"/>
          <p:nvPr/>
        </p:nvSpPr>
        <p:spPr>
          <a:xfrm>
            <a:off x="896112" y="2980944"/>
            <a:ext cx="2991002" cy="621792"/>
          </a:xfrm>
          <a:prstGeom prst="rect">
            <a:avLst/>
          </a:prstGeom>
          <a:noFill/>
          <a:ln/>
        </p:spPr>
        <p:txBody>
          <a:bodyPr wrap="square" lIns="0" tIns="0" rIns="0" bIns="0" rtlCol="0" anchor="ctr"/>
          <a:lstStyle/>
          <a:p>
            <a:pPr algn="ctr" indent="0" marL="0">
              <a:buNone/>
            </a:pPr>
            <a:r>
              <a:rPr lang="en-US" sz="1500" b="1" dirty="0">
                <a:solidFill>
                  <a:srgbClr val="14524A"/>
                </a:solidFill>
                <a:latin typeface="Cambria" pitchFamily="34" charset="0"/>
                <a:ea typeface="Cambria" pitchFamily="34" charset="-122"/>
                <a:cs typeface="Cambria" pitchFamily="34" charset="-120"/>
              </a:rPr>
              <a:t>Estructura y sitio institucional</a:t>
            </a:r>
            <a:endParaRPr lang="en-US" sz="1500" dirty="0"/>
          </a:p>
        </p:txBody>
      </p:sp>
      <p:sp>
        <p:nvSpPr>
          <p:cNvPr id="9" name="Text 7"/>
          <p:cNvSpPr txBox="1"/>
          <p:nvPr/>
        </p:nvSpPr>
        <p:spPr>
          <a:xfrm>
            <a:off x="896112" y="3657600"/>
            <a:ext cx="2991002" cy="1225296"/>
          </a:xfrm>
          <a:prstGeom prst="rect">
            <a:avLst/>
          </a:prstGeom>
          <a:noFill/>
          <a:ln/>
        </p:spPr>
        <p:txBody>
          <a:bodyPr wrap="square" lIns="0" tIns="0" rIns="0" bIns="0" rtlCol="0" anchor="t"/>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Repositorio organizado, sitio público navegable y el documento de arquitectura.</a:t>
            </a:r>
            <a:endParaRPr lang="en-US" sz="1150" dirty="0"/>
          </a:p>
        </p:txBody>
      </p:sp>
      <p:sp>
        <p:nvSpPr>
          <p:cNvPr id="10" name="Text 8"/>
          <p:cNvSpPr txBox="1"/>
          <p:nvPr/>
        </p:nvSpPr>
        <p:spPr>
          <a:xfrm>
            <a:off x="896112" y="4937760"/>
            <a:ext cx="2991002" cy="694944"/>
          </a:xfrm>
          <a:prstGeom prst="rect">
            <a:avLst/>
          </a:prstGeom>
          <a:noFill/>
          <a:ln/>
        </p:spPr>
        <p:txBody>
          <a:bodyPr wrap="square" lIns="0" tIns="0" rIns="0" bIns="0" rtlCol="0" anchor="t"/>
          <a:lstStyle/>
          <a:p>
            <a:pPr indent="0" marL="0">
              <a:lnSpc>
                <a:spcPts val="1400"/>
              </a:lnSpc>
              <a:buNone/>
            </a:pPr>
            <a:r>
              <a:rPr lang="en-US" sz="1050" i="1" dirty="0">
                <a:solidFill>
                  <a:srgbClr val="5D6B66"/>
                </a:solidFill>
                <a:latin typeface="Calibri" pitchFamily="34" charset="0"/>
                <a:ea typeface="Calibri" pitchFamily="34" charset="-122"/>
                <a:cs typeface="Calibri" pitchFamily="34" charset="-120"/>
              </a:rPr>
              <a:t>Qué aportó: Probó que el negocio se podía mostrar en línea.</a:t>
            </a:r>
            <a:endParaRPr lang="en-US" sz="1050" dirty="0"/>
          </a:p>
        </p:txBody>
      </p:sp>
      <p:sp>
        <p:nvSpPr>
          <p:cNvPr id="11" name="Shape 9"/>
          <p:cNvSpPr/>
          <p:nvPr/>
        </p:nvSpPr>
        <p:spPr>
          <a:xfrm>
            <a:off x="4344314" y="1755648"/>
            <a:ext cx="3503066" cy="4041648"/>
          </a:xfrm>
          <a:prstGeom prst="roundRect">
            <a:avLst>
              <a:gd name="adj" fmla="val 1305"/>
            </a:avLst>
          </a:prstGeom>
          <a:solidFill>
            <a:srgbClr val="14524A"/>
          </a:solidFill>
          <a:ln w="12700">
            <a:solidFill>
              <a:srgbClr val="14524A"/>
            </a:solidFill>
            <a:prstDash val="solid"/>
          </a:ln>
        </p:spPr>
      </p:sp>
      <p:sp>
        <p:nvSpPr>
          <p:cNvPr id="12" name="Shape 10"/>
          <p:cNvSpPr/>
          <p:nvPr/>
        </p:nvSpPr>
        <p:spPr>
          <a:xfrm>
            <a:off x="5812384" y="1975104"/>
            <a:ext cx="566928" cy="566928"/>
          </a:xfrm>
          <a:prstGeom prst="ellipse">
            <a:avLst/>
          </a:prstGeom>
          <a:solidFill>
            <a:srgbClr val="E8A33D"/>
          </a:solidFill>
          <a:ln w="12700">
            <a:solidFill>
              <a:srgbClr val="E8A33D"/>
            </a:solidFill>
            <a:prstDash val="solid"/>
          </a:ln>
        </p:spPr>
      </p:sp>
      <p:sp>
        <p:nvSpPr>
          <p:cNvPr id="13" name="Text 11"/>
          <p:cNvSpPr txBox="1"/>
          <p:nvPr/>
        </p:nvSpPr>
        <p:spPr>
          <a:xfrm>
            <a:off x="5812384" y="1975104"/>
            <a:ext cx="566928" cy="566928"/>
          </a:xfrm>
          <a:prstGeom prst="rect">
            <a:avLst/>
          </a:prstGeom>
          <a:noFill/>
          <a:ln/>
        </p:spPr>
        <p:txBody>
          <a:bodyPr wrap="square" lIns="0" tIns="0" rIns="0" bIns="0" rtlCol="0" anchor="ctr"/>
          <a:lstStyle/>
          <a:p>
            <a:pPr algn="ctr" indent="0" marL="0">
              <a:buNone/>
            </a:pPr>
            <a:r>
              <a:rPr lang="en-US" sz="1700" b="1" dirty="0">
                <a:solidFill>
                  <a:srgbClr val="14524A"/>
                </a:solidFill>
                <a:latin typeface="Calibri" pitchFamily="34" charset="0"/>
                <a:ea typeface="Calibri" pitchFamily="34" charset="-122"/>
                <a:cs typeface="Calibri" pitchFamily="34" charset="-120"/>
              </a:rPr>
              <a:t>II</a:t>
            </a:r>
            <a:endParaRPr lang="en-US" sz="1700" dirty="0"/>
          </a:p>
        </p:txBody>
      </p:sp>
      <p:sp>
        <p:nvSpPr>
          <p:cNvPr id="14" name="Text 12"/>
          <p:cNvSpPr txBox="1"/>
          <p:nvPr/>
        </p:nvSpPr>
        <p:spPr>
          <a:xfrm>
            <a:off x="4344314" y="2651760"/>
            <a:ext cx="3503066" cy="292608"/>
          </a:xfrm>
          <a:prstGeom prst="rect">
            <a:avLst/>
          </a:prstGeom>
          <a:noFill/>
          <a:ln/>
        </p:spPr>
        <p:txBody>
          <a:bodyPr wrap="square" lIns="0" tIns="0" rIns="0" bIns="0" rtlCol="0" anchor="ctr"/>
          <a:lstStyle/>
          <a:p>
            <a:pPr algn="ctr" indent="0" marL="0">
              <a:buNone/>
            </a:pPr>
            <a:r>
              <a:rPr lang="en-US" sz="1100" b="1" dirty="0">
                <a:solidFill>
                  <a:srgbClr val="E8A33D"/>
                </a:solidFill>
                <a:latin typeface="Calibri" pitchFamily="34" charset="0"/>
                <a:ea typeface="Calibri" pitchFamily="34" charset="-122"/>
                <a:cs typeface="Calibri" pitchFamily="34" charset="-120"/>
              </a:rPr>
              <a:t>15 de septiembre</a:t>
            </a:r>
            <a:endParaRPr lang="en-US" sz="1100" dirty="0"/>
          </a:p>
        </p:txBody>
      </p:sp>
      <p:sp>
        <p:nvSpPr>
          <p:cNvPr id="15" name="Text 13"/>
          <p:cNvSpPr txBox="1"/>
          <p:nvPr/>
        </p:nvSpPr>
        <p:spPr>
          <a:xfrm>
            <a:off x="4600346" y="2980944"/>
            <a:ext cx="2991002"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Prototipo y aplicación real</a:t>
            </a:r>
            <a:endParaRPr lang="en-US" sz="1500" dirty="0"/>
          </a:p>
        </p:txBody>
      </p:sp>
      <p:sp>
        <p:nvSpPr>
          <p:cNvPr id="16" name="Text 14"/>
          <p:cNvSpPr txBox="1"/>
          <p:nvPr/>
        </p:nvSpPr>
        <p:spPr>
          <a:xfrm>
            <a:off x="4600346" y="3657600"/>
            <a:ext cx="2991002" cy="1225296"/>
          </a:xfrm>
          <a:prstGeom prst="rect">
            <a:avLst/>
          </a:prstGeom>
          <a:noFill/>
          <a:ln/>
        </p:spPr>
        <p:txBody>
          <a:bodyPr wrap="square" lIns="0" tIns="0" rIns="0" bIns="0" rtlCol="0" anchor="t"/>
          <a:lstStyle/>
          <a:p>
            <a:pPr indent="0" marL="0">
              <a:lnSpc>
                <a:spcPts val="1600"/>
              </a:lnSpc>
              <a:buNone/>
            </a:pPr>
            <a:r>
              <a:rPr lang="en-US" sz="1150" dirty="0">
                <a:solidFill>
                  <a:srgbClr val="CFE3DC"/>
                </a:solidFill>
                <a:latin typeface="Calibri" pitchFamily="34" charset="0"/>
                <a:ea typeface="Calibri" pitchFamily="34" charset="-122"/>
                <a:cs typeface="Calibri" pitchFamily="34" charset="-120"/>
              </a:rPr>
              <a:t>Prototipo navegable de la plataforma, migrado luego a una aplicación completa con base de datos, cobro en línea y suscripción.</a:t>
            </a:r>
            <a:endParaRPr lang="en-US" sz="1150" dirty="0"/>
          </a:p>
        </p:txBody>
      </p:sp>
      <p:sp>
        <p:nvSpPr>
          <p:cNvPr id="17" name="Text 15"/>
          <p:cNvSpPr txBox="1"/>
          <p:nvPr/>
        </p:nvSpPr>
        <p:spPr>
          <a:xfrm>
            <a:off x="4600346" y="4937760"/>
            <a:ext cx="2991002" cy="694944"/>
          </a:xfrm>
          <a:prstGeom prst="rect">
            <a:avLst/>
          </a:prstGeom>
          <a:noFill/>
          <a:ln/>
        </p:spPr>
        <p:txBody>
          <a:bodyPr wrap="square" lIns="0" tIns="0" rIns="0" bIns="0" rtlCol="0" anchor="t"/>
          <a:lstStyle/>
          <a:p>
            <a:pPr indent="0" marL="0">
              <a:lnSpc>
                <a:spcPts val="1400"/>
              </a:lnSpc>
              <a:buNone/>
            </a:pPr>
            <a:r>
              <a:rPr lang="en-US" sz="1050" i="1" dirty="0">
                <a:solidFill>
                  <a:srgbClr val="CFE3DC"/>
                </a:solidFill>
                <a:latin typeface="Calibri" pitchFamily="34" charset="0"/>
                <a:ea typeface="Calibri" pitchFamily="34" charset="-122"/>
                <a:cs typeface="Calibri" pitchFamily="34" charset="-120"/>
              </a:rPr>
              <a:t>Qué aportó: Aquí aparecieron reglas que la entrevista no había revelado.</a:t>
            </a:r>
            <a:endParaRPr lang="en-US" sz="1050" dirty="0"/>
          </a:p>
        </p:txBody>
      </p:sp>
      <p:sp>
        <p:nvSpPr>
          <p:cNvPr id="18" name="Shape 16"/>
          <p:cNvSpPr/>
          <p:nvPr/>
        </p:nvSpPr>
        <p:spPr>
          <a:xfrm>
            <a:off x="8048549" y="1755648"/>
            <a:ext cx="3503066" cy="4041648"/>
          </a:xfrm>
          <a:prstGeom prst="roundRect">
            <a:avLst>
              <a:gd name="adj" fmla="val 1305"/>
            </a:avLst>
          </a:prstGeom>
          <a:solidFill>
            <a:srgbClr val="EEF5F1"/>
          </a:solidFill>
          <a:ln w="12700">
            <a:solidFill>
              <a:srgbClr val="D9E5DF"/>
            </a:solidFill>
            <a:prstDash val="solid"/>
          </a:ln>
        </p:spPr>
      </p:sp>
      <p:sp>
        <p:nvSpPr>
          <p:cNvPr id="19" name="Shape 17"/>
          <p:cNvSpPr/>
          <p:nvPr/>
        </p:nvSpPr>
        <p:spPr>
          <a:xfrm>
            <a:off x="9516618" y="1975104"/>
            <a:ext cx="566928" cy="566928"/>
          </a:xfrm>
          <a:prstGeom prst="ellipse">
            <a:avLst/>
          </a:prstGeom>
          <a:solidFill>
            <a:srgbClr val="14524A"/>
          </a:solidFill>
          <a:ln w="12700">
            <a:solidFill>
              <a:srgbClr val="14524A"/>
            </a:solidFill>
            <a:prstDash val="solid"/>
          </a:ln>
        </p:spPr>
      </p:sp>
      <p:sp>
        <p:nvSpPr>
          <p:cNvPr id="20" name="Text 18"/>
          <p:cNvSpPr txBox="1"/>
          <p:nvPr/>
        </p:nvSpPr>
        <p:spPr>
          <a:xfrm>
            <a:off x="9516618" y="1975104"/>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III</a:t>
            </a:r>
            <a:endParaRPr lang="en-US" sz="1700" dirty="0"/>
          </a:p>
        </p:txBody>
      </p:sp>
      <p:sp>
        <p:nvSpPr>
          <p:cNvPr id="21" name="Text 19"/>
          <p:cNvSpPr txBox="1"/>
          <p:nvPr/>
        </p:nvSpPr>
        <p:spPr>
          <a:xfrm>
            <a:off x="8048549" y="2651760"/>
            <a:ext cx="3503066" cy="292608"/>
          </a:xfrm>
          <a:prstGeom prst="rect">
            <a:avLst/>
          </a:prstGeom>
          <a:noFill/>
          <a:ln/>
        </p:spPr>
        <p:txBody>
          <a:bodyPr wrap="square" lIns="0" tIns="0" rIns="0" bIns="0" rtlCol="0" anchor="ctr"/>
          <a:lstStyle/>
          <a:p>
            <a:pPr algn="ctr" indent="0" marL="0">
              <a:buNone/>
            </a:pPr>
            <a:r>
              <a:rPr lang="en-US" sz="1100" b="1" dirty="0">
                <a:solidFill>
                  <a:srgbClr val="5D6B66"/>
                </a:solidFill>
                <a:latin typeface="Calibri" pitchFamily="34" charset="0"/>
                <a:ea typeface="Calibri" pitchFamily="34" charset="-122"/>
                <a:cs typeface="Calibri" pitchFamily="34" charset="-120"/>
              </a:rPr>
              <a:t>29 y 30 de septiembre</a:t>
            </a:r>
            <a:endParaRPr lang="en-US" sz="1100" dirty="0"/>
          </a:p>
        </p:txBody>
      </p:sp>
      <p:sp>
        <p:nvSpPr>
          <p:cNvPr id="22" name="Text 20"/>
          <p:cNvSpPr txBox="1"/>
          <p:nvPr/>
        </p:nvSpPr>
        <p:spPr>
          <a:xfrm>
            <a:off x="8304581" y="2980944"/>
            <a:ext cx="2991002" cy="621792"/>
          </a:xfrm>
          <a:prstGeom prst="rect">
            <a:avLst/>
          </a:prstGeom>
          <a:noFill/>
          <a:ln/>
        </p:spPr>
        <p:txBody>
          <a:bodyPr wrap="square" lIns="0" tIns="0" rIns="0" bIns="0" rtlCol="0" anchor="ctr"/>
          <a:lstStyle/>
          <a:p>
            <a:pPr algn="ctr" indent="0" marL="0">
              <a:buNone/>
            </a:pPr>
            <a:r>
              <a:rPr lang="en-US" sz="1500" b="1" dirty="0">
                <a:solidFill>
                  <a:srgbClr val="14524A"/>
                </a:solidFill>
                <a:latin typeface="Cambria" pitchFamily="34" charset="0"/>
                <a:ea typeface="Cambria" pitchFamily="34" charset="-122"/>
                <a:cs typeface="Cambria" pitchFamily="34" charset="-120"/>
              </a:rPr>
              <a:t>Requerimientos formales y presentación</a:t>
            </a:r>
            <a:endParaRPr lang="en-US" sz="1500" dirty="0"/>
          </a:p>
        </p:txBody>
      </p:sp>
      <p:sp>
        <p:nvSpPr>
          <p:cNvPr id="23" name="Text 21"/>
          <p:cNvSpPr txBox="1"/>
          <p:nvPr/>
        </p:nvSpPr>
        <p:spPr>
          <a:xfrm>
            <a:off x="8304581" y="3657600"/>
            <a:ext cx="2991002" cy="1225296"/>
          </a:xfrm>
          <a:prstGeom prst="rect">
            <a:avLst/>
          </a:prstGeom>
          <a:noFill/>
          <a:ln/>
        </p:spPr>
        <p:txBody>
          <a:bodyPr wrap="square" lIns="0" tIns="0" rIns="0" bIns="0" rtlCol="0" anchor="t"/>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Documento de requerimientos con 19 funcionales, 12 no funcionales y 22 reglas, más la trazabilidad a los problemas del diagnóstico.</a:t>
            </a:r>
            <a:endParaRPr lang="en-US" sz="1150" dirty="0"/>
          </a:p>
        </p:txBody>
      </p:sp>
      <p:sp>
        <p:nvSpPr>
          <p:cNvPr id="24" name="Text 22"/>
          <p:cNvSpPr txBox="1"/>
          <p:nvPr/>
        </p:nvSpPr>
        <p:spPr>
          <a:xfrm>
            <a:off x="8304581" y="4937760"/>
            <a:ext cx="2991002" cy="694944"/>
          </a:xfrm>
          <a:prstGeom prst="rect">
            <a:avLst/>
          </a:prstGeom>
          <a:noFill/>
          <a:ln/>
        </p:spPr>
        <p:txBody>
          <a:bodyPr wrap="square" lIns="0" tIns="0" rIns="0" bIns="0" rtlCol="0" anchor="t"/>
          <a:lstStyle/>
          <a:p>
            <a:pPr indent="0" marL="0">
              <a:lnSpc>
                <a:spcPts val="1400"/>
              </a:lnSpc>
              <a:buNone/>
            </a:pPr>
            <a:r>
              <a:rPr lang="en-US" sz="1050" i="1" dirty="0">
                <a:solidFill>
                  <a:srgbClr val="5D6B66"/>
                </a:solidFill>
                <a:latin typeface="Calibri" pitchFamily="34" charset="0"/>
                <a:ea typeface="Calibri" pitchFamily="34" charset="-122"/>
                <a:cs typeface="Calibri" pitchFamily="34" charset="-120"/>
              </a:rPr>
              <a:t>Qué aportó: Consolidó por escrito lo que el prototipo ya había demostrado.</a:t>
            </a:r>
            <a:endParaRPr lang="en-US" sz="1050" dirty="0"/>
          </a:p>
        </p:txBody>
      </p:sp>
      <p:sp>
        <p:nvSpPr>
          <p:cNvPr id="25" name="Text 23"/>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El orden no fue documentar y después construir: el prototipo sirvió para descubrir requerimientos, y eso es exactamente para lo que existe el prototipado evolutivo.</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Qué pide el negocio, por escrito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Documento de requerimientos VPC-REQ-001, firmado por la empresa</a:t>
            </a:r>
            <a:endParaRPr lang="en-US" sz="1400" dirty="0"/>
          </a:p>
        </p:txBody>
      </p:sp>
      <p:sp>
        <p:nvSpPr>
          <p:cNvPr id="4" name="Shape 2"/>
          <p:cNvSpPr/>
          <p:nvPr/>
        </p:nvSpPr>
        <p:spPr>
          <a:xfrm>
            <a:off x="640080" y="1719072"/>
            <a:ext cx="3503066" cy="1920240"/>
          </a:xfrm>
          <a:prstGeom prst="roundRect">
            <a:avLst>
              <a:gd name="adj" fmla="val 2381"/>
            </a:avLst>
          </a:prstGeom>
          <a:solidFill>
            <a:srgbClr val="EEF5F1"/>
          </a:solidFill>
          <a:ln w="12700">
            <a:solidFill>
              <a:srgbClr val="D9E5DF"/>
            </a:solidFill>
            <a:prstDash val="solid"/>
          </a:ln>
        </p:spPr>
      </p:sp>
      <p:sp>
        <p:nvSpPr>
          <p:cNvPr id="5" name="Text 3"/>
          <p:cNvSpPr txBox="1"/>
          <p:nvPr/>
        </p:nvSpPr>
        <p:spPr>
          <a:xfrm>
            <a:off x="859536" y="1865376"/>
            <a:ext cx="1188720" cy="822960"/>
          </a:xfrm>
          <a:prstGeom prst="rect">
            <a:avLst/>
          </a:prstGeom>
          <a:noFill/>
          <a:ln/>
        </p:spPr>
        <p:txBody>
          <a:bodyPr wrap="square" lIns="0" tIns="0" rIns="0" bIns="0" rtlCol="0" anchor="ctr"/>
          <a:lstStyle/>
          <a:p>
            <a:pPr indent="0" marL="0">
              <a:buNone/>
            </a:pPr>
            <a:r>
              <a:rPr lang="en-US" sz="4200" b="1" dirty="0">
                <a:solidFill>
                  <a:srgbClr val="14524A"/>
                </a:solidFill>
                <a:latin typeface="Cambria" pitchFamily="34" charset="0"/>
                <a:ea typeface="Cambria" pitchFamily="34" charset="-122"/>
                <a:cs typeface="Cambria" pitchFamily="34" charset="-120"/>
              </a:rPr>
              <a:t>19</a:t>
            </a:r>
            <a:endParaRPr lang="en-US" sz="4200" dirty="0"/>
          </a:p>
        </p:txBody>
      </p:sp>
      <p:sp>
        <p:nvSpPr>
          <p:cNvPr id="6" name="Text 4"/>
          <p:cNvSpPr txBox="1"/>
          <p:nvPr/>
        </p:nvSpPr>
        <p:spPr>
          <a:xfrm>
            <a:off x="2011680" y="1865376"/>
            <a:ext cx="1893722" cy="822960"/>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Requerimientos funcionales</a:t>
            </a:r>
            <a:endParaRPr lang="en-US" sz="1400" dirty="0"/>
          </a:p>
        </p:txBody>
      </p:sp>
      <p:sp>
        <p:nvSpPr>
          <p:cNvPr id="7" name="Text 5"/>
          <p:cNvSpPr txBox="1"/>
          <p:nvPr/>
        </p:nvSpPr>
        <p:spPr>
          <a:xfrm>
            <a:off x="859536" y="2743200"/>
            <a:ext cx="3064154" cy="786384"/>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Cada uno con quién lo pidió, su prioridad y su criterio de aceptación</a:t>
            </a:r>
            <a:endParaRPr lang="en-US" sz="1100" dirty="0"/>
          </a:p>
        </p:txBody>
      </p:sp>
      <p:sp>
        <p:nvSpPr>
          <p:cNvPr id="8" name="Shape 6"/>
          <p:cNvSpPr/>
          <p:nvPr/>
        </p:nvSpPr>
        <p:spPr>
          <a:xfrm>
            <a:off x="4344314" y="1719072"/>
            <a:ext cx="3503066" cy="1920240"/>
          </a:xfrm>
          <a:prstGeom prst="roundRect">
            <a:avLst>
              <a:gd name="adj" fmla="val 2381"/>
            </a:avLst>
          </a:prstGeom>
          <a:solidFill>
            <a:srgbClr val="EEF5F1"/>
          </a:solidFill>
          <a:ln w="12700">
            <a:solidFill>
              <a:srgbClr val="D9E5DF"/>
            </a:solidFill>
            <a:prstDash val="solid"/>
          </a:ln>
        </p:spPr>
      </p:sp>
      <p:sp>
        <p:nvSpPr>
          <p:cNvPr id="9" name="Text 7"/>
          <p:cNvSpPr txBox="1"/>
          <p:nvPr/>
        </p:nvSpPr>
        <p:spPr>
          <a:xfrm>
            <a:off x="4563770" y="1865376"/>
            <a:ext cx="1188720" cy="822960"/>
          </a:xfrm>
          <a:prstGeom prst="rect">
            <a:avLst/>
          </a:prstGeom>
          <a:noFill/>
          <a:ln/>
        </p:spPr>
        <p:txBody>
          <a:bodyPr wrap="square" lIns="0" tIns="0" rIns="0" bIns="0" rtlCol="0" anchor="ctr"/>
          <a:lstStyle/>
          <a:p>
            <a:pPr indent="0" marL="0">
              <a:buNone/>
            </a:pPr>
            <a:r>
              <a:rPr lang="en-US" sz="4200" b="1" dirty="0">
                <a:solidFill>
                  <a:srgbClr val="14524A"/>
                </a:solidFill>
                <a:latin typeface="Cambria" pitchFamily="34" charset="0"/>
                <a:ea typeface="Cambria" pitchFamily="34" charset="-122"/>
                <a:cs typeface="Cambria" pitchFamily="34" charset="-120"/>
              </a:rPr>
              <a:t>12</a:t>
            </a:r>
            <a:endParaRPr lang="en-US" sz="4200" dirty="0"/>
          </a:p>
        </p:txBody>
      </p:sp>
      <p:sp>
        <p:nvSpPr>
          <p:cNvPr id="10" name="Text 8"/>
          <p:cNvSpPr txBox="1"/>
          <p:nvPr/>
        </p:nvSpPr>
        <p:spPr>
          <a:xfrm>
            <a:off x="5715914" y="1865376"/>
            <a:ext cx="1893722" cy="822960"/>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Requerimientos no funcionales</a:t>
            </a:r>
            <a:endParaRPr lang="en-US" sz="1400" dirty="0"/>
          </a:p>
        </p:txBody>
      </p:sp>
      <p:sp>
        <p:nvSpPr>
          <p:cNvPr id="11" name="Text 9"/>
          <p:cNvSpPr txBox="1"/>
          <p:nvPr/>
        </p:nvSpPr>
        <p:spPr>
          <a:xfrm>
            <a:off x="4563770" y="2743200"/>
            <a:ext cx="3064154" cy="786384"/>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Con la forma concreta en que se comprueba cada condición</a:t>
            </a:r>
            <a:endParaRPr lang="en-US" sz="1100" dirty="0"/>
          </a:p>
        </p:txBody>
      </p:sp>
      <p:sp>
        <p:nvSpPr>
          <p:cNvPr id="12" name="Shape 10"/>
          <p:cNvSpPr/>
          <p:nvPr/>
        </p:nvSpPr>
        <p:spPr>
          <a:xfrm>
            <a:off x="8048549" y="1719072"/>
            <a:ext cx="3503066" cy="1920240"/>
          </a:xfrm>
          <a:prstGeom prst="roundRect">
            <a:avLst>
              <a:gd name="adj" fmla="val 2381"/>
            </a:avLst>
          </a:prstGeom>
          <a:solidFill>
            <a:srgbClr val="14524A"/>
          </a:solidFill>
          <a:ln w="12700">
            <a:solidFill>
              <a:srgbClr val="14524A"/>
            </a:solidFill>
            <a:prstDash val="solid"/>
          </a:ln>
        </p:spPr>
      </p:sp>
      <p:sp>
        <p:nvSpPr>
          <p:cNvPr id="13" name="Text 11"/>
          <p:cNvSpPr txBox="1"/>
          <p:nvPr/>
        </p:nvSpPr>
        <p:spPr>
          <a:xfrm>
            <a:off x="8268005" y="1865376"/>
            <a:ext cx="1188720" cy="822960"/>
          </a:xfrm>
          <a:prstGeom prst="rect">
            <a:avLst/>
          </a:prstGeom>
          <a:noFill/>
          <a:ln/>
        </p:spPr>
        <p:txBody>
          <a:bodyPr wrap="square" lIns="0" tIns="0" rIns="0" bIns="0" rtlCol="0" anchor="ctr"/>
          <a:lstStyle/>
          <a:p>
            <a:pPr indent="0" marL="0">
              <a:buNone/>
            </a:pPr>
            <a:r>
              <a:rPr lang="en-US" sz="4200" b="1" dirty="0">
                <a:solidFill>
                  <a:srgbClr val="E8A33D"/>
                </a:solidFill>
                <a:latin typeface="Cambria" pitchFamily="34" charset="0"/>
                <a:ea typeface="Cambria" pitchFamily="34" charset="-122"/>
                <a:cs typeface="Cambria" pitchFamily="34" charset="-120"/>
              </a:rPr>
              <a:t>22</a:t>
            </a:r>
            <a:endParaRPr lang="en-US" sz="4200" dirty="0"/>
          </a:p>
        </p:txBody>
      </p:sp>
      <p:sp>
        <p:nvSpPr>
          <p:cNvPr id="14" name="Text 12"/>
          <p:cNvSpPr txBox="1"/>
          <p:nvPr/>
        </p:nvSpPr>
        <p:spPr>
          <a:xfrm>
            <a:off x="9420149" y="1865376"/>
            <a:ext cx="1893722" cy="8229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Reglas de negocio</a:t>
            </a:r>
            <a:endParaRPr lang="en-US" sz="1400" dirty="0"/>
          </a:p>
        </p:txBody>
      </p:sp>
      <p:sp>
        <p:nvSpPr>
          <p:cNvPr id="15" name="Text 13"/>
          <p:cNvSpPr txBox="1"/>
          <p:nvPr/>
        </p:nvSpPr>
        <p:spPr>
          <a:xfrm>
            <a:off x="8268005" y="2743200"/>
            <a:ext cx="3064154" cy="786384"/>
          </a:xfrm>
          <a:prstGeom prst="rect">
            <a:avLst/>
          </a:prstGeom>
          <a:noFill/>
          <a:ln/>
        </p:spPr>
        <p:txBody>
          <a:bodyPr wrap="square" lIns="0" tIns="0" rIns="0" bIns="0" rtlCol="0" anchor="t"/>
          <a:lstStyle/>
          <a:p>
            <a:pPr indent="0" marL="0">
              <a:lnSpc>
                <a:spcPts val="1500"/>
              </a:lnSpc>
              <a:buNone/>
            </a:pPr>
            <a:r>
              <a:rPr lang="en-US" sz="1100" dirty="0">
                <a:solidFill>
                  <a:srgbClr val="CFE3DC"/>
                </a:solidFill>
                <a:latin typeface="Calibri" pitchFamily="34" charset="0"/>
                <a:ea typeface="Calibri" pitchFamily="34" charset="-122"/>
                <a:cs typeface="Calibri" pitchFamily="34" charset="-120"/>
              </a:rPr>
              <a:t>Políticas de la empresa que el sistema hace cumplir sin excepción</a:t>
            </a:r>
            <a:endParaRPr lang="en-US" sz="1100" dirty="0"/>
          </a:p>
        </p:txBody>
      </p:sp>
      <p:sp>
        <p:nvSpPr>
          <p:cNvPr id="16" name="Text 14"/>
          <p:cNvSpPr txBox="1"/>
          <p:nvPr/>
        </p:nvSpPr>
        <p:spPr>
          <a:xfrm>
            <a:off x="640080" y="3803904"/>
            <a:ext cx="10911535"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Tres entregas priorizadas por valor de negocio</a:t>
            </a:r>
            <a:endParaRPr lang="en-US" sz="1600" dirty="0"/>
          </a:p>
        </p:txBody>
      </p:sp>
      <p:sp>
        <p:nvSpPr>
          <p:cNvPr id="17" name="Shape 15"/>
          <p:cNvSpPr/>
          <p:nvPr/>
        </p:nvSpPr>
        <p:spPr>
          <a:xfrm>
            <a:off x="640080" y="4242816"/>
            <a:ext cx="10911535" cy="493776"/>
          </a:xfrm>
          <a:prstGeom prst="roundRect">
            <a:avLst>
              <a:gd name="adj" fmla="val 9259"/>
            </a:avLst>
          </a:prstGeom>
          <a:solidFill>
            <a:srgbClr val="EEF5F1"/>
          </a:solidFill>
          <a:ln w="12700">
            <a:solidFill>
              <a:srgbClr val="D9E5DF"/>
            </a:solidFill>
            <a:prstDash val="solid"/>
          </a:ln>
        </p:spPr>
      </p:sp>
      <p:sp>
        <p:nvSpPr>
          <p:cNvPr id="18" name="Shape 16"/>
          <p:cNvSpPr/>
          <p:nvPr/>
        </p:nvSpPr>
        <p:spPr>
          <a:xfrm>
            <a:off x="804672" y="4334256"/>
            <a:ext cx="1051560" cy="310896"/>
          </a:xfrm>
          <a:prstGeom prst="roundRect">
            <a:avLst>
              <a:gd name="adj" fmla="val 147059"/>
            </a:avLst>
          </a:prstGeom>
          <a:solidFill>
            <a:srgbClr val="14524A"/>
          </a:solidFill>
          <a:ln w="12700">
            <a:solidFill>
              <a:srgbClr val="14524A"/>
            </a:solidFill>
            <a:prstDash val="solid"/>
          </a:ln>
        </p:spPr>
      </p:sp>
      <p:sp>
        <p:nvSpPr>
          <p:cNvPr id="19" name="Text 17"/>
          <p:cNvSpPr txBox="1"/>
          <p:nvPr/>
        </p:nvSpPr>
        <p:spPr>
          <a:xfrm>
            <a:off x="804672" y="4334256"/>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Primera</a:t>
            </a:r>
            <a:endParaRPr lang="en-US" sz="1050" dirty="0"/>
          </a:p>
        </p:txBody>
      </p:sp>
      <p:sp>
        <p:nvSpPr>
          <p:cNvPr id="20" name="Text 18"/>
          <p:cNvSpPr txBox="1"/>
          <p:nvPr/>
        </p:nvSpPr>
        <p:spPr>
          <a:xfrm>
            <a:off x="1993392" y="4242816"/>
            <a:ext cx="4114800" cy="493776"/>
          </a:xfrm>
          <a:prstGeom prst="rect">
            <a:avLst/>
          </a:prstGeom>
          <a:noFill/>
          <a:ln/>
        </p:spPr>
        <p:txBody>
          <a:bodyPr wrap="square" lIns="0" tIns="0" rIns="0" bIns="0" rtlCol="0" anchor="ctr"/>
          <a:lstStyle/>
          <a:p>
            <a:pPr indent="0" marL="0">
              <a:buNone/>
            </a:pPr>
            <a:r>
              <a:rPr lang="en-US" sz="1150" b="1" dirty="0">
                <a:solidFill>
                  <a:srgbClr val="1C2321"/>
                </a:solidFill>
                <a:latin typeface="Calibri" pitchFamily="34" charset="0"/>
                <a:ea typeface="Calibri" pitchFamily="34" charset="-122"/>
                <a:cs typeface="Calibri" pitchFamily="34" charset="-120"/>
              </a:rPr>
              <a:t>Tienda en línea e inventario bajo control</a:t>
            </a:r>
            <a:endParaRPr lang="en-US" sz="1150" dirty="0"/>
          </a:p>
        </p:txBody>
      </p:sp>
      <p:sp>
        <p:nvSpPr>
          <p:cNvPr id="21" name="Text 19"/>
          <p:cNvSpPr txBox="1"/>
          <p:nvPr/>
        </p:nvSpPr>
        <p:spPr>
          <a:xfrm>
            <a:off x="6217920" y="4242816"/>
            <a:ext cx="4846320" cy="49377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Es el ingreso nuevo más inmediato y corta el quiebre de stock</a:t>
            </a:r>
            <a:endParaRPr lang="en-US" sz="1100" dirty="0"/>
          </a:p>
        </p:txBody>
      </p:sp>
      <p:sp>
        <p:nvSpPr>
          <p:cNvPr id="22" name="Shape 20"/>
          <p:cNvSpPr/>
          <p:nvPr/>
        </p:nvSpPr>
        <p:spPr>
          <a:xfrm>
            <a:off x="640080" y="4809744"/>
            <a:ext cx="10911535" cy="493776"/>
          </a:xfrm>
          <a:prstGeom prst="roundRect">
            <a:avLst>
              <a:gd name="adj" fmla="val 9259"/>
            </a:avLst>
          </a:prstGeom>
          <a:solidFill>
            <a:srgbClr val="EEF5F1"/>
          </a:solidFill>
          <a:ln w="12700">
            <a:solidFill>
              <a:srgbClr val="D9E5DF"/>
            </a:solidFill>
            <a:prstDash val="solid"/>
          </a:ln>
        </p:spPr>
      </p:sp>
      <p:sp>
        <p:nvSpPr>
          <p:cNvPr id="23" name="Shape 21"/>
          <p:cNvSpPr/>
          <p:nvPr/>
        </p:nvSpPr>
        <p:spPr>
          <a:xfrm>
            <a:off x="804672" y="4901184"/>
            <a:ext cx="1051560" cy="310896"/>
          </a:xfrm>
          <a:prstGeom prst="roundRect">
            <a:avLst>
              <a:gd name="adj" fmla="val 147059"/>
            </a:avLst>
          </a:prstGeom>
          <a:solidFill>
            <a:srgbClr val="14524A"/>
          </a:solidFill>
          <a:ln w="12700">
            <a:solidFill>
              <a:srgbClr val="14524A"/>
            </a:solidFill>
            <a:prstDash val="solid"/>
          </a:ln>
        </p:spPr>
      </p:sp>
      <p:sp>
        <p:nvSpPr>
          <p:cNvPr id="24" name="Text 22"/>
          <p:cNvSpPr txBox="1"/>
          <p:nvPr/>
        </p:nvSpPr>
        <p:spPr>
          <a:xfrm>
            <a:off x="804672" y="4901184"/>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Segunda</a:t>
            </a:r>
            <a:endParaRPr lang="en-US" sz="1050" dirty="0"/>
          </a:p>
        </p:txBody>
      </p:sp>
      <p:sp>
        <p:nvSpPr>
          <p:cNvPr id="25" name="Text 23"/>
          <p:cNvSpPr txBox="1"/>
          <p:nvPr/>
        </p:nvSpPr>
        <p:spPr>
          <a:xfrm>
            <a:off x="1993392" y="4809744"/>
            <a:ext cx="4114800" cy="493776"/>
          </a:xfrm>
          <a:prstGeom prst="rect">
            <a:avLst/>
          </a:prstGeom>
          <a:noFill/>
          <a:ln/>
        </p:spPr>
        <p:txBody>
          <a:bodyPr wrap="square" lIns="0" tIns="0" rIns="0" bIns="0" rtlCol="0" anchor="ctr"/>
          <a:lstStyle/>
          <a:p>
            <a:pPr indent="0" marL="0">
              <a:buNone/>
            </a:pPr>
            <a:r>
              <a:rPr lang="en-US" sz="1150" b="1" dirty="0">
                <a:solidFill>
                  <a:srgbClr val="1C2321"/>
                </a:solidFill>
                <a:latin typeface="Calibri" pitchFamily="34" charset="0"/>
                <a:ea typeface="Calibri" pitchFamily="34" charset="-122"/>
                <a:cs typeface="Calibri" pitchFamily="34" charset="-120"/>
              </a:rPr>
              <a:t>Agenda y historia clínica con alertas</a:t>
            </a:r>
            <a:endParaRPr lang="en-US" sz="1150" dirty="0"/>
          </a:p>
        </p:txBody>
      </p:sp>
      <p:sp>
        <p:nvSpPr>
          <p:cNvPr id="26" name="Text 24"/>
          <p:cNvSpPr txBox="1"/>
          <p:nvPr/>
        </p:nvSpPr>
        <p:spPr>
          <a:xfrm>
            <a:off x="6217920" y="4809744"/>
            <a:ext cx="4846320" cy="49377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Elimina el cruce de citas y habilita medir la inasistencia</a:t>
            </a:r>
            <a:endParaRPr lang="en-US" sz="1100" dirty="0"/>
          </a:p>
        </p:txBody>
      </p:sp>
      <p:sp>
        <p:nvSpPr>
          <p:cNvPr id="27" name="Shape 25"/>
          <p:cNvSpPr/>
          <p:nvPr/>
        </p:nvSpPr>
        <p:spPr>
          <a:xfrm>
            <a:off x="640080" y="5376672"/>
            <a:ext cx="10911535" cy="493776"/>
          </a:xfrm>
          <a:prstGeom prst="roundRect">
            <a:avLst>
              <a:gd name="adj" fmla="val 9259"/>
            </a:avLst>
          </a:prstGeom>
          <a:solidFill>
            <a:srgbClr val="EEF5F1"/>
          </a:solidFill>
          <a:ln w="12700">
            <a:solidFill>
              <a:srgbClr val="D9E5DF"/>
            </a:solidFill>
            <a:prstDash val="solid"/>
          </a:ln>
        </p:spPr>
      </p:sp>
      <p:sp>
        <p:nvSpPr>
          <p:cNvPr id="28" name="Shape 26"/>
          <p:cNvSpPr/>
          <p:nvPr/>
        </p:nvSpPr>
        <p:spPr>
          <a:xfrm>
            <a:off x="804672" y="5468112"/>
            <a:ext cx="1051560" cy="310896"/>
          </a:xfrm>
          <a:prstGeom prst="roundRect">
            <a:avLst>
              <a:gd name="adj" fmla="val 147059"/>
            </a:avLst>
          </a:prstGeom>
          <a:solidFill>
            <a:srgbClr val="14524A"/>
          </a:solidFill>
          <a:ln w="12700">
            <a:solidFill>
              <a:srgbClr val="14524A"/>
            </a:solidFill>
            <a:prstDash val="solid"/>
          </a:ln>
        </p:spPr>
      </p:sp>
      <p:sp>
        <p:nvSpPr>
          <p:cNvPr id="29" name="Text 27"/>
          <p:cNvSpPr txBox="1"/>
          <p:nvPr/>
        </p:nvSpPr>
        <p:spPr>
          <a:xfrm>
            <a:off x="804672" y="5468112"/>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Tercera</a:t>
            </a:r>
            <a:endParaRPr lang="en-US" sz="1050" dirty="0"/>
          </a:p>
        </p:txBody>
      </p:sp>
      <p:sp>
        <p:nvSpPr>
          <p:cNvPr id="30" name="Text 28"/>
          <p:cNvSpPr txBox="1"/>
          <p:nvPr/>
        </p:nvSpPr>
        <p:spPr>
          <a:xfrm>
            <a:off x="1993392" y="5376672"/>
            <a:ext cx="4114800" cy="493776"/>
          </a:xfrm>
          <a:prstGeom prst="rect">
            <a:avLst/>
          </a:prstGeom>
          <a:noFill/>
          <a:ln/>
        </p:spPr>
        <p:txBody>
          <a:bodyPr wrap="square" lIns="0" tIns="0" rIns="0" bIns="0" rtlCol="0" anchor="ctr"/>
          <a:lstStyle/>
          <a:p>
            <a:pPr indent="0" marL="0">
              <a:buNone/>
            </a:pPr>
            <a:r>
              <a:rPr lang="en-US" sz="1150" b="1" dirty="0">
                <a:solidFill>
                  <a:srgbClr val="1C2321"/>
                </a:solidFill>
                <a:latin typeface="Calibri" pitchFamily="34" charset="0"/>
                <a:ea typeface="Calibri" pitchFamily="34" charset="-122"/>
                <a:cs typeface="Calibri" pitchFamily="34" charset="-120"/>
              </a:rPr>
              <a:t>Cobro en línea e ingreso recurrente</a:t>
            </a:r>
            <a:endParaRPr lang="en-US" sz="1150" dirty="0"/>
          </a:p>
        </p:txBody>
      </p:sp>
      <p:sp>
        <p:nvSpPr>
          <p:cNvPr id="31" name="Text 29"/>
          <p:cNvSpPr txBox="1"/>
          <p:nvPr/>
        </p:nvSpPr>
        <p:spPr>
          <a:xfrm>
            <a:off x="6217920" y="5376672"/>
            <a:ext cx="4846320" cy="49377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Convierte la venta ocasional en caja previsible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Con qué está construido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Todo estándar, gratuito y sostenible por cualquier programador</a:t>
            </a:r>
            <a:endParaRPr lang="en-US" sz="1400" dirty="0"/>
          </a:p>
        </p:txBody>
      </p:sp>
      <p:sp>
        <p:nvSpPr>
          <p:cNvPr id="4" name="Shape 2"/>
          <p:cNvSpPr/>
          <p:nvPr/>
        </p:nvSpPr>
        <p:spPr>
          <a:xfrm>
            <a:off x="640080" y="1719072"/>
            <a:ext cx="2577008" cy="2395728"/>
          </a:xfrm>
          <a:prstGeom prst="roundRect">
            <a:avLst>
              <a:gd name="adj" fmla="val 1908"/>
            </a:avLst>
          </a:prstGeom>
          <a:solidFill>
            <a:srgbClr val="EEF5F1"/>
          </a:solidFill>
          <a:ln w="12700">
            <a:solidFill>
              <a:srgbClr val="D9E5DF"/>
            </a:solidFill>
            <a:prstDash val="solid"/>
          </a:ln>
        </p:spPr>
      </p:sp>
      <p:sp>
        <p:nvSpPr>
          <p:cNvPr id="5" name="Text 3"/>
          <p:cNvSpPr txBox="1"/>
          <p:nvPr/>
        </p:nvSpPr>
        <p:spPr>
          <a:xfrm>
            <a:off x="859536" y="1901952"/>
            <a:ext cx="2138096" cy="256032"/>
          </a:xfrm>
          <a:prstGeom prst="rect">
            <a:avLst/>
          </a:prstGeom>
          <a:noFill/>
          <a:ln/>
        </p:spPr>
        <p:txBody>
          <a:bodyPr wrap="square" lIns="0" tIns="0" rIns="0" bIns="0" rtlCol="0" anchor="ctr"/>
          <a:lstStyle/>
          <a:p>
            <a:pPr indent="0" marL="0">
              <a:buNone/>
            </a:pPr>
            <a:r>
              <a:rPr lang="en-US" sz="950" b="1" dirty="0">
                <a:solidFill>
                  <a:srgbClr val="2C7A6B"/>
                </a:solidFill>
                <a:latin typeface="Calibri" pitchFamily="34" charset="0"/>
                <a:ea typeface="Calibri" pitchFamily="34" charset="-122"/>
                <a:cs typeface="Calibri" pitchFamily="34" charset="-120"/>
              </a:rPr>
              <a:t>APLICACIÓN</a:t>
            </a:r>
            <a:endParaRPr lang="en-US" sz="950" dirty="0"/>
          </a:p>
        </p:txBody>
      </p:sp>
      <p:sp>
        <p:nvSpPr>
          <p:cNvPr id="6" name="Text 4"/>
          <p:cNvSpPr txBox="1"/>
          <p:nvPr/>
        </p:nvSpPr>
        <p:spPr>
          <a:xfrm>
            <a:off x="859536" y="2176272"/>
            <a:ext cx="2138096" cy="402336"/>
          </a:xfrm>
          <a:prstGeom prst="rect">
            <a:avLst/>
          </a:prstGeom>
          <a:noFill/>
          <a:ln/>
        </p:spPr>
        <p:txBody>
          <a:bodyPr wrap="square" lIns="0" tIns="0" rIns="0" bIns="0" rtlCol="0" anchor="ctr"/>
          <a:lstStyle/>
          <a:p>
            <a:pPr indent="0" marL="0">
              <a:buNone/>
            </a:pPr>
            <a:r>
              <a:rPr lang="en-US" sz="1700" b="1" dirty="0">
                <a:solidFill>
                  <a:srgbClr val="14524A"/>
                </a:solidFill>
                <a:latin typeface="Cambria" pitchFamily="34" charset="0"/>
                <a:ea typeface="Cambria" pitchFamily="34" charset="-122"/>
                <a:cs typeface="Cambria" pitchFamily="34" charset="-120"/>
              </a:rPr>
              <a:t>PHP 8.2</a:t>
            </a:r>
            <a:endParaRPr lang="en-US" sz="1700" dirty="0"/>
          </a:p>
        </p:txBody>
      </p:sp>
      <p:sp>
        <p:nvSpPr>
          <p:cNvPr id="7" name="Text 5"/>
          <p:cNvSpPr txBox="1"/>
          <p:nvPr/>
        </p:nvSpPr>
        <p:spPr>
          <a:xfrm>
            <a:off x="859536" y="2688336"/>
            <a:ext cx="2138096" cy="1920240"/>
          </a:xfrm>
          <a:prstGeom prst="rect">
            <a:avLst/>
          </a:prstGeom>
          <a:noFill/>
          <a:ln/>
        </p:spPr>
        <p:txBody>
          <a:bodyPr wrap="square" lIns="0" tIns="0" rIns="0" bIns="0" rtlCol="0" anchor="t"/>
          <a:lstStyle/>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Laravel 12.69</a:t>
            </a:r>
            <a:endParaRPr lang="en-US" sz="1100" dirty="0"/>
          </a:p>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Plantillas Blade</a:t>
            </a:r>
            <a:endParaRPr lang="en-US" sz="1100" dirty="0"/>
          </a:p>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Composer</a:t>
            </a:r>
            <a:endParaRPr lang="en-US" sz="1100" dirty="0"/>
          </a:p>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Servicios de dominio</a:t>
            </a:r>
            <a:endParaRPr lang="en-US" sz="1100" dirty="0"/>
          </a:p>
        </p:txBody>
      </p:sp>
      <p:sp>
        <p:nvSpPr>
          <p:cNvPr id="8" name="Shape 6"/>
          <p:cNvSpPr/>
          <p:nvPr/>
        </p:nvSpPr>
        <p:spPr>
          <a:xfrm>
            <a:off x="3418027" y="1719072"/>
            <a:ext cx="2577008" cy="2395728"/>
          </a:xfrm>
          <a:prstGeom prst="roundRect">
            <a:avLst>
              <a:gd name="adj" fmla="val 1908"/>
            </a:avLst>
          </a:prstGeom>
          <a:solidFill>
            <a:srgbClr val="EEF5F1"/>
          </a:solidFill>
          <a:ln w="12700">
            <a:solidFill>
              <a:srgbClr val="D9E5DF"/>
            </a:solidFill>
            <a:prstDash val="solid"/>
          </a:ln>
        </p:spPr>
      </p:sp>
      <p:sp>
        <p:nvSpPr>
          <p:cNvPr id="9" name="Text 7"/>
          <p:cNvSpPr txBox="1"/>
          <p:nvPr/>
        </p:nvSpPr>
        <p:spPr>
          <a:xfrm>
            <a:off x="3637483" y="1901952"/>
            <a:ext cx="2138096" cy="256032"/>
          </a:xfrm>
          <a:prstGeom prst="rect">
            <a:avLst/>
          </a:prstGeom>
          <a:noFill/>
          <a:ln/>
        </p:spPr>
        <p:txBody>
          <a:bodyPr wrap="square" lIns="0" tIns="0" rIns="0" bIns="0" rtlCol="0" anchor="ctr"/>
          <a:lstStyle/>
          <a:p>
            <a:pPr indent="0" marL="0">
              <a:buNone/>
            </a:pPr>
            <a:r>
              <a:rPr lang="en-US" sz="950" b="1" dirty="0">
                <a:solidFill>
                  <a:srgbClr val="2C7A6B"/>
                </a:solidFill>
                <a:latin typeface="Calibri" pitchFamily="34" charset="0"/>
                <a:ea typeface="Calibri" pitchFamily="34" charset="-122"/>
                <a:cs typeface="Calibri" pitchFamily="34" charset="-120"/>
              </a:rPr>
              <a:t>DATOS</a:t>
            </a:r>
            <a:endParaRPr lang="en-US" sz="950" dirty="0"/>
          </a:p>
        </p:txBody>
      </p:sp>
      <p:sp>
        <p:nvSpPr>
          <p:cNvPr id="10" name="Text 8"/>
          <p:cNvSpPr txBox="1"/>
          <p:nvPr/>
        </p:nvSpPr>
        <p:spPr>
          <a:xfrm>
            <a:off x="3637483" y="2176272"/>
            <a:ext cx="2138096" cy="402336"/>
          </a:xfrm>
          <a:prstGeom prst="rect">
            <a:avLst/>
          </a:prstGeom>
          <a:noFill/>
          <a:ln/>
        </p:spPr>
        <p:txBody>
          <a:bodyPr wrap="square" lIns="0" tIns="0" rIns="0" bIns="0" rtlCol="0" anchor="ctr"/>
          <a:lstStyle/>
          <a:p>
            <a:pPr indent="0" marL="0">
              <a:buNone/>
            </a:pPr>
            <a:r>
              <a:rPr lang="en-US" sz="1700" b="1" dirty="0">
                <a:solidFill>
                  <a:srgbClr val="14524A"/>
                </a:solidFill>
                <a:latin typeface="Cambria" pitchFamily="34" charset="0"/>
                <a:ea typeface="Cambria" pitchFamily="34" charset="-122"/>
                <a:cs typeface="Cambria" pitchFamily="34" charset="-120"/>
              </a:rPr>
              <a:t>MySQL 8.0</a:t>
            </a:r>
            <a:endParaRPr lang="en-US" sz="1700" dirty="0"/>
          </a:p>
        </p:txBody>
      </p:sp>
      <p:sp>
        <p:nvSpPr>
          <p:cNvPr id="11" name="Text 9"/>
          <p:cNvSpPr txBox="1"/>
          <p:nvPr/>
        </p:nvSpPr>
        <p:spPr>
          <a:xfrm>
            <a:off x="3637483" y="2688336"/>
            <a:ext cx="2138096" cy="1920240"/>
          </a:xfrm>
          <a:prstGeom prst="rect">
            <a:avLst/>
          </a:prstGeom>
          <a:noFill/>
          <a:ln/>
        </p:spPr>
        <p:txBody>
          <a:bodyPr wrap="square" lIns="0" tIns="0" rIns="0" bIns="0" rtlCol="0" anchor="t"/>
          <a:lstStyle/>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Migraciones versionadas</a:t>
            </a:r>
            <a:endParaRPr lang="en-US" sz="1100" dirty="0"/>
          </a:p>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Restricciones en el motor</a:t>
            </a:r>
            <a:endParaRPr lang="en-US" sz="1100" dirty="0"/>
          </a:p>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Procedimiento de compra</a:t>
            </a:r>
            <a:endParaRPr lang="en-US" sz="1100" dirty="0"/>
          </a:p>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Vistas de reporte</a:t>
            </a:r>
            <a:endParaRPr lang="en-US" sz="1100" dirty="0"/>
          </a:p>
        </p:txBody>
      </p:sp>
      <p:sp>
        <p:nvSpPr>
          <p:cNvPr id="12" name="Shape 10"/>
          <p:cNvSpPr/>
          <p:nvPr/>
        </p:nvSpPr>
        <p:spPr>
          <a:xfrm>
            <a:off x="6195974" y="1719072"/>
            <a:ext cx="2577008" cy="2395728"/>
          </a:xfrm>
          <a:prstGeom prst="roundRect">
            <a:avLst>
              <a:gd name="adj" fmla="val 1908"/>
            </a:avLst>
          </a:prstGeom>
          <a:solidFill>
            <a:srgbClr val="14524A"/>
          </a:solidFill>
          <a:ln w="12700">
            <a:solidFill>
              <a:srgbClr val="14524A"/>
            </a:solidFill>
            <a:prstDash val="solid"/>
          </a:ln>
        </p:spPr>
      </p:sp>
      <p:sp>
        <p:nvSpPr>
          <p:cNvPr id="13" name="Text 11"/>
          <p:cNvSpPr txBox="1"/>
          <p:nvPr/>
        </p:nvSpPr>
        <p:spPr>
          <a:xfrm>
            <a:off x="6415430" y="1901952"/>
            <a:ext cx="2138096" cy="256032"/>
          </a:xfrm>
          <a:prstGeom prst="rect">
            <a:avLst/>
          </a:prstGeom>
          <a:noFill/>
          <a:ln/>
        </p:spPr>
        <p:txBody>
          <a:bodyPr wrap="square" lIns="0" tIns="0" rIns="0" bIns="0" rtlCol="0" anchor="ctr"/>
          <a:lstStyle/>
          <a:p>
            <a:pPr indent="0" marL="0">
              <a:buNone/>
            </a:pPr>
            <a:r>
              <a:rPr lang="en-US" sz="950" b="1" dirty="0">
                <a:solidFill>
                  <a:srgbClr val="E8A33D"/>
                </a:solidFill>
                <a:latin typeface="Calibri" pitchFamily="34" charset="0"/>
                <a:ea typeface="Calibri" pitchFamily="34" charset="-122"/>
                <a:cs typeface="Calibri" pitchFamily="34" charset="-120"/>
              </a:rPr>
              <a:t>ENTORNO</a:t>
            </a:r>
            <a:endParaRPr lang="en-US" sz="950" dirty="0"/>
          </a:p>
        </p:txBody>
      </p:sp>
      <p:sp>
        <p:nvSpPr>
          <p:cNvPr id="14" name="Text 12"/>
          <p:cNvSpPr txBox="1"/>
          <p:nvPr/>
        </p:nvSpPr>
        <p:spPr>
          <a:xfrm>
            <a:off x="6415430" y="2176272"/>
            <a:ext cx="2138096" cy="402336"/>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Docker</a:t>
            </a:r>
            <a:endParaRPr lang="en-US" sz="1700" dirty="0"/>
          </a:p>
        </p:txBody>
      </p:sp>
      <p:sp>
        <p:nvSpPr>
          <p:cNvPr id="15" name="Text 13"/>
          <p:cNvSpPr txBox="1"/>
          <p:nvPr/>
        </p:nvSpPr>
        <p:spPr>
          <a:xfrm>
            <a:off x="6415430" y="2688336"/>
            <a:ext cx="2138096" cy="1920240"/>
          </a:xfrm>
          <a:prstGeom prst="rect">
            <a:avLst/>
          </a:prstGeom>
          <a:noFill/>
          <a:ln/>
        </p:spPr>
        <p:txBody>
          <a:bodyPr wrap="square" lIns="0" tIns="0" rIns="0" bIns="0" rtlCol="0" anchor="t"/>
          <a:lstStyle/>
          <a:p>
            <a:pPr indent="0" marL="0">
              <a:lnSpc>
                <a:spcPts val="1900"/>
              </a:lnSpc>
              <a:buNone/>
            </a:pPr>
            <a:r>
              <a:rPr lang="en-US" sz="1100" dirty="0">
                <a:solidFill>
                  <a:srgbClr val="CFE3DC"/>
                </a:solidFill>
                <a:latin typeface="Calibri" pitchFamily="34" charset="0"/>
                <a:ea typeface="Calibri" pitchFamily="34" charset="-122"/>
                <a:cs typeface="Calibri" pitchFamily="34" charset="-120"/>
              </a:rPr>
              <a:t>php:8.2-apache</a:t>
            </a:r>
            <a:endParaRPr lang="en-US" sz="1100" dirty="0"/>
          </a:p>
          <a:p>
            <a:pPr indent="0" marL="0">
              <a:lnSpc>
                <a:spcPts val="1900"/>
              </a:lnSpc>
              <a:buNone/>
            </a:pPr>
            <a:r>
              <a:rPr lang="en-US" sz="1100" dirty="0">
                <a:solidFill>
                  <a:srgbClr val="CFE3DC"/>
                </a:solidFill>
                <a:latin typeface="Calibri" pitchFamily="34" charset="0"/>
                <a:ea typeface="Calibri" pitchFamily="34" charset="-122"/>
                <a:cs typeface="Calibri" pitchFamily="34" charset="-120"/>
              </a:rPr>
              <a:t>mysql:8.0</a:t>
            </a:r>
            <a:endParaRPr lang="en-US" sz="1100" dirty="0"/>
          </a:p>
          <a:p>
            <a:pPr indent="0" marL="0">
              <a:lnSpc>
                <a:spcPts val="1900"/>
              </a:lnSpc>
              <a:buNone/>
            </a:pPr>
            <a:r>
              <a:rPr lang="en-US" sz="1100" dirty="0">
                <a:solidFill>
                  <a:srgbClr val="CFE3DC"/>
                </a:solidFill>
                <a:latin typeface="Calibri" pitchFamily="34" charset="0"/>
                <a:ea typeface="Calibri" pitchFamily="34" charset="-122"/>
                <a:cs typeface="Calibri" pitchFamily="34" charset="-120"/>
              </a:rPr>
              <a:t>MailHog</a:t>
            </a:r>
            <a:endParaRPr lang="en-US" sz="1100" dirty="0"/>
          </a:p>
          <a:p>
            <a:pPr indent="0" marL="0">
              <a:lnSpc>
                <a:spcPts val="1900"/>
              </a:lnSpc>
              <a:buNone/>
            </a:pPr>
            <a:r>
              <a:rPr lang="en-US" sz="1100" dirty="0">
                <a:solidFill>
                  <a:srgbClr val="CFE3DC"/>
                </a:solidFill>
                <a:latin typeface="Calibri" pitchFamily="34" charset="0"/>
                <a:ea typeface="Calibri" pitchFamily="34" charset="-122"/>
                <a:cs typeface="Calibri" pitchFamily="34" charset="-120"/>
              </a:rPr>
              <a:t>Node 20 y Apache</a:t>
            </a:r>
            <a:endParaRPr lang="en-US" sz="1100" dirty="0"/>
          </a:p>
        </p:txBody>
      </p:sp>
      <p:sp>
        <p:nvSpPr>
          <p:cNvPr id="16" name="Shape 14"/>
          <p:cNvSpPr/>
          <p:nvPr/>
        </p:nvSpPr>
        <p:spPr>
          <a:xfrm>
            <a:off x="8973922" y="1719072"/>
            <a:ext cx="2577008" cy="2395728"/>
          </a:xfrm>
          <a:prstGeom prst="roundRect">
            <a:avLst>
              <a:gd name="adj" fmla="val 1908"/>
            </a:avLst>
          </a:prstGeom>
          <a:solidFill>
            <a:srgbClr val="EEF5F1"/>
          </a:solidFill>
          <a:ln w="12700">
            <a:solidFill>
              <a:srgbClr val="D9E5DF"/>
            </a:solidFill>
            <a:prstDash val="solid"/>
          </a:ln>
        </p:spPr>
      </p:sp>
      <p:sp>
        <p:nvSpPr>
          <p:cNvPr id="17" name="Text 15"/>
          <p:cNvSpPr txBox="1"/>
          <p:nvPr/>
        </p:nvSpPr>
        <p:spPr>
          <a:xfrm>
            <a:off x="9193378" y="1901952"/>
            <a:ext cx="2138096" cy="256032"/>
          </a:xfrm>
          <a:prstGeom prst="rect">
            <a:avLst/>
          </a:prstGeom>
          <a:noFill/>
          <a:ln/>
        </p:spPr>
        <p:txBody>
          <a:bodyPr wrap="square" lIns="0" tIns="0" rIns="0" bIns="0" rtlCol="0" anchor="ctr"/>
          <a:lstStyle/>
          <a:p>
            <a:pPr indent="0" marL="0">
              <a:buNone/>
            </a:pPr>
            <a:r>
              <a:rPr lang="en-US" sz="950" b="1" dirty="0">
                <a:solidFill>
                  <a:srgbClr val="2C7A6B"/>
                </a:solidFill>
                <a:latin typeface="Calibri" pitchFamily="34" charset="0"/>
                <a:ea typeface="Calibri" pitchFamily="34" charset="-122"/>
                <a:cs typeface="Calibri" pitchFamily="34" charset="-120"/>
              </a:rPr>
              <a:t>CALIDAD Y COBRO</a:t>
            </a:r>
            <a:endParaRPr lang="en-US" sz="950" dirty="0"/>
          </a:p>
        </p:txBody>
      </p:sp>
      <p:sp>
        <p:nvSpPr>
          <p:cNvPr id="18" name="Text 16"/>
          <p:cNvSpPr txBox="1"/>
          <p:nvPr/>
        </p:nvSpPr>
        <p:spPr>
          <a:xfrm>
            <a:off x="9193378" y="2176272"/>
            <a:ext cx="2138096" cy="402336"/>
          </a:xfrm>
          <a:prstGeom prst="rect">
            <a:avLst/>
          </a:prstGeom>
          <a:noFill/>
          <a:ln/>
        </p:spPr>
        <p:txBody>
          <a:bodyPr wrap="square" lIns="0" tIns="0" rIns="0" bIns="0" rtlCol="0" anchor="ctr"/>
          <a:lstStyle/>
          <a:p>
            <a:pPr indent="0" marL="0">
              <a:buNone/>
            </a:pPr>
            <a:r>
              <a:rPr lang="en-US" sz="1700" b="1" dirty="0">
                <a:solidFill>
                  <a:srgbClr val="14524A"/>
                </a:solidFill>
                <a:latin typeface="Cambria" pitchFamily="34" charset="0"/>
                <a:ea typeface="Cambria" pitchFamily="34" charset="-122"/>
                <a:cs typeface="Cambria" pitchFamily="34" charset="-120"/>
              </a:rPr>
              <a:t>PHPUnit 11</a:t>
            </a:r>
            <a:endParaRPr lang="en-US" sz="1700" dirty="0"/>
          </a:p>
        </p:txBody>
      </p:sp>
      <p:sp>
        <p:nvSpPr>
          <p:cNvPr id="19" name="Text 17"/>
          <p:cNvSpPr txBox="1"/>
          <p:nvPr/>
        </p:nvSpPr>
        <p:spPr>
          <a:xfrm>
            <a:off x="9193378" y="2688336"/>
            <a:ext cx="2138096" cy="1920240"/>
          </a:xfrm>
          <a:prstGeom prst="rect">
            <a:avLst/>
          </a:prstGeom>
          <a:noFill/>
          <a:ln/>
        </p:spPr>
        <p:txBody>
          <a:bodyPr wrap="square" lIns="0" tIns="0" rIns="0" bIns="0" rtlCol="0" anchor="t"/>
          <a:lstStyle/>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Laravel Pint</a:t>
            </a:r>
            <a:endParaRPr lang="en-US" sz="1100" dirty="0"/>
          </a:p>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137 pruebas automatizadas</a:t>
            </a:r>
            <a:endParaRPr lang="en-US" sz="1100" dirty="0"/>
          </a:p>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Culqi como pasarela</a:t>
            </a:r>
            <a:endParaRPr lang="en-US" sz="1100" dirty="0"/>
          </a:p>
          <a:p>
            <a:pPr indent="0" marL="0">
              <a:lnSpc>
                <a:spcPts val="1900"/>
              </a:lnSpc>
              <a:buNone/>
            </a:pPr>
            <a:r>
              <a:rPr lang="en-US" sz="1100" dirty="0">
                <a:solidFill>
                  <a:srgbClr val="1C2321"/>
                </a:solidFill>
                <a:latin typeface="Calibri" pitchFamily="34" charset="0"/>
                <a:ea typeface="Calibri" pitchFamily="34" charset="-122"/>
                <a:cs typeface="Calibri" pitchFamily="34" charset="-120"/>
              </a:rPr>
              <a:t>Git con ramas</a:t>
            </a:r>
            <a:endParaRPr lang="en-US" sz="1100" dirty="0"/>
          </a:p>
        </p:txBody>
      </p:sp>
      <p:sp>
        <p:nvSpPr>
          <p:cNvPr id="20" name="Shape 18"/>
          <p:cNvSpPr/>
          <p:nvPr/>
        </p:nvSpPr>
        <p:spPr>
          <a:xfrm>
            <a:off x="640080" y="4462272"/>
            <a:ext cx="10911535" cy="1097280"/>
          </a:xfrm>
          <a:prstGeom prst="roundRect">
            <a:avLst>
              <a:gd name="adj" fmla="val 4167"/>
            </a:avLst>
          </a:prstGeom>
          <a:solidFill>
            <a:srgbClr val="EEF5F1"/>
          </a:solidFill>
          <a:ln w="12700">
            <a:solidFill>
              <a:srgbClr val="D9E5DF"/>
            </a:solidFill>
            <a:prstDash val="solid"/>
          </a:ln>
        </p:spPr>
      </p:sp>
      <p:sp>
        <p:nvSpPr>
          <p:cNvPr id="21" name="Text 19"/>
          <p:cNvSpPr txBox="1"/>
          <p:nvPr/>
        </p:nvSpPr>
        <p:spPr>
          <a:xfrm>
            <a:off x="914400" y="4462272"/>
            <a:ext cx="10362895" cy="1097280"/>
          </a:xfrm>
          <a:prstGeom prst="rect">
            <a:avLst/>
          </a:prstGeom>
          <a:noFill/>
          <a:ln/>
        </p:spPr>
        <p:txBody>
          <a:bodyPr wrap="square" lIns="0" tIns="0" rIns="0" bIns="0" rtlCol="0" anchor="ctr"/>
          <a:lstStyle/>
          <a:p>
            <a:pPr indent="0" marL="0">
              <a:lnSpc>
                <a:spcPts val="1700"/>
              </a:lnSpc>
              <a:buNone/>
            </a:pPr>
            <a:r>
              <a:rPr lang="en-US" sz="1200" b="1" dirty="0">
                <a:solidFill>
                  <a:srgbClr val="14524A"/>
                </a:solidFill>
                <a:latin typeface="Calibri" pitchFamily="34" charset="0"/>
                <a:ea typeface="Calibri" pitchFamily="34" charset="-122"/>
                <a:cs typeface="Calibri" pitchFamily="34" charset="-120"/>
              </a:rPr>
              <a:t xml:space="preserve">Por qué esta pila y no otra.  </a:t>
            </a:r>
            <a:pPr indent="0" marL="0">
              <a:lnSpc>
                <a:spcPts val="1700"/>
              </a:lnSpc>
              <a:buNone/>
            </a:pPr>
            <a:r>
              <a:rPr lang="en-US" sz="1200" dirty="0">
                <a:solidFill>
                  <a:srgbClr val="1C2321"/>
                </a:solidFill>
                <a:latin typeface="Calibri" pitchFamily="34" charset="0"/>
                <a:ea typeface="Calibri" pitchFamily="34" charset="-122"/>
                <a:cs typeface="Calibri" pitchFamily="34" charset="-120"/>
              </a:rPr>
              <a:t>Ninguna pieza es exótica ni de pago: VetPet Surco es una MYPE y tiene que poder contratar a cualquier programador para mantener el sistema, y poder mudarlo de proveedor si el costo sube. Es el requerimiento RNF-11.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El entorno se levanta con un comando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Tres contenedores, idénticos en la máquina de cada integrante y en el servidor</a:t>
            </a:r>
            <a:endParaRPr lang="en-US" sz="1400" dirty="0"/>
          </a:p>
        </p:txBody>
      </p:sp>
      <p:sp>
        <p:nvSpPr>
          <p:cNvPr id="4" name="Shape 2"/>
          <p:cNvSpPr/>
          <p:nvPr/>
        </p:nvSpPr>
        <p:spPr>
          <a:xfrm>
            <a:off x="640080" y="1755648"/>
            <a:ext cx="3503066" cy="2304288"/>
          </a:xfrm>
          <a:prstGeom prst="roundRect">
            <a:avLst>
              <a:gd name="adj" fmla="val 1984"/>
            </a:avLst>
          </a:prstGeom>
          <a:solidFill>
            <a:srgbClr val="EEF5F1"/>
          </a:solidFill>
          <a:ln w="12700">
            <a:solidFill>
              <a:srgbClr val="D9E5DF"/>
            </a:solidFill>
            <a:prstDash val="solid"/>
          </a:ln>
        </p:spPr>
      </p:sp>
      <p:sp>
        <p:nvSpPr>
          <p:cNvPr id="5" name="Shape 3"/>
          <p:cNvSpPr/>
          <p:nvPr/>
        </p:nvSpPr>
        <p:spPr>
          <a:xfrm>
            <a:off x="877824" y="1956816"/>
            <a:ext cx="1371600" cy="329184"/>
          </a:xfrm>
          <a:prstGeom prst="roundRect">
            <a:avLst>
              <a:gd name="adj" fmla="val 138889"/>
            </a:avLst>
          </a:prstGeom>
          <a:solidFill>
            <a:srgbClr val="14524A"/>
          </a:solidFill>
          <a:ln w="12700">
            <a:solidFill>
              <a:srgbClr val="14524A"/>
            </a:solidFill>
            <a:prstDash val="solid"/>
          </a:ln>
        </p:spPr>
      </p:sp>
      <p:sp>
        <p:nvSpPr>
          <p:cNvPr id="6" name="Text 4"/>
          <p:cNvSpPr txBox="1"/>
          <p:nvPr/>
        </p:nvSpPr>
        <p:spPr>
          <a:xfrm>
            <a:off x="877824" y="1956816"/>
            <a:ext cx="137160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a:t>
            </a:r>
            <a:endParaRPr lang="en-US" sz="1100" dirty="0"/>
          </a:p>
        </p:txBody>
      </p:sp>
      <p:sp>
        <p:nvSpPr>
          <p:cNvPr id="7" name="Text 5"/>
          <p:cNvSpPr txBox="1"/>
          <p:nvPr/>
        </p:nvSpPr>
        <p:spPr>
          <a:xfrm>
            <a:off x="877824" y="2395728"/>
            <a:ext cx="3027578" cy="384048"/>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La aplicación</a:t>
            </a:r>
            <a:endParaRPr lang="en-US" sz="1600" dirty="0"/>
          </a:p>
        </p:txBody>
      </p:sp>
      <p:sp>
        <p:nvSpPr>
          <p:cNvPr id="8" name="Text 6"/>
          <p:cNvSpPr txBox="1"/>
          <p:nvPr/>
        </p:nvSpPr>
        <p:spPr>
          <a:xfrm>
            <a:off x="877824" y="2852928"/>
            <a:ext cx="3027578" cy="1572768"/>
          </a:xfrm>
          <a:prstGeom prst="rect">
            <a:avLst/>
          </a:prstGeom>
          <a:noFill/>
          <a:ln/>
        </p:spPr>
        <p:txBody>
          <a:bodyPr wrap="square" lIns="0" tIns="0" rIns="0" bIns="0" rtlCol="0" anchor="t"/>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php:8.2-apache con las extensiones que Laravel necesita. Publica los puertos 80 y 443, con certificado propio para probar en HTTPS.</a:t>
            </a:r>
            <a:endParaRPr lang="en-US" sz="1150" dirty="0"/>
          </a:p>
        </p:txBody>
      </p:sp>
      <p:sp>
        <p:nvSpPr>
          <p:cNvPr id="9" name="Shape 7"/>
          <p:cNvSpPr/>
          <p:nvPr/>
        </p:nvSpPr>
        <p:spPr>
          <a:xfrm>
            <a:off x="4344314" y="1755648"/>
            <a:ext cx="3503066" cy="2304288"/>
          </a:xfrm>
          <a:prstGeom prst="roundRect">
            <a:avLst>
              <a:gd name="adj" fmla="val 1984"/>
            </a:avLst>
          </a:prstGeom>
          <a:solidFill>
            <a:srgbClr val="EEF5F1"/>
          </a:solidFill>
          <a:ln w="12700">
            <a:solidFill>
              <a:srgbClr val="D9E5DF"/>
            </a:solidFill>
            <a:prstDash val="solid"/>
          </a:ln>
        </p:spPr>
      </p:sp>
      <p:sp>
        <p:nvSpPr>
          <p:cNvPr id="10" name="Shape 8"/>
          <p:cNvSpPr/>
          <p:nvPr/>
        </p:nvSpPr>
        <p:spPr>
          <a:xfrm>
            <a:off x="4582058" y="1956816"/>
            <a:ext cx="1371600" cy="329184"/>
          </a:xfrm>
          <a:prstGeom prst="roundRect">
            <a:avLst>
              <a:gd name="adj" fmla="val 138889"/>
            </a:avLst>
          </a:prstGeom>
          <a:solidFill>
            <a:srgbClr val="14524A"/>
          </a:solidFill>
          <a:ln w="12700">
            <a:solidFill>
              <a:srgbClr val="14524A"/>
            </a:solidFill>
            <a:prstDash val="solid"/>
          </a:ln>
        </p:spPr>
      </p:sp>
      <p:sp>
        <p:nvSpPr>
          <p:cNvPr id="11" name="Text 9"/>
          <p:cNvSpPr txBox="1"/>
          <p:nvPr/>
        </p:nvSpPr>
        <p:spPr>
          <a:xfrm>
            <a:off x="4582058" y="1956816"/>
            <a:ext cx="137160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db</a:t>
            </a:r>
            <a:endParaRPr lang="en-US" sz="1100" dirty="0"/>
          </a:p>
        </p:txBody>
      </p:sp>
      <p:sp>
        <p:nvSpPr>
          <p:cNvPr id="12" name="Text 10"/>
          <p:cNvSpPr txBox="1"/>
          <p:nvPr/>
        </p:nvSpPr>
        <p:spPr>
          <a:xfrm>
            <a:off x="4582058" y="2395728"/>
            <a:ext cx="3027578" cy="384048"/>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La base de datos</a:t>
            </a:r>
            <a:endParaRPr lang="en-US" sz="1600" dirty="0"/>
          </a:p>
        </p:txBody>
      </p:sp>
      <p:sp>
        <p:nvSpPr>
          <p:cNvPr id="13" name="Text 11"/>
          <p:cNvSpPr txBox="1"/>
          <p:nvPr/>
        </p:nvSpPr>
        <p:spPr>
          <a:xfrm>
            <a:off x="4582058" y="2852928"/>
            <a:ext cx="3027578" cy="1572768"/>
          </a:xfrm>
          <a:prstGeom prst="rect">
            <a:avLst/>
          </a:prstGeom>
          <a:noFill/>
          <a:ln/>
        </p:spPr>
        <p:txBody>
          <a:bodyPr wrap="square" lIns="0" tIns="0" rIns="0" bIns="0" rtlCol="0" anchor="t"/>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mysql:8.0 con volumen propio y verificación de salud: la aplicación no arranca hasta que el motor responde.</a:t>
            </a:r>
            <a:endParaRPr lang="en-US" sz="1150" dirty="0"/>
          </a:p>
        </p:txBody>
      </p:sp>
      <p:sp>
        <p:nvSpPr>
          <p:cNvPr id="14" name="Shape 12"/>
          <p:cNvSpPr/>
          <p:nvPr/>
        </p:nvSpPr>
        <p:spPr>
          <a:xfrm>
            <a:off x="8048549" y="1755648"/>
            <a:ext cx="3503066" cy="2304288"/>
          </a:xfrm>
          <a:prstGeom prst="roundRect">
            <a:avLst>
              <a:gd name="adj" fmla="val 1984"/>
            </a:avLst>
          </a:prstGeom>
          <a:solidFill>
            <a:srgbClr val="14524A"/>
          </a:solidFill>
          <a:ln w="12700">
            <a:solidFill>
              <a:srgbClr val="14524A"/>
            </a:solidFill>
            <a:prstDash val="solid"/>
          </a:ln>
        </p:spPr>
      </p:sp>
      <p:sp>
        <p:nvSpPr>
          <p:cNvPr id="15" name="Shape 13"/>
          <p:cNvSpPr/>
          <p:nvPr/>
        </p:nvSpPr>
        <p:spPr>
          <a:xfrm>
            <a:off x="8286293" y="1956816"/>
            <a:ext cx="1371600" cy="329184"/>
          </a:xfrm>
          <a:prstGeom prst="roundRect">
            <a:avLst>
              <a:gd name="adj" fmla="val 138889"/>
            </a:avLst>
          </a:prstGeom>
          <a:solidFill>
            <a:srgbClr val="E8A33D"/>
          </a:solidFill>
          <a:ln w="12700">
            <a:solidFill>
              <a:srgbClr val="E8A33D"/>
            </a:solidFill>
            <a:prstDash val="solid"/>
          </a:ln>
        </p:spPr>
      </p:sp>
      <p:sp>
        <p:nvSpPr>
          <p:cNvPr id="16" name="Text 14"/>
          <p:cNvSpPr txBox="1"/>
          <p:nvPr/>
        </p:nvSpPr>
        <p:spPr>
          <a:xfrm>
            <a:off x="8286293" y="1956816"/>
            <a:ext cx="1371600" cy="329184"/>
          </a:xfrm>
          <a:prstGeom prst="rect">
            <a:avLst/>
          </a:prstGeom>
          <a:noFill/>
          <a:ln/>
        </p:spPr>
        <p:txBody>
          <a:bodyPr wrap="square" lIns="0" tIns="0" rIns="0" bIns="0" rtlCol="0" anchor="ctr"/>
          <a:lstStyle/>
          <a:p>
            <a:pPr algn="ctr" indent="0" marL="0">
              <a:buNone/>
            </a:pPr>
            <a:r>
              <a:rPr lang="en-US" sz="1100" b="1" dirty="0">
                <a:solidFill>
                  <a:srgbClr val="14524A"/>
                </a:solidFill>
                <a:latin typeface="Courier New" pitchFamily="34" charset="0"/>
                <a:ea typeface="Courier New" pitchFamily="34" charset="-122"/>
                <a:cs typeface="Courier New" pitchFamily="34" charset="-120"/>
              </a:rPr>
              <a:t>mailhog</a:t>
            </a:r>
            <a:endParaRPr lang="en-US" sz="1100" dirty="0"/>
          </a:p>
        </p:txBody>
      </p:sp>
      <p:sp>
        <p:nvSpPr>
          <p:cNvPr id="17" name="Text 15"/>
          <p:cNvSpPr txBox="1"/>
          <p:nvPr/>
        </p:nvSpPr>
        <p:spPr>
          <a:xfrm>
            <a:off x="8286293" y="2395728"/>
            <a:ext cx="3027578"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El buzón de pruebas</a:t>
            </a:r>
            <a:endParaRPr lang="en-US" sz="1600" dirty="0"/>
          </a:p>
        </p:txBody>
      </p:sp>
      <p:sp>
        <p:nvSpPr>
          <p:cNvPr id="18" name="Text 16"/>
          <p:cNvSpPr txBox="1"/>
          <p:nvPr/>
        </p:nvSpPr>
        <p:spPr>
          <a:xfrm>
            <a:off x="8286293" y="2852928"/>
            <a:ext cx="3027578" cy="1572768"/>
          </a:xfrm>
          <a:prstGeom prst="rect">
            <a:avLst/>
          </a:prstGeom>
          <a:noFill/>
          <a:ln/>
        </p:spPr>
        <p:txBody>
          <a:bodyPr wrap="square" lIns="0" tIns="0" rIns="0" bIns="0" rtlCol="0" anchor="t"/>
          <a:lstStyle/>
          <a:p>
            <a:pPr indent="0" marL="0">
              <a:lnSpc>
                <a:spcPts val="1600"/>
              </a:lnSpc>
              <a:buNone/>
            </a:pPr>
            <a:r>
              <a:rPr lang="en-US" sz="1150" dirty="0">
                <a:solidFill>
                  <a:srgbClr val="CFE3DC"/>
                </a:solidFill>
                <a:latin typeface="Calibri" pitchFamily="34" charset="0"/>
                <a:ea typeface="Calibri" pitchFamily="34" charset="-122"/>
                <a:cs typeface="Calibri" pitchFamily="34" charset="-120"/>
              </a:rPr>
              <a:t>Atrapa todos los correos que el sistema envía y los muestra en el navegador. Se demuestra el aviso real sin escribirle a un cliente.</a:t>
            </a:r>
            <a:endParaRPr lang="en-US" sz="1150" dirty="0"/>
          </a:p>
        </p:txBody>
      </p:sp>
      <p:sp>
        <p:nvSpPr>
          <p:cNvPr id="19" name="Shape 17"/>
          <p:cNvSpPr/>
          <p:nvPr/>
        </p:nvSpPr>
        <p:spPr>
          <a:xfrm>
            <a:off x="640080" y="4315968"/>
            <a:ext cx="10911535" cy="621792"/>
          </a:xfrm>
          <a:prstGeom prst="roundRect">
            <a:avLst>
              <a:gd name="adj" fmla="val 7353"/>
            </a:avLst>
          </a:prstGeom>
          <a:solidFill>
            <a:srgbClr val="14524A"/>
          </a:solidFill>
          <a:ln w="12700">
            <a:solidFill>
              <a:srgbClr val="14524A"/>
            </a:solidFill>
            <a:prstDash val="solid"/>
          </a:ln>
        </p:spPr>
      </p:sp>
      <p:sp>
        <p:nvSpPr>
          <p:cNvPr id="20" name="Text 18"/>
          <p:cNvSpPr txBox="1"/>
          <p:nvPr/>
        </p:nvSpPr>
        <p:spPr>
          <a:xfrm>
            <a:off x="914400" y="4315968"/>
            <a:ext cx="3657600" cy="621792"/>
          </a:xfrm>
          <a:prstGeom prst="rect">
            <a:avLst/>
          </a:prstGeom>
          <a:noFill/>
          <a:ln/>
        </p:spPr>
        <p:txBody>
          <a:bodyPr wrap="square" lIns="0" tIns="0" rIns="0" bIns="0" rtlCol="0" anchor="ctr"/>
          <a:lstStyle/>
          <a:p>
            <a:pPr indent="0" marL="0">
              <a:buNone/>
            </a:pPr>
            <a:r>
              <a:rPr lang="en-US" sz="1400" b="1" dirty="0">
                <a:solidFill>
                  <a:srgbClr val="E8A33D"/>
                </a:solidFill>
                <a:latin typeface="Courier New" pitchFamily="34" charset="0"/>
                <a:ea typeface="Courier New" pitchFamily="34" charset="-122"/>
                <a:cs typeface="Courier New" pitchFamily="34" charset="-120"/>
              </a:rPr>
              <a:t>docker compose up -d</a:t>
            </a:r>
            <a:endParaRPr lang="en-US" sz="1400" dirty="0"/>
          </a:p>
        </p:txBody>
      </p:sp>
      <p:sp>
        <p:nvSpPr>
          <p:cNvPr id="21" name="Text 19"/>
          <p:cNvSpPr txBox="1"/>
          <p:nvPr/>
        </p:nvSpPr>
        <p:spPr>
          <a:xfrm>
            <a:off x="4663440" y="4315968"/>
            <a:ext cx="6613855" cy="621792"/>
          </a:xfrm>
          <a:prstGeom prst="rect">
            <a:avLst/>
          </a:prstGeom>
          <a:noFill/>
          <a:ln/>
        </p:spPr>
        <p:txBody>
          <a:bodyPr wrap="square" lIns="0" tIns="0" rIns="0" bIns="0" rtlCol="0" anchor="ctr"/>
          <a:lstStyle/>
          <a:p>
            <a:pPr indent="0" marL="0">
              <a:buNone/>
            </a:pPr>
            <a:r>
              <a:rPr lang="en-US" sz="1200" dirty="0">
                <a:solidFill>
                  <a:srgbClr val="CFE3DC"/>
                </a:solidFill>
                <a:latin typeface="Calibri" pitchFamily="34" charset="0"/>
                <a:ea typeface="Calibri" pitchFamily="34" charset="-122"/>
                <a:cs typeface="Calibri" pitchFamily="34" charset="-120"/>
              </a:rPr>
              <a:t>Un solo comando deja el sistema corriendo, con la base creada y el buzón escuchando.</a:t>
            </a:r>
            <a:endParaRPr lang="en-US" sz="1200" dirty="0"/>
          </a:p>
        </p:txBody>
      </p:sp>
      <p:sp>
        <p:nvSpPr>
          <p:cNvPr id="22" name="Text 20"/>
          <p:cNvSpPr txBox="1"/>
          <p:nvPr/>
        </p:nvSpPr>
        <p:spPr>
          <a:xfrm>
            <a:off x="640080" y="5084064"/>
            <a:ext cx="10911535" cy="512064"/>
          </a:xfrm>
          <a:prstGeom prst="rect">
            <a:avLst/>
          </a:prstGeom>
          <a:noFill/>
          <a:ln/>
        </p:spPr>
        <p:txBody>
          <a:bodyPr wrap="square" lIns="0" tIns="0" rIns="0" bIns="0" rtlCol="0" anchor="ctr"/>
          <a:lstStyle/>
          <a:p>
            <a:pPr indent="0" marL="0">
              <a:buNone/>
            </a:pPr>
            <a:r>
              <a:rPr lang="en-US" sz="1150" b="1" dirty="0">
                <a:solidFill>
                  <a:srgbClr val="5D6B66"/>
                </a:solidFill>
                <a:latin typeface="Calibri" pitchFamily="34" charset="0"/>
                <a:ea typeface="Calibri" pitchFamily="34" charset="-122"/>
                <a:cs typeface="Calibri" pitchFamily="34" charset="-120"/>
              </a:rPr>
              <a:t xml:space="preserve">La aplicación vive en public_html/ y la infraestructura fuera, en docker/. </a:t>
            </a:r>
            <a:pPr indent="0" marL="0">
              <a:buNone/>
            </a:pPr>
            <a:r>
              <a:rPr lang="en-US" sz="1150" dirty="0">
                <a:solidFill>
                  <a:srgbClr val="5D6B66"/>
                </a:solidFill>
                <a:latin typeface="Calibri" pitchFamily="34" charset="0"/>
                <a:ea typeface="Calibri" pitchFamily="34" charset="-122"/>
                <a:cs typeface="Calibri" pitchFamily="34" charset="-120"/>
              </a:rPr>
              <a:t>Es la convención de carpetas que ya se usa en la empresa, así que el proyecto se despliega igual que los demás.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Cómo se hacen cumplir las reglas</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La decisión técnica que sostiene todo el modelo de negocio</a:t>
            </a:r>
            <a:endParaRPr lang="en-US" sz="1400" dirty="0"/>
          </a:p>
        </p:txBody>
      </p:sp>
      <p:sp>
        <p:nvSpPr>
          <p:cNvPr id="4" name="Shape 2"/>
          <p:cNvSpPr/>
          <p:nvPr/>
        </p:nvSpPr>
        <p:spPr>
          <a:xfrm>
            <a:off x="640080" y="1682496"/>
            <a:ext cx="2590724" cy="1060704"/>
          </a:xfrm>
          <a:prstGeom prst="roundRect">
            <a:avLst>
              <a:gd name="adj" fmla="val 4310"/>
            </a:avLst>
          </a:prstGeom>
          <a:solidFill>
            <a:srgbClr val="EEF5F1"/>
          </a:solidFill>
          <a:ln w="12700">
            <a:solidFill>
              <a:srgbClr val="D9E5DF"/>
            </a:solidFill>
            <a:prstDash val="solid"/>
          </a:ln>
        </p:spPr>
      </p:sp>
      <p:sp>
        <p:nvSpPr>
          <p:cNvPr id="5" name="Text 3"/>
          <p:cNvSpPr txBox="1"/>
          <p:nvPr/>
        </p:nvSpPr>
        <p:spPr>
          <a:xfrm>
            <a:off x="640080" y="1773936"/>
            <a:ext cx="2590724" cy="512064"/>
          </a:xfrm>
          <a:prstGeom prst="rect">
            <a:avLst/>
          </a:prstGeom>
          <a:noFill/>
          <a:ln/>
        </p:spPr>
        <p:txBody>
          <a:bodyPr wrap="square" lIns="0" tIns="0" rIns="0" bIns="0" rtlCol="0" anchor="ctr"/>
          <a:lstStyle/>
          <a:p>
            <a:pPr algn="ctr" indent="0" marL="0">
              <a:buNone/>
            </a:pPr>
            <a:r>
              <a:rPr lang="en-US" sz="3000" b="1" dirty="0">
                <a:solidFill>
                  <a:srgbClr val="14524A"/>
                </a:solidFill>
                <a:latin typeface="Cambria" pitchFamily="34" charset="0"/>
                <a:ea typeface="Cambria" pitchFamily="34" charset="-122"/>
                <a:cs typeface="Cambria" pitchFamily="34" charset="-120"/>
              </a:rPr>
              <a:t>9</a:t>
            </a:r>
            <a:endParaRPr lang="en-US" sz="3000" dirty="0"/>
          </a:p>
        </p:txBody>
      </p:sp>
      <p:sp>
        <p:nvSpPr>
          <p:cNvPr id="6" name="Text 4"/>
          <p:cNvSpPr txBox="1"/>
          <p:nvPr/>
        </p:nvSpPr>
        <p:spPr>
          <a:xfrm>
            <a:off x="640080" y="2286000"/>
            <a:ext cx="2590724" cy="347472"/>
          </a:xfrm>
          <a:prstGeom prst="rect">
            <a:avLst/>
          </a:prstGeom>
          <a:noFill/>
          <a:ln/>
        </p:spPr>
        <p:txBody>
          <a:bodyPr wrap="square" lIns="0" tIns="0" rIns="0" bIns="0" rtlCol="0" anchor="ctr"/>
          <a:lstStyle/>
          <a:p>
            <a:pPr algn="ctr" indent="0" marL="0">
              <a:buNone/>
            </a:pPr>
            <a:r>
              <a:rPr lang="en-US" sz="1150" dirty="0">
                <a:solidFill>
                  <a:srgbClr val="5D6B66"/>
                </a:solidFill>
                <a:latin typeface="Calibri" pitchFamily="34" charset="0"/>
                <a:ea typeface="Calibri" pitchFamily="34" charset="-122"/>
                <a:cs typeface="Calibri" pitchFamily="34" charset="-120"/>
              </a:rPr>
              <a:t>tablas</a:t>
            </a:r>
            <a:endParaRPr lang="en-US" sz="1150" dirty="0"/>
          </a:p>
        </p:txBody>
      </p:sp>
      <p:sp>
        <p:nvSpPr>
          <p:cNvPr id="7" name="Shape 5"/>
          <p:cNvSpPr/>
          <p:nvPr/>
        </p:nvSpPr>
        <p:spPr>
          <a:xfrm>
            <a:off x="3413684" y="1682496"/>
            <a:ext cx="2590724" cy="1060704"/>
          </a:xfrm>
          <a:prstGeom prst="roundRect">
            <a:avLst>
              <a:gd name="adj" fmla="val 4310"/>
            </a:avLst>
          </a:prstGeom>
          <a:solidFill>
            <a:srgbClr val="EEF5F1"/>
          </a:solidFill>
          <a:ln w="12700">
            <a:solidFill>
              <a:srgbClr val="D9E5DF"/>
            </a:solidFill>
            <a:prstDash val="solid"/>
          </a:ln>
        </p:spPr>
      </p:sp>
      <p:sp>
        <p:nvSpPr>
          <p:cNvPr id="8" name="Text 6"/>
          <p:cNvSpPr txBox="1"/>
          <p:nvPr/>
        </p:nvSpPr>
        <p:spPr>
          <a:xfrm>
            <a:off x="3413684" y="1773936"/>
            <a:ext cx="2590724" cy="512064"/>
          </a:xfrm>
          <a:prstGeom prst="rect">
            <a:avLst/>
          </a:prstGeom>
          <a:noFill/>
          <a:ln/>
        </p:spPr>
        <p:txBody>
          <a:bodyPr wrap="square" lIns="0" tIns="0" rIns="0" bIns="0" rtlCol="0" anchor="ctr"/>
          <a:lstStyle/>
          <a:p>
            <a:pPr algn="ctr" indent="0" marL="0">
              <a:buNone/>
            </a:pPr>
            <a:r>
              <a:rPr lang="en-US" sz="3000" b="1" dirty="0">
                <a:solidFill>
                  <a:srgbClr val="14524A"/>
                </a:solidFill>
                <a:latin typeface="Cambria" pitchFamily="34" charset="0"/>
                <a:ea typeface="Cambria" pitchFamily="34" charset="-122"/>
                <a:cs typeface="Cambria" pitchFamily="34" charset="-120"/>
              </a:rPr>
              <a:t>14</a:t>
            </a:r>
            <a:endParaRPr lang="en-US" sz="3000" dirty="0"/>
          </a:p>
        </p:txBody>
      </p:sp>
      <p:sp>
        <p:nvSpPr>
          <p:cNvPr id="9" name="Text 7"/>
          <p:cNvSpPr txBox="1"/>
          <p:nvPr/>
        </p:nvSpPr>
        <p:spPr>
          <a:xfrm>
            <a:off x="3413684" y="2286000"/>
            <a:ext cx="2590724" cy="347472"/>
          </a:xfrm>
          <a:prstGeom prst="rect">
            <a:avLst/>
          </a:prstGeom>
          <a:noFill/>
          <a:ln/>
        </p:spPr>
        <p:txBody>
          <a:bodyPr wrap="square" lIns="0" tIns="0" rIns="0" bIns="0" rtlCol="0" anchor="ctr"/>
          <a:lstStyle/>
          <a:p>
            <a:pPr algn="ctr" indent="0" marL="0">
              <a:buNone/>
            </a:pPr>
            <a:r>
              <a:rPr lang="en-US" sz="1150" dirty="0">
                <a:solidFill>
                  <a:srgbClr val="5D6B66"/>
                </a:solidFill>
                <a:latin typeface="Calibri" pitchFamily="34" charset="0"/>
                <a:ea typeface="Calibri" pitchFamily="34" charset="-122"/>
                <a:cs typeface="Calibri" pitchFamily="34" charset="-120"/>
              </a:rPr>
              <a:t>servicios de dominio</a:t>
            </a:r>
            <a:endParaRPr lang="en-US" sz="1150" dirty="0"/>
          </a:p>
        </p:txBody>
      </p:sp>
      <p:sp>
        <p:nvSpPr>
          <p:cNvPr id="10" name="Shape 8"/>
          <p:cNvSpPr/>
          <p:nvPr/>
        </p:nvSpPr>
        <p:spPr>
          <a:xfrm>
            <a:off x="6187288" y="1682496"/>
            <a:ext cx="2590724" cy="1060704"/>
          </a:xfrm>
          <a:prstGeom prst="roundRect">
            <a:avLst>
              <a:gd name="adj" fmla="val 4310"/>
            </a:avLst>
          </a:prstGeom>
          <a:solidFill>
            <a:srgbClr val="EEF5F1"/>
          </a:solidFill>
          <a:ln w="12700">
            <a:solidFill>
              <a:srgbClr val="D9E5DF"/>
            </a:solidFill>
            <a:prstDash val="solid"/>
          </a:ln>
        </p:spPr>
      </p:sp>
      <p:sp>
        <p:nvSpPr>
          <p:cNvPr id="11" name="Text 9"/>
          <p:cNvSpPr txBox="1"/>
          <p:nvPr/>
        </p:nvSpPr>
        <p:spPr>
          <a:xfrm>
            <a:off x="6187288" y="1773936"/>
            <a:ext cx="2590724" cy="512064"/>
          </a:xfrm>
          <a:prstGeom prst="rect">
            <a:avLst/>
          </a:prstGeom>
          <a:noFill/>
          <a:ln/>
        </p:spPr>
        <p:txBody>
          <a:bodyPr wrap="square" lIns="0" tIns="0" rIns="0" bIns="0" rtlCol="0" anchor="ctr"/>
          <a:lstStyle/>
          <a:p>
            <a:pPr algn="ctr" indent="0" marL="0">
              <a:buNone/>
            </a:pPr>
            <a:r>
              <a:rPr lang="en-US" sz="3000" b="1" dirty="0">
                <a:solidFill>
                  <a:srgbClr val="14524A"/>
                </a:solidFill>
                <a:latin typeface="Cambria" pitchFamily="34" charset="0"/>
                <a:ea typeface="Cambria" pitchFamily="34" charset="-122"/>
                <a:cs typeface="Cambria" pitchFamily="34" charset="-120"/>
              </a:rPr>
              <a:t>32</a:t>
            </a:r>
            <a:endParaRPr lang="en-US" sz="3000" dirty="0"/>
          </a:p>
        </p:txBody>
      </p:sp>
      <p:sp>
        <p:nvSpPr>
          <p:cNvPr id="12" name="Text 10"/>
          <p:cNvSpPr txBox="1"/>
          <p:nvPr/>
        </p:nvSpPr>
        <p:spPr>
          <a:xfrm>
            <a:off x="6187288" y="2286000"/>
            <a:ext cx="2590724" cy="347472"/>
          </a:xfrm>
          <a:prstGeom prst="rect">
            <a:avLst/>
          </a:prstGeom>
          <a:noFill/>
          <a:ln/>
        </p:spPr>
        <p:txBody>
          <a:bodyPr wrap="square" lIns="0" tIns="0" rIns="0" bIns="0" rtlCol="0" anchor="ctr"/>
          <a:lstStyle/>
          <a:p>
            <a:pPr algn="ctr" indent="0" marL="0">
              <a:buNone/>
            </a:pPr>
            <a:r>
              <a:rPr lang="en-US" sz="1150" dirty="0">
                <a:solidFill>
                  <a:srgbClr val="5D6B66"/>
                </a:solidFill>
                <a:latin typeface="Calibri" pitchFamily="34" charset="0"/>
                <a:ea typeface="Calibri" pitchFamily="34" charset="-122"/>
                <a:cs typeface="Calibri" pitchFamily="34" charset="-120"/>
              </a:rPr>
              <a:t>rutas propias</a:t>
            </a:r>
            <a:endParaRPr lang="en-US" sz="1150" dirty="0"/>
          </a:p>
        </p:txBody>
      </p:sp>
      <p:sp>
        <p:nvSpPr>
          <p:cNvPr id="13" name="Shape 11"/>
          <p:cNvSpPr/>
          <p:nvPr/>
        </p:nvSpPr>
        <p:spPr>
          <a:xfrm>
            <a:off x="8960891" y="1682496"/>
            <a:ext cx="2590724" cy="1060704"/>
          </a:xfrm>
          <a:prstGeom prst="roundRect">
            <a:avLst>
              <a:gd name="adj" fmla="val 4310"/>
            </a:avLst>
          </a:prstGeom>
          <a:solidFill>
            <a:srgbClr val="EEF5F1"/>
          </a:solidFill>
          <a:ln w="12700">
            <a:solidFill>
              <a:srgbClr val="D9E5DF"/>
            </a:solidFill>
            <a:prstDash val="solid"/>
          </a:ln>
        </p:spPr>
      </p:sp>
      <p:sp>
        <p:nvSpPr>
          <p:cNvPr id="14" name="Text 12"/>
          <p:cNvSpPr txBox="1"/>
          <p:nvPr/>
        </p:nvSpPr>
        <p:spPr>
          <a:xfrm>
            <a:off x="8960891" y="1773936"/>
            <a:ext cx="2590724" cy="512064"/>
          </a:xfrm>
          <a:prstGeom prst="rect">
            <a:avLst/>
          </a:prstGeom>
          <a:noFill/>
          <a:ln/>
        </p:spPr>
        <p:txBody>
          <a:bodyPr wrap="square" lIns="0" tIns="0" rIns="0" bIns="0" rtlCol="0" anchor="ctr"/>
          <a:lstStyle/>
          <a:p>
            <a:pPr algn="ctr" indent="0" marL="0">
              <a:buNone/>
            </a:pPr>
            <a:r>
              <a:rPr lang="en-US" sz="3000" b="1" dirty="0">
                <a:solidFill>
                  <a:srgbClr val="14524A"/>
                </a:solidFill>
                <a:latin typeface="Cambria" pitchFamily="34" charset="0"/>
                <a:ea typeface="Cambria" pitchFamily="34" charset="-122"/>
                <a:cs typeface="Cambria" pitchFamily="34" charset="-120"/>
              </a:rPr>
              <a:t>3</a:t>
            </a:r>
            <a:endParaRPr lang="en-US" sz="3000" dirty="0"/>
          </a:p>
        </p:txBody>
      </p:sp>
      <p:sp>
        <p:nvSpPr>
          <p:cNvPr id="15" name="Text 13"/>
          <p:cNvSpPr txBox="1"/>
          <p:nvPr/>
        </p:nvSpPr>
        <p:spPr>
          <a:xfrm>
            <a:off x="8960891" y="2286000"/>
            <a:ext cx="2590724" cy="347472"/>
          </a:xfrm>
          <a:prstGeom prst="rect">
            <a:avLst/>
          </a:prstGeom>
          <a:noFill/>
          <a:ln/>
        </p:spPr>
        <p:txBody>
          <a:bodyPr wrap="square" lIns="0" tIns="0" rIns="0" bIns="0" rtlCol="0" anchor="ctr"/>
          <a:lstStyle/>
          <a:p>
            <a:pPr algn="ctr" indent="0" marL="0">
              <a:buNone/>
            </a:pPr>
            <a:r>
              <a:rPr lang="en-US" sz="1150" dirty="0">
                <a:solidFill>
                  <a:srgbClr val="5D6B66"/>
                </a:solidFill>
                <a:latin typeface="Calibri" pitchFamily="34" charset="0"/>
                <a:ea typeface="Calibri" pitchFamily="34" charset="-122"/>
                <a:cs typeface="Calibri" pitchFamily="34" charset="-120"/>
              </a:rPr>
              <a:t>perfiles de acceso</a:t>
            </a:r>
            <a:endParaRPr lang="en-US" sz="1150" dirty="0"/>
          </a:p>
        </p:txBody>
      </p:sp>
      <p:sp>
        <p:nvSpPr>
          <p:cNvPr id="16" name="Text 14"/>
          <p:cNvSpPr txBox="1"/>
          <p:nvPr/>
        </p:nvSpPr>
        <p:spPr>
          <a:xfrm>
            <a:off x="640080" y="2889504"/>
            <a:ext cx="10911535" cy="365760"/>
          </a:xfrm>
          <a:prstGeom prst="rect">
            <a:avLst/>
          </a:prstGeom>
          <a:noFill/>
          <a:ln/>
        </p:spPr>
        <p:txBody>
          <a:bodyPr wrap="square" lIns="0" tIns="0" rIns="0" bIns="0" rtlCol="0" anchor="ctr"/>
          <a:lstStyle/>
          <a:p>
            <a:pPr indent="0" marL="0">
              <a:buNone/>
            </a:pPr>
            <a:r>
              <a:rPr lang="en-US" sz="1700" b="1" dirty="0">
                <a:solidFill>
                  <a:srgbClr val="14524A"/>
                </a:solidFill>
                <a:latin typeface="Cambria" pitchFamily="34" charset="0"/>
                <a:ea typeface="Cambria" pitchFamily="34" charset="-122"/>
                <a:cs typeface="Cambria" pitchFamily="34" charset="-120"/>
              </a:rPr>
              <a:t>Cada regla se hace cumplir dos veces</a:t>
            </a:r>
            <a:endParaRPr lang="en-US" sz="1700" dirty="0"/>
          </a:p>
        </p:txBody>
      </p:sp>
      <p:sp>
        <p:nvSpPr>
          <p:cNvPr id="17" name="Shape 15"/>
          <p:cNvSpPr/>
          <p:nvPr/>
        </p:nvSpPr>
        <p:spPr>
          <a:xfrm>
            <a:off x="640080" y="3346704"/>
            <a:ext cx="5336896" cy="1481328"/>
          </a:xfrm>
          <a:prstGeom prst="roundRect">
            <a:avLst>
              <a:gd name="adj" fmla="val 3086"/>
            </a:avLst>
          </a:prstGeom>
          <a:solidFill>
            <a:srgbClr val="EEF5F1"/>
          </a:solidFill>
          <a:ln w="12700">
            <a:solidFill>
              <a:srgbClr val="D9E5DF"/>
            </a:solidFill>
            <a:prstDash val="solid"/>
          </a:ln>
        </p:spPr>
      </p:sp>
      <p:sp>
        <p:nvSpPr>
          <p:cNvPr id="18" name="Text 16"/>
          <p:cNvSpPr txBox="1"/>
          <p:nvPr/>
        </p:nvSpPr>
        <p:spPr>
          <a:xfrm>
            <a:off x="896112" y="3547872"/>
            <a:ext cx="482483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CAPA 1  ·  LA APLICACIÓN</a:t>
            </a:r>
            <a:endParaRPr lang="en-US" sz="1050" dirty="0"/>
          </a:p>
        </p:txBody>
      </p:sp>
      <p:sp>
        <p:nvSpPr>
          <p:cNvPr id="19" name="Text 17"/>
          <p:cNvSpPr txBox="1"/>
          <p:nvPr/>
        </p:nvSpPr>
        <p:spPr>
          <a:xfrm>
            <a:off x="896112" y="3840480"/>
            <a:ext cx="482483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El servicio decide y avisa</a:t>
            </a:r>
            <a:endParaRPr lang="en-US" sz="1600" dirty="0"/>
          </a:p>
        </p:txBody>
      </p:sp>
      <p:sp>
        <p:nvSpPr>
          <p:cNvPr id="20" name="Text 18"/>
          <p:cNvSpPr txBox="1"/>
          <p:nvPr/>
        </p:nvSpPr>
        <p:spPr>
          <a:xfrm>
            <a:off x="896112" y="4279392"/>
            <a:ext cx="4824832" cy="347472"/>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Comprueba la regla y devuelve un mensaje que el cliente entiende: qué producto falta y cuántas unidades quedan.</a:t>
            </a:r>
            <a:endParaRPr lang="en-US" sz="1200" dirty="0"/>
          </a:p>
        </p:txBody>
      </p:sp>
      <p:sp>
        <p:nvSpPr>
          <p:cNvPr id="21" name="Shape 19"/>
          <p:cNvSpPr/>
          <p:nvPr/>
        </p:nvSpPr>
        <p:spPr>
          <a:xfrm>
            <a:off x="6214720" y="3346704"/>
            <a:ext cx="5336896" cy="1481328"/>
          </a:xfrm>
          <a:prstGeom prst="roundRect">
            <a:avLst>
              <a:gd name="adj" fmla="val 3086"/>
            </a:avLst>
          </a:prstGeom>
          <a:solidFill>
            <a:srgbClr val="EEF5F1"/>
          </a:solidFill>
          <a:ln w="12700">
            <a:solidFill>
              <a:srgbClr val="D9E5DF"/>
            </a:solidFill>
            <a:prstDash val="solid"/>
          </a:ln>
        </p:spPr>
      </p:sp>
      <p:sp>
        <p:nvSpPr>
          <p:cNvPr id="22" name="Text 20"/>
          <p:cNvSpPr txBox="1"/>
          <p:nvPr/>
        </p:nvSpPr>
        <p:spPr>
          <a:xfrm>
            <a:off x="6470752" y="3547872"/>
            <a:ext cx="482483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CAPA 2  ·  LA BASE DE DATOS</a:t>
            </a:r>
            <a:endParaRPr lang="en-US" sz="1050" dirty="0"/>
          </a:p>
        </p:txBody>
      </p:sp>
      <p:sp>
        <p:nvSpPr>
          <p:cNvPr id="23" name="Text 21"/>
          <p:cNvSpPr txBox="1"/>
          <p:nvPr/>
        </p:nvSpPr>
        <p:spPr>
          <a:xfrm>
            <a:off x="6470752" y="3840480"/>
            <a:ext cx="482483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El motor la garantiza</a:t>
            </a:r>
            <a:endParaRPr lang="en-US" sz="1600" dirty="0"/>
          </a:p>
        </p:txBody>
      </p:sp>
      <p:sp>
        <p:nvSpPr>
          <p:cNvPr id="24" name="Text 22"/>
          <p:cNvSpPr txBox="1"/>
          <p:nvPr/>
        </p:nvSpPr>
        <p:spPr>
          <a:xfrm>
            <a:off x="6470752" y="4279392"/>
            <a:ext cx="4824832" cy="347472"/>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Restricciones en las tablas. Aunque un error de programación futuro se salte la capa anterior, el dato inválido no entra.</a:t>
            </a:r>
            <a:endParaRPr lang="en-US" sz="1200" dirty="0"/>
          </a:p>
        </p:txBody>
      </p:sp>
      <p:sp>
        <p:nvSpPr>
          <p:cNvPr id="25" name="Shape 23"/>
          <p:cNvSpPr/>
          <p:nvPr/>
        </p:nvSpPr>
        <p:spPr>
          <a:xfrm>
            <a:off x="640080" y="4992624"/>
            <a:ext cx="10911535" cy="914400"/>
          </a:xfrm>
          <a:prstGeom prst="roundRect">
            <a:avLst>
              <a:gd name="adj" fmla="val 5000"/>
            </a:avLst>
          </a:prstGeom>
          <a:solidFill>
            <a:srgbClr val="14524A"/>
          </a:solidFill>
          <a:ln w="12700">
            <a:solidFill>
              <a:srgbClr val="14524A"/>
            </a:solidFill>
            <a:prstDash val="solid"/>
          </a:ln>
        </p:spPr>
      </p:sp>
      <p:sp>
        <p:nvSpPr>
          <p:cNvPr id="26" name="Text 24"/>
          <p:cNvSpPr txBox="1"/>
          <p:nvPr/>
        </p:nvSpPr>
        <p:spPr>
          <a:xfrm>
            <a:off x="950976" y="4992624"/>
            <a:ext cx="10289743" cy="914400"/>
          </a:xfrm>
          <a:prstGeom prst="rect">
            <a:avLst/>
          </a:prstGeom>
          <a:noFill/>
          <a:ln/>
        </p:spPr>
        <p:txBody>
          <a:bodyPr wrap="square" lIns="0" tIns="0" rIns="0" bIns="0" rtlCol="0" anchor="ctr"/>
          <a:lstStyle/>
          <a:p>
            <a:pPr indent="0" marL="0">
              <a:lnSpc>
                <a:spcPts val="1700"/>
              </a:lnSpc>
              <a:buNone/>
            </a:pPr>
            <a:r>
              <a:rPr lang="en-US" sz="1200" b="1" dirty="0">
                <a:solidFill>
                  <a:srgbClr val="E8A33D"/>
                </a:solidFill>
                <a:latin typeface="Calibri" pitchFamily="34" charset="0"/>
                <a:ea typeface="Calibri" pitchFamily="34" charset="-122"/>
                <a:cs typeface="Calibri" pitchFamily="34" charset="-120"/>
              </a:rPr>
              <a:t xml:space="preserve">Ejemplo, RN-12: si no hay stock completo, no hay pedido.  </a:t>
            </a:r>
            <a:pPr indent="0" marL="0">
              <a:lnSpc>
                <a:spcPts val="1700"/>
              </a:lnSpc>
              <a:buNone/>
            </a:pPr>
            <a:r>
              <a:rPr lang="en-US" sz="1200" dirty="0">
                <a:solidFill>
                  <a:srgbClr val="FFFFFF"/>
                </a:solidFill>
                <a:latin typeface="Calibri" pitchFamily="34" charset="0"/>
                <a:ea typeface="Calibri" pitchFamily="34" charset="-122"/>
                <a:cs typeface="Calibri" pitchFamily="34" charset="-120"/>
              </a:rPr>
              <a:t>El servicio bloquea el producto, suma todo lo que falta y, si algo no alcanza, no escribe nada. Debajo, la tabla tiene una restricción que impide que el stock baje de cero. La empresa prefiere no vender antes que prometer lo que no tiene.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Atender al cliente sin sumar personal</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Tres piezas que incorporó el último incremento</a:t>
            </a:r>
            <a:endParaRPr lang="en-US" sz="1400" dirty="0"/>
          </a:p>
        </p:txBody>
      </p:sp>
      <p:sp>
        <p:nvSpPr>
          <p:cNvPr id="4" name="Shape 2"/>
          <p:cNvSpPr/>
          <p:nvPr/>
        </p:nvSpPr>
        <p:spPr>
          <a:xfrm>
            <a:off x="640080" y="1719072"/>
            <a:ext cx="3503066" cy="2432304"/>
          </a:xfrm>
          <a:prstGeom prst="roundRect">
            <a:avLst>
              <a:gd name="adj" fmla="val 1880"/>
            </a:avLst>
          </a:prstGeom>
          <a:solidFill>
            <a:srgbClr val="EEF5F1"/>
          </a:solidFill>
          <a:ln w="12700">
            <a:solidFill>
              <a:srgbClr val="D9E5DF"/>
            </a:solidFill>
            <a:prstDash val="solid"/>
          </a:ln>
        </p:spPr>
      </p:sp>
      <p:sp>
        <p:nvSpPr>
          <p:cNvPr id="5" name="Text 3"/>
          <p:cNvSpPr txBox="1"/>
          <p:nvPr/>
        </p:nvSpPr>
        <p:spPr>
          <a:xfrm>
            <a:off x="896112" y="1920240"/>
            <a:ext cx="2991002" cy="274320"/>
          </a:xfrm>
          <a:prstGeom prst="rect">
            <a:avLst/>
          </a:prstGeom>
          <a:noFill/>
          <a:ln/>
        </p:spPr>
        <p:txBody>
          <a:bodyPr wrap="square" lIns="0" tIns="0" rIns="0" bIns="0" rtlCol="0" anchor="ctr"/>
          <a:lstStyle/>
          <a:p>
            <a:pPr indent="0" marL="0">
              <a:buNone/>
            </a:pPr>
            <a:r>
              <a:rPr lang="en-US" sz="1050" b="1" dirty="0">
                <a:solidFill>
                  <a:srgbClr val="2C7A6B"/>
                </a:solidFill>
                <a:latin typeface="Calibri" pitchFamily="34" charset="0"/>
                <a:ea typeface="Calibri" pitchFamily="34" charset="-122"/>
                <a:cs typeface="Calibri" pitchFamily="34" charset="-120"/>
              </a:rPr>
              <a:t>ASISTENTE DEL SITIO</a:t>
            </a:r>
            <a:endParaRPr lang="en-US" sz="1050" dirty="0"/>
          </a:p>
        </p:txBody>
      </p:sp>
      <p:sp>
        <p:nvSpPr>
          <p:cNvPr id="6" name="Text 4"/>
          <p:cNvSpPr txBox="1"/>
          <p:nvPr/>
        </p:nvSpPr>
        <p:spPr>
          <a:xfrm>
            <a:off x="896112" y="2212848"/>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Pelusa responde sola</a:t>
            </a:r>
            <a:endParaRPr lang="en-US" sz="1600" dirty="0"/>
          </a:p>
        </p:txBody>
      </p:sp>
      <p:sp>
        <p:nvSpPr>
          <p:cNvPr id="7" name="Text 5"/>
          <p:cNvSpPr txBox="1"/>
          <p:nvPr/>
        </p:nvSpPr>
        <p:spPr>
          <a:xfrm>
            <a:off x="896112" y="2651760"/>
            <a:ext cx="2991002" cy="1298448"/>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Entiende 14 tipos de pregunta en español y contesta con los datos de la propia cuenta: en qué va el pedido, cuándo llega el despacho, qué vacuna toca. Ocho temas de menú para quien prefiere no escribir.</a:t>
            </a:r>
            <a:endParaRPr lang="en-US" sz="1200" dirty="0"/>
          </a:p>
        </p:txBody>
      </p:sp>
      <p:sp>
        <p:nvSpPr>
          <p:cNvPr id="8" name="Shape 6"/>
          <p:cNvSpPr/>
          <p:nvPr/>
        </p:nvSpPr>
        <p:spPr>
          <a:xfrm>
            <a:off x="4344314" y="1719072"/>
            <a:ext cx="3503066" cy="2432304"/>
          </a:xfrm>
          <a:prstGeom prst="roundRect">
            <a:avLst>
              <a:gd name="adj" fmla="val 1880"/>
            </a:avLst>
          </a:prstGeom>
          <a:solidFill>
            <a:srgbClr val="EEF5F1"/>
          </a:solidFill>
          <a:ln w="12700">
            <a:solidFill>
              <a:srgbClr val="D9E5DF"/>
            </a:solidFill>
            <a:prstDash val="solid"/>
          </a:ln>
        </p:spPr>
      </p:sp>
      <p:sp>
        <p:nvSpPr>
          <p:cNvPr id="9" name="Text 7"/>
          <p:cNvSpPr txBox="1"/>
          <p:nvPr/>
        </p:nvSpPr>
        <p:spPr>
          <a:xfrm>
            <a:off x="4600346" y="1920240"/>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CORREOS</a:t>
            </a:r>
            <a:endParaRPr lang="en-US" sz="1050" dirty="0"/>
          </a:p>
        </p:txBody>
      </p:sp>
      <p:sp>
        <p:nvSpPr>
          <p:cNvPr id="10" name="Text 8"/>
          <p:cNvSpPr txBox="1"/>
          <p:nvPr/>
        </p:nvSpPr>
        <p:spPr>
          <a:xfrm>
            <a:off x="4600346" y="2212848"/>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Ocho avisos automáticos</a:t>
            </a:r>
            <a:endParaRPr lang="en-US" sz="1600" dirty="0"/>
          </a:p>
        </p:txBody>
      </p:sp>
      <p:sp>
        <p:nvSpPr>
          <p:cNvPr id="11" name="Text 9"/>
          <p:cNvSpPr txBox="1"/>
          <p:nvPr/>
        </p:nvSpPr>
        <p:spPr>
          <a:xfrm>
            <a:off x="4600346" y="2651760"/>
            <a:ext cx="2991002" cy="1298448"/>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Bienvenida, pedido, factura, cita, despacho, cambio de plan, recordatorio de vacuna y mensaje de contacto. El recordatorio sale cada mañana a las 8:00 sin que nadie lo dispare (RN-20).</a:t>
            </a:r>
            <a:endParaRPr lang="en-US" sz="1200" dirty="0"/>
          </a:p>
        </p:txBody>
      </p:sp>
      <p:sp>
        <p:nvSpPr>
          <p:cNvPr id="12" name="Shape 10"/>
          <p:cNvSpPr/>
          <p:nvPr/>
        </p:nvSpPr>
        <p:spPr>
          <a:xfrm>
            <a:off x="8048549" y="1719072"/>
            <a:ext cx="3503066" cy="2432304"/>
          </a:xfrm>
          <a:prstGeom prst="roundRect">
            <a:avLst>
              <a:gd name="adj" fmla="val 1880"/>
            </a:avLst>
          </a:prstGeom>
          <a:solidFill>
            <a:srgbClr val="EEF5F1"/>
          </a:solidFill>
          <a:ln w="12700">
            <a:solidFill>
              <a:srgbClr val="D9E5DF"/>
            </a:solidFill>
            <a:prstDash val="solid"/>
          </a:ln>
        </p:spPr>
      </p:sp>
      <p:sp>
        <p:nvSpPr>
          <p:cNvPr id="13" name="Text 11"/>
          <p:cNvSpPr txBox="1"/>
          <p:nvPr/>
        </p:nvSpPr>
        <p:spPr>
          <a:xfrm>
            <a:off x="8304581" y="1920240"/>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ACCESIBILIDAD</a:t>
            </a:r>
            <a:endParaRPr lang="en-US" sz="1050" dirty="0"/>
          </a:p>
        </p:txBody>
      </p:sp>
      <p:sp>
        <p:nvSpPr>
          <p:cNvPr id="14" name="Text 12"/>
          <p:cNvSpPr txBox="1"/>
          <p:nvPr/>
        </p:nvSpPr>
        <p:spPr>
          <a:xfrm>
            <a:off x="8304581" y="2212848"/>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Usable en el celular</a:t>
            </a:r>
            <a:endParaRPr lang="en-US" sz="1600" dirty="0"/>
          </a:p>
        </p:txBody>
      </p:sp>
      <p:sp>
        <p:nvSpPr>
          <p:cNvPr id="15" name="Text 13"/>
          <p:cNvSpPr txBox="1"/>
          <p:nvPr/>
        </p:nvSpPr>
        <p:spPr>
          <a:xfrm>
            <a:off x="8304581" y="2651760"/>
            <a:ext cx="2991002" cy="1298448"/>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Las tablas se reordenan en tarjetas en pantalla chica y cada dato conserva su etiqueta para el lector de pantalla. El chat anuncia su estado con atributos ARIA (RNF-01 y RNF-06).</a:t>
            </a:r>
            <a:endParaRPr lang="en-US" sz="1200" dirty="0"/>
          </a:p>
        </p:txBody>
      </p:sp>
      <p:sp>
        <p:nvSpPr>
          <p:cNvPr id="16" name="Shape 14"/>
          <p:cNvSpPr/>
          <p:nvPr/>
        </p:nvSpPr>
        <p:spPr>
          <a:xfrm>
            <a:off x="640080" y="4480560"/>
            <a:ext cx="10911535" cy="1188720"/>
          </a:xfrm>
          <a:prstGeom prst="roundRect">
            <a:avLst>
              <a:gd name="adj" fmla="val 3846"/>
            </a:avLst>
          </a:prstGeom>
          <a:solidFill>
            <a:srgbClr val="14524A"/>
          </a:solidFill>
          <a:ln w="12700">
            <a:solidFill>
              <a:srgbClr val="14524A"/>
            </a:solidFill>
            <a:prstDash val="solid"/>
          </a:ln>
        </p:spPr>
      </p:sp>
      <p:sp>
        <p:nvSpPr>
          <p:cNvPr id="17" name="Text 15"/>
          <p:cNvSpPr txBox="1"/>
          <p:nvPr/>
        </p:nvSpPr>
        <p:spPr>
          <a:xfrm>
            <a:off x="950976" y="4480560"/>
            <a:ext cx="10289743" cy="1188720"/>
          </a:xfrm>
          <a:prstGeom prst="rect">
            <a:avLst/>
          </a:prstGeom>
          <a:noFill/>
          <a:ln/>
        </p:spPr>
        <p:txBody>
          <a:bodyPr wrap="square" lIns="0" tIns="0" rIns="0" bIns="0" rtlCol="0" anchor="ctr"/>
          <a:lstStyle/>
          <a:p>
            <a:pPr indent="0" marL="0">
              <a:lnSpc>
                <a:spcPts val="1700"/>
              </a:lnSpc>
              <a:buNone/>
            </a:pPr>
            <a:r>
              <a:rPr lang="en-US" sz="1200" b="1" dirty="0">
                <a:solidFill>
                  <a:srgbClr val="E8A33D"/>
                </a:solidFill>
                <a:latin typeface="Calibri" pitchFamily="34" charset="0"/>
                <a:ea typeface="Calibri" pitchFamily="34" charset="-122"/>
                <a:cs typeface="Calibri" pitchFamily="34" charset="-120"/>
              </a:rPr>
              <a:t xml:space="preserve">El asistente no es una caja negra.  </a:t>
            </a:r>
            <a:pPr indent="0" marL="0">
              <a:lnSpc>
                <a:spcPts val="1700"/>
              </a:lnSpc>
              <a:buNone/>
            </a:pPr>
            <a:r>
              <a:rPr lang="en-US" sz="1200" dirty="0">
                <a:solidFill>
                  <a:srgbClr val="FFFFFF"/>
                </a:solidFill>
                <a:latin typeface="Calibri" pitchFamily="34" charset="0"/>
                <a:ea typeface="Calibri" pitchFamily="34" charset="-122"/>
                <a:cs typeface="Calibri" pitchFamily="34" charset="-120"/>
              </a:rPr>
              <a:t>No usa inteligencia artificial externa ni servicios pagados: clasifica la pregunta con palabras clave y responde desde un único archivo de configuración. Y solo consulta los datos del cliente que está conectado, nunca los de otro (RN-01 y RN-04).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Lo que se puede comprobar hoy</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No es una maqueta: es una aplicación que se ejecuta y se prueba</a:t>
            </a:r>
            <a:endParaRPr lang="en-US" sz="1400" dirty="0"/>
          </a:p>
        </p:txBody>
      </p:sp>
      <p:sp>
        <p:nvSpPr>
          <p:cNvPr id="4" name="Shape 2"/>
          <p:cNvSpPr/>
          <p:nvPr/>
        </p:nvSpPr>
        <p:spPr>
          <a:xfrm>
            <a:off x="640080" y="1682496"/>
            <a:ext cx="5336896" cy="1828800"/>
          </a:xfrm>
          <a:prstGeom prst="roundRect">
            <a:avLst>
              <a:gd name="adj" fmla="val 2500"/>
            </a:avLst>
          </a:prstGeom>
          <a:solidFill>
            <a:srgbClr val="14524A"/>
          </a:solidFill>
          <a:ln w="12700">
            <a:solidFill>
              <a:srgbClr val="14524A"/>
            </a:solidFill>
            <a:prstDash val="solid"/>
          </a:ln>
        </p:spPr>
      </p:sp>
      <p:sp>
        <p:nvSpPr>
          <p:cNvPr id="5" name="Text 3"/>
          <p:cNvSpPr txBox="1"/>
          <p:nvPr/>
        </p:nvSpPr>
        <p:spPr>
          <a:xfrm>
            <a:off x="914400" y="1792224"/>
            <a:ext cx="1828800" cy="877824"/>
          </a:xfrm>
          <a:prstGeom prst="rect">
            <a:avLst/>
          </a:prstGeom>
          <a:noFill/>
          <a:ln/>
        </p:spPr>
        <p:txBody>
          <a:bodyPr wrap="square" lIns="0" tIns="0" rIns="0" bIns="0" rtlCol="0" anchor="ctr"/>
          <a:lstStyle/>
          <a:p>
            <a:pPr indent="0" marL="0">
              <a:buNone/>
            </a:pPr>
            <a:r>
              <a:rPr lang="en-US" sz="5200" b="1" dirty="0">
                <a:solidFill>
                  <a:srgbClr val="E8A33D"/>
                </a:solidFill>
                <a:latin typeface="Cambria" pitchFamily="34" charset="0"/>
                <a:ea typeface="Cambria" pitchFamily="34" charset="-122"/>
                <a:cs typeface="Cambria" pitchFamily="34" charset="-120"/>
              </a:rPr>
              <a:t>137</a:t>
            </a:r>
            <a:endParaRPr lang="en-US" sz="5200" dirty="0"/>
          </a:p>
        </p:txBody>
      </p:sp>
      <p:sp>
        <p:nvSpPr>
          <p:cNvPr id="6" name="Text 4"/>
          <p:cNvSpPr txBox="1"/>
          <p:nvPr/>
        </p:nvSpPr>
        <p:spPr>
          <a:xfrm>
            <a:off x="2743200" y="1792224"/>
            <a:ext cx="2959456" cy="877824"/>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pruebas automatizadas</a:t>
            </a:r>
            <a:endParaRPr lang="en-US" sz="1500" dirty="0"/>
          </a:p>
        </p:txBody>
      </p:sp>
      <p:sp>
        <p:nvSpPr>
          <p:cNvPr id="7" name="Text 5"/>
          <p:cNvSpPr txBox="1"/>
          <p:nvPr/>
        </p:nvSpPr>
        <p:spPr>
          <a:xfrm>
            <a:off x="914400" y="2706624"/>
            <a:ext cx="4788256" cy="676656"/>
          </a:xfrm>
          <a:prstGeom prst="rect">
            <a:avLst/>
          </a:prstGeom>
          <a:noFill/>
          <a:ln/>
        </p:spPr>
        <p:txBody>
          <a:bodyPr wrap="square" lIns="0" tIns="0" rIns="0" bIns="0" rtlCol="0" anchor="t"/>
          <a:lstStyle/>
          <a:p>
            <a:pPr indent="0" marL="0">
              <a:lnSpc>
                <a:spcPts val="1600"/>
              </a:lnSpc>
              <a:buNone/>
            </a:pPr>
            <a:r>
              <a:rPr lang="en-US" sz="1150" dirty="0">
                <a:solidFill>
                  <a:srgbClr val="CFE3DC"/>
                </a:solidFill>
                <a:latin typeface="Calibri" pitchFamily="34" charset="0"/>
                <a:ea typeface="Calibri" pitchFamily="34" charset="-122"/>
                <a:cs typeface="Calibri" pitchFamily="34" charset="-120"/>
              </a:rPr>
              <a:t>346 aserciones, ejecutadas contra base de datos real y no contra una simulación. Al menos una prueba por cada una de las 22 reglas de negocio.</a:t>
            </a:r>
            <a:endParaRPr lang="en-US" sz="1150" dirty="0"/>
          </a:p>
        </p:txBody>
      </p:sp>
      <p:sp>
        <p:nvSpPr>
          <p:cNvPr id="8" name="Shape 6"/>
          <p:cNvSpPr/>
          <p:nvPr/>
        </p:nvSpPr>
        <p:spPr>
          <a:xfrm>
            <a:off x="6214720" y="1682496"/>
            <a:ext cx="5336896" cy="1828800"/>
          </a:xfrm>
          <a:prstGeom prst="roundRect">
            <a:avLst>
              <a:gd name="adj" fmla="val 2500"/>
            </a:avLst>
          </a:prstGeom>
          <a:solidFill>
            <a:srgbClr val="EEF5F1"/>
          </a:solidFill>
          <a:ln w="12700">
            <a:solidFill>
              <a:srgbClr val="D9E5DF"/>
            </a:solidFill>
            <a:prstDash val="solid"/>
          </a:ln>
        </p:spPr>
      </p:sp>
      <p:sp>
        <p:nvSpPr>
          <p:cNvPr id="9" name="Text 7"/>
          <p:cNvSpPr txBox="1"/>
          <p:nvPr/>
        </p:nvSpPr>
        <p:spPr>
          <a:xfrm>
            <a:off x="6470752" y="1883664"/>
            <a:ext cx="482483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POR QUÉ IMPORTA</a:t>
            </a:r>
            <a:endParaRPr lang="en-US" sz="1050" dirty="0"/>
          </a:p>
        </p:txBody>
      </p:sp>
      <p:sp>
        <p:nvSpPr>
          <p:cNvPr id="10" name="Text 8"/>
          <p:cNvSpPr txBox="1"/>
          <p:nvPr/>
        </p:nvSpPr>
        <p:spPr>
          <a:xfrm>
            <a:off x="6470752" y="2176272"/>
            <a:ext cx="482483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La regla se vuelve a comprobar sola</a:t>
            </a:r>
            <a:endParaRPr lang="en-US" sz="1600" dirty="0"/>
          </a:p>
        </p:txBody>
      </p:sp>
      <p:sp>
        <p:nvSpPr>
          <p:cNvPr id="11" name="Text 9"/>
          <p:cNvSpPr txBox="1"/>
          <p:nvPr/>
        </p:nvSpPr>
        <p:spPr>
          <a:xfrm>
            <a:off x="6470752" y="2615184"/>
            <a:ext cx="4824832" cy="69494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Antes de cada entrega se ejecuta la suite completa. Si un cambio rompe una regla del negocio, se sabe en el momento y no en el reclamo del cliente.</a:t>
            </a:r>
            <a:endParaRPr lang="en-US" sz="1200" dirty="0"/>
          </a:p>
        </p:txBody>
      </p:sp>
      <p:pic>
        <p:nvPicPr>
          <p:cNvPr id="12" name="Image 0" descr="/home/user/VetPetSurco/docs/capturas-reglas/05-carrito-bloqueado.png">    </p:cNvPr>
          <p:cNvPicPr>
            <a:picLocks noChangeAspect="1"/>
          </p:cNvPicPr>
          <p:nvPr/>
        </p:nvPicPr>
        <p:blipFill>
          <a:blip r:embed="rId1"/>
          <a:srcRect l="0" r="0" t="0" b="0"/>
          <a:stretch/>
        </p:blipFill>
        <p:spPr>
          <a:xfrm>
            <a:off x="640080" y="3694176"/>
            <a:ext cx="5336896" cy="2048256"/>
          </a:xfrm>
          <a:prstGeom prst="rect">
            <a:avLst/>
          </a:prstGeom>
        </p:spPr>
      </p:pic>
      <p:pic>
        <p:nvPicPr>
          <p:cNvPr id="13" name="Image 1" descr="/home/user/VetPetSurco/docs/capturas-reglas/09-inventario.png">    </p:cNvPr>
          <p:cNvPicPr>
            <a:picLocks noChangeAspect="1"/>
          </p:cNvPicPr>
          <p:nvPr/>
        </p:nvPicPr>
        <p:blipFill>
          <a:blip r:embed="rId2"/>
          <a:srcRect l="0" r="0" t="0" b="0"/>
          <a:stretch/>
        </p:blipFill>
        <p:spPr>
          <a:xfrm>
            <a:off x="6214720" y="3694176"/>
            <a:ext cx="5336896" cy="2048256"/>
          </a:xfrm>
          <a:prstGeom prst="rect">
            <a:avLst/>
          </a:prstGeom>
        </p:spPr>
      </p:pic>
      <p:sp>
        <p:nvSpPr>
          <p:cNvPr id="14" name="Text 10"/>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Capturas del sistema con la regla señalada sobre el control que la aplica: a la izquierda RN-12 bloqueando la compra sin stock, a la derecha el semáforo de reposición (RN-08).</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Estado del proyecto y lo que sigue</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Dónde estamos parados al cerrar este avance</a:t>
            </a:r>
            <a:endParaRPr lang="en-US" sz="1400" dirty="0"/>
          </a:p>
        </p:txBody>
      </p:sp>
      <p:sp>
        <p:nvSpPr>
          <p:cNvPr id="4" name="Shape 2"/>
          <p:cNvSpPr/>
          <p:nvPr/>
        </p:nvSpPr>
        <p:spPr>
          <a:xfrm>
            <a:off x="640080" y="1719072"/>
            <a:ext cx="3503066" cy="2432304"/>
          </a:xfrm>
          <a:prstGeom prst="roundRect">
            <a:avLst>
              <a:gd name="adj" fmla="val 1880"/>
            </a:avLst>
          </a:prstGeom>
          <a:solidFill>
            <a:srgbClr val="EEF5F1"/>
          </a:solidFill>
          <a:ln w="12700">
            <a:solidFill>
              <a:srgbClr val="D9E5DF"/>
            </a:solidFill>
            <a:prstDash val="solid"/>
          </a:ln>
        </p:spPr>
      </p:sp>
      <p:sp>
        <p:nvSpPr>
          <p:cNvPr id="5" name="Text 3"/>
          <p:cNvSpPr txBox="1"/>
          <p:nvPr/>
        </p:nvSpPr>
        <p:spPr>
          <a:xfrm>
            <a:off x="896112" y="1920240"/>
            <a:ext cx="2991002" cy="274320"/>
          </a:xfrm>
          <a:prstGeom prst="rect">
            <a:avLst/>
          </a:prstGeom>
          <a:noFill/>
          <a:ln/>
        </p:spPr>
        <p:txBody>
          <a:bodyPr wrap="square" lIns="0" tIns="0" rIns="0" bIns="0" rtlCol="0" anchor="ctr"/>
          <a:lstStyle/>
          <a:p>
            <a:pPr indent="0" marL="0">
              <a:buNone/>
            </a:pPr>
            <a:r>
              <a:rPr lang="en-US" sz="1050" b="1" dirty="0">
                <a:solidFill>
                  <a:srgbClr val="2C7A6B"/>
                </a:solidFill>
                <a:latin typeface="Calibri" pitchFamily="34" charset="0"/>
                <a:ea typeface="Calibri" pitchFamily="34" charset="-122"/>
                <a:cs typeface="Calibri" pitchFamily="34" charset="-120"/>
              </a:rPr>
              <a:t>TERMINADO</a:t>
            </a:r>
            <a:endParaRPr lang="en-US" sz="1050" dirty="0"/>
          </a:p>
        </p:txBody>
      </p:sp>
      <p:sp>
        <p:nvSpPr>
          <p:cNvPr id="6" name="Text 4"/>
          <p:cNvSpPr txBox="1"/>
          <p:nvPr/>
        </p:nvSpPr>
        <p:spPr>
          <a:xfrm>
            <a:off x="896112" y="2212848"/>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El núcleo funciona</a:t>
            </a:r>
            <a:endParaRPr lang="en-US" sz="1600" dirty="0"/>
          </a:p>
        </p:txBody>
      </p:sp>
      <p:sp>
        <p:nvSpPr>
          <p:cNvPr id="7" name="Text 5"/>
          <p:cNvSpPr txBox="1"/>
          <p:nvPr/>
        </p:nvSpPr>
        <p:spPr>
          <a:xfrm>
            <a:off x="896112" y="2651760"/>
            <a:ext cx="2991002" cy="1298448"/>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Los tres perfiles, la venta con descuento de inventario, el cobro en línea, la suscripción con despacho automático, la agenda sin cruce, la historia clínica con alertas, el asistente del sitio y los correos automáticos.</a:t>
            </a:r>
            <a:endParaRPr lang="en-US" sz="1200" dirty="0"/>
          </a:p>
        </p:txBody>
      </p:sp>
      <p:sp>
        <p:nvSpPr>
          <p:cNvPr id="8" name="Shape 6"/>
          <p:cNvSpPr/>
          <p:nvPr/>
        </p:nvSpPr>
        <p:spPr>
          <a:xfrm>
            <a:off x="4344314" y="1719072"/>
            <a:ext cx="3503066" cy="2432304"/>
          </a:xfrm>
          <a:prstGeom prst="roundRect">
            <a:avLst>
              <a:gd name="adj" fmla="val 1880"/>
            </a:avLst>
          </a:prstGeom>
          <a:solidFill>
            <a:srgbClr val="EEF5F1"/>
          </a:solidFill>
          <a:ln w="12700">
            <a:solidFill>
              <a:srgbClr val="D9E5DF"/>
            </a:solidFill>
            <a:prstDash val="solid"/>
          </a:ln>
        </p:spPr>
      </p:sp>
      <p:sp>
        <p:nvSpPr>
          <p:cNvPr id="9" name="Text 7"/>
          <p:cNvSpPr txBox="1"/>
          <p:nvPr/>
        </p:nvSpPr>
        <p:spPr>
          <a:xfrm>
            <a:off x="4600346" y="1920240"/>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EN CURSO</a:t>
            </a:r>
            <a:endParaRPr lang="en-US" sz="1050" dirty="0"/>
          </a:p>
        </p:txBody>
      </p:sp>
      <p:sp>
        <p:nvSpPr>
          <p:cNvPr id="10" name="Text 8"/>
          <p:cNvSpPr txBox="1"/>
          <p:nvPr/>
        </p:nvSpPr>
        <p:spPr>
          <a:xfrm>
            <a:off x="4600346" y="2212848"/>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Documentación final</a:t>
            </a:r>
            <a:endParaRPr lang="en-US" sz="1600" dirty="0"/>
          </a:p>
        </p:txBody>
      </p:sp>
      <p:sp>
        <p:nvSpPr>
          <p:cNvPr id="11" name="Text 9"/>
          <p:cNvSpPr txBox="1"/>
          <p:nvPr/>
        </p:nvSpPr>
        <p:spPr>
          <a:xfrm>
            <a:off x="4600346" y="2651760"/>
            <a:ext cx="2991002" cy="1298448"/>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El documento de requerimientos ya está firmado. Queda cerrar el manual de instalación y el procedimiento de respaldo que exige el RNF-10.</a:t>
            </a:r>
            <a:endParaRPr lang="en-US" sz="1200" dirty="0"/>
          </a:p>
        </p:txBody>
      </p:sp>
      <p:sp>
        <p:nvSpPr>
          <p:cNvPr id="12" name="Shape 10"/>
          <p:cNvSpPr/>
          <p:nvPr/>
        </p:nvSpPr>
        <p:spPr>
          <a:xfrm>
            <a:off x="8048549" y="1719072"/>
            <a:ext cx="3503066" cy="2432304"/>
          </a:xfrm>
          <a:prstGeom prst="roundRect">
            <a:avLst>
              <a:gd name="adj" fmla="val 1880"/>
            </a:avLst>
          </a:prstGeom>
          <a:solidFill>
            <a:srgbClr val="EEF5F1"/>
          </a:solidFill>
          <a:ln w="12700">
            <a:solidFill>
              <a:srgbClr val="D9E5DF"/>
            </a:solidFill>
            <a:prstDash val="solid"/>
          </a:ln>
        </p:spPr>
      </p:sp>
      <p:sp>
        <p:nvSpPr>
          <p:cNvPr id="13" name="Text 11"/>
          <p:cNvSpPr txBox="1"/>
          <p:nvPr/>
        </p:nvSpPr>
        <p:spPr>
          <a:xfrm>
            <a:off x="8304581" y="1920240"/>
            <a:ext cx="2991002" cy="274320"/>
          </a:xfrm>
          <a:prstGeom prst="rect">
            <a:avLst/>
          </a:prstGeom>
          <a:noFill/>
          <a:ln/>
        </p:spPr>
        <p:txBody>
          <a:bodyPr wrap="square" lIns="0" tIns="0" rIns="0" bIns="0" rtlCol="0" anchor="ctr"/>
          <a:lstStyle/>
          <a:p>
            <a:pPr indent="0" marL="0">
              <a:buNone/>
            </a:pPr>
            <a:r>
              <a:rPr lang="en-US" sz="1050" b="1" dirty="0">
                <a:solidFill>
                  <a:srgbClr val="B4652A"/>
                </a:solidFill>
                <a:latin typeface="Calibri" pitchFamily="34" charset="0"/>
                <a:ea typeface="Calibri" pitchFamily="34" charset="-122"/>
                <a:cs typeface="Calibri" pitchFamily="34" charset="-120"/>
              </a:rPr>
              <a:t>PENDIENTE</a:t>
            </a:r>
            <a:endParaRPr lang="en-US" sz="1050" dirty="0"/>
          </a:p>
        </p:txBody>
      </p:sp>
      <p:sp>
        <p:nvSpPr>
          <p:cNvPr id="14" name="Text 12"/>
          <p:cNvSpPr txBox="1"/>
          <p:nvPr/>
        </p:nvSpPr>
        <p:spPr>
          <a:xfrm>
            <a:off x="8304581" y="2212848"/>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Salida a producción</a:t>
            </a:r>
            <a:endParaRPr lang="en-US" sz="1600" dirty="0"/>
          </a:p>
        </p:txBody>
      </p:sp>
      <p:sp>
        <p:nvSpPr>
          <p:cNvPr id="15" name="Text 13"/>
          <p:cNvSpPr txBox="1"/>
          <p:nvPr/>
        </p:nvSpPr>
        <p:spPr>
          <a:xfrm>
            <a:off x="8304581" y="2651760"/>
            <a:ext cx="2991002" cy="1298448"/>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Falta registrar el dominio, contratar el alojamiento y ejecutar la prueba de rendimiento del catálogo en conexión móvil (RNF-04).</a:t>
            </a:r>
            <a:endParaRPr lang="en-US" sz="1200" dirty="0"/>
          </a:p>
        </p:txBody>
      </p:sp>
      <p:sp>
        <p:nvSpPr>
          <p:cNvPr id="16" name="Shape 14"/>
          <p:cNvSpPr/>
          <p:nvPr/>
        </p:nvSpPr>
        <p:spPr>
          <a:xfrm>
            <a:off x="640080" y="4352544"/>
            <a:ext cx="10911535" cy="1481328"/>
          </a:xfrm>
          <a:prstGeom prst="roundRect">
            <a:avLst>
              <a:gd name="adj" fmla="val 3086"/>
            </a:avLst>
          </a:prstGeom>
          <a:solidFill>
            <a:srgbClr val="14524A"/>
          </a:solidFill>
          <a:ln w="12700">
            <a:solidFill>
              <a:srgbClr val="14524A"/>
            </a:solidFill>
            <a:prstDash val="solid"/>
          </a:ln>
        </p:spPr>
      </p:sp>
      <p:sp>
        <p:nvSpPr>
          <p:cNvPr id="17" name="Text 15"/>
          <p:cNvSpPr txBox="1"/>
          <p:nvPr/>
        </p:nvSpPr>
        <p:spPr>
          <a:xfrm>
            <a:off x="1097280" y="4553712"/>
            <a:ext cx="9997135" cy="4572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Las reglas del negocio viven en el sistema.</a:t>
            </a:r>
            <a:endParaRPr lang="en-US" sz="2100" dirty="0"/>
          </a:p>
        </p:txBody>
      </p:sp>
      <p:sp>
        <p:nvSpPr>
          <p:cNvPr id="18" name="Text 16"/>
          <p:cNvSpPr txBox="1"/>
          <p:nvPr/>
        </p:nvSpPr>
        <p:spPr>
          <a:xfrm>
            <a:off x="1645920" y="5047488"/>
            <a:ext cx="8899855" cy="640080"/>
          </a:xfrm>
          <a:prstGeom prst="rect">
            <a:avLst/>
          </a:prstGeom>
          <a:noFill/>
          <a:ln/>
        </p:spPr>
        <p:txBody>
          <a:bodyPr wrap="square" lIns="0" tIns="0" rIns="0" bIns="0" rtlCol="0" anchor="ctr"/>
          <a:lstStyle/>
          <a:p>
            <a:pPr algn="ctr" indent="0" marL="0">
              <a:lnSpc>
                <a:spcPts val="1900"/>
              </a:lnSpc>
              <a:buNone/>
            </a:pPr>
            <a:r>
              <a:rPr lang="en-US" sz="1300" dirty="0">
                <a:solidFill>
                  <a:srgbClr val="CFE3DC"/>
                </a:solidFill>
                <a:latin typeface="Calibri" pitchFamily="34" charset="0"/>
                <a:ea typeface="Calibri" pitchFamily="34" charset="-122"/>
                <a:cs typeface="Calibri" pitchFamily="34" charset="-120"/>
              </a:rPr>
              <a:t>No en la pantalla ni en la memoria del personal: por eso se comprueban solas. Y por eso una veterinaria de barrio puede saber, antes de que empiece el mes, cuánto va a facturar.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VetPet Surco E.I.R.L.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EA2 - VetPet Connect</dc:title>
  <dc:subject>PptxGenJS Presentation</dc:subject>
  <dc:creator>Equipo 4</dc:creator>
  <cp:lastModifiedBy>Equipo 4</cp:lastModifiedBy>
  <cp:revision>1</cp:revision>
  <dcterms:created xsi:type="dcterms:W3CDTF">2026-09-30T01:59:43Z</dcterms:created>
  <dcterms:modified xsi:type="dcterms:W3CDTF">2026-09-30T01:59:43Z</dcterms:modified>
</cp:coreProperties>
</file>