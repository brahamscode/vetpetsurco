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E-business no compite solo con su tienda: compite con lo que tiene detrás. Veamos qué hay detrás de VetPet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esto no sale del documento, sale de revisar el código. El CRM existe aunque no se llame asi en ninguna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confusion de vocabulario es la que hace creer que el SRM ya existe. El sistema tiene ordenes de venta, no de compra.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convierte una base de datos en un CRM no son las tablas: son los tres flujos automaticos que salen de ellas sin que nadie los dispare.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kardex es lo mas grave y casi nadie lo nota: sin movimientos no hay consumo diario, y sin consumo diario el punto de reorden es un numero inventado.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dolor N-03 del diagnóstico era la reposición dependiendo de la memoria del personal. Sin SRM ese problema no se resolvió: se movió un paso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kardex va primero, y es la correccion mas importante del analisis: un SRM que dispara compras sobre un punto de reorden inventado, compra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mitad del trabajo ya esta hecho: el semaforo y el envio de correo existen. Lo nuevo es el servicio que arma la orden y la pantalla de recepcion.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«fuera de alcance, por esta razón» vale más que ponerlo en el diagrama y no tenerlo.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que decide. Lo defendible es reconocer la brecha, saber en que orden se cierra y por que, no construirla a las apuradas.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Si preguntan cuándo: tres tablas y un comando programado, reutilizando el semáforo que ya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24A"/>
        </a:solidFill>
      </p:bgPr>
    </p:bg>
    <p:spTree>
      <p:nvGrpSpPr>
        <p:cNvPr id="1" name=""/>
        <p:cNvGrpSpPr/>
        <p:nvPr/>
      </p:nvGrpSpPr>
      <p:grpSpPr>
        <a:xfrm>
          <a:off x="0" y="0"/>
          <a:ext cx="0" cy="0"/>
          <a:chOff x="0" y="0"/>
          <a:chExt cx="0" cy="0"/>
        </a:xfrm>
      </p:grpSpPr>
      <p:pic>
        <p:nvPicPr>
          <p:cNvPr id="2" name="Image 0" descr="/tmp/claude-0/-home-user-VetPetSurco/b8d13659-c8d7-578f-913d-52522fae5ff2/scratchpad/ppt/assets/logo.png">    </p:cNvPr>
          <p:cNvPicPr>
            <a:picLocks noChangeAspect="1"/>
          </p:cNvPicPr>
          <p:nvPr/>
        </p:nvPicPr>
        <p:blipFill>
          <a:blip r:embed="rId1"/>
          <a:stretch>
            <a:fillRect/>
          </a:stretch>
        </p:blipFill>
        <p:spPr>
          <a:xfrm>
            <a:off x="914400" y="2286000"/>
            <a:ext cx="1234440" cy="1234440"/>
          </a:xfrm>
          <a:prstGeom prst="rect">
            <a:avLst/>
          </a:prstGeom>
        </p:spPr>
      </p:pic>
      <p:sp>
        <p:nvSpPr>
          <p:cNvPr id="3" name="Text 0"/>
          <p:cNvSpPr txBox="1"/>
          <p:nvPr/>
        </p:nvSpPr>
        <p:spPr>
          <a:xfrm>
            <a:off x="2514600" y="1956816"/>
            <a:ext cx="877824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Integración de la gestión empresarial</a:t>
            </a:r>
            <a:endParaRPr lang="en-US" sz="3400" dirty="0"/>
          </a:p>
        </p:txBody>
      </p:sp>
      <p:sp>
        <p:nvSpPr>
          <p:cNvPr id="4" name="Text 1"/>
          <p:cNvSpPr txBox="1"/>
          <p:nvPr/>
        </p:nvSpPr>
        <p:spPr>
          <a:xfrm>
            <a:off x="2514600" y="3163824"/>
            <a:ext cx="8595360" cy="402336"/>
          </a:xfrm>
          <a:prstGeom prst="rect">
            <a:avLst/>
          </a:prstGeom>
          <a:noFill/>
          <a:ln/>
        </p:spPr>
        <p:txBody>
          <a:bodyPr wrap="square" lIns="0" tIns="0" rIns="0" bIns="0" rtlCol="0" anchor="ctr"/>
          <a:lstStyle/>
          <a:p>
            <a:pPr indent="0" marL="0">
              <a:buNone/>
            </a:pPr>
            <a:r>
              <a:rPr lang="en-US" sz="1500" dirty="0">
                <a:solidFill>
                  <a:srgbClr val="CFE3DC"/>
                </a:solidFill>
                <a:latin typeface="Calibri" pitchFamily="34" charset="0"/>
                <a:ea typeface="Calibri" pitchFamily="34" charset="-122"/>
                <a:cs typeface="Calibri" pitchFamily="34" charset="-120"/>
              </a:rPr>
              <a:t>Qué pilares tiene VetPet Connect, cuál falta y cuál no hace falta</a:t>
            </a:r>
            <a:endParaRPr lang="en-US" sz="1500" dirty="0"/>
          </a:p>
        </p:txBody>
      </p:sp>
      <p:sp>
        <p:nvSpPr>
          <p:cNvPr id="5" name="Shape 2"/>
          <p:cNvSpPr/>
          <p:nvPr/>
        </p:nvSpPr>
        <p:spPr>
          <a:xfrm>
            <a:off x="2514600" y="3712464"/>
            <a:ext cx="2834640" cy="384048"/>
          </a:xfrm>
          <a:prstGeom prst="roundRect">
            <a:avLst>
              <a:gd name="adj" fmla="val 119048"/>
            </a:avLst>
          </a:prstGeom>
          <a:solidFill>
            <a:srgbClr val="2C7A6B"/>
          </a:solidFill>
          <a:ln w="12700">
            <a:solidFill>
              <a:srgbClr val="2C7A6B"/>
            </a:solidFill>
            <a:prstDash val="solid"/>
          </a:ln>
        </p:spPr>
      </p:sp>
      <p:sp>
        <p:nvSpPr>
          <p:cNvPr id="6" name="Text 3"/>
          <p:cNvSpPr txBox="1"/>
          <p:nvPr/>
        </p:nvSpPr>
        <p:spPr>
          <a:xfrm>
            <a:off x="2514600" y="3712464"/>
            <a:ext cx="28346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CRM  ·  ERP  ·  SRM</a:t>
            </a:r>
            <a:endParaRPr lang="en-US" sz="1200" dirty="0"/>
          </a:p>
        </p:txBody>
      </p:sp>
      <p:sp>
        <p:nvSpPr>
          <p:cNvPr id="7" name="Text 4"/>
          <p:cNvSpPr txBox="1"/>
          <p:nvPr/>
        </p:nvSpPr>
        <p:spPr>
          <a:xfrm>
            <a:off x="914400" y="5394960"/>
            <a:ext cx="10332720" cy="365760"/>
          </a:xfrm>
          <a:prstGeom prst="rect">
            <a:avLst/>
          </a:prstGeom>
          <a:noFill/>
          <a:ln/>
        </p:spPr>
        <p:txBody>
          <a:bodyPr wrap="square" lIns="0" tIns="0" rIns="0" bIns="0" rtlCol="0" anchor="ctr"/>
          <a:lstStyle/>
          <a:p>
            <a:pPr indent="0" marL="0">
              <a:buNone/>
            </a:pPr>
            <a:r>
              <a:rPr lang="en-US" sz="1300" dirty="0">
                <a:solidFill>
                  <a:srgbClr val="CFE3DC"/>
                </a:solidFill>
                <a:latin typeface="Calibri" pitchFamily="34" charset="0"/>
                <a:ea typeface="Calibri" pitchFamily="34" charset="-122"/>
                <a:cs typeface="Calibri" pitchFamily="34" charset="-120"/>
              </a:rPr>
              <a:t>VetPet Surco E.I.R.L.  ·  Equipo 4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Qué tenemos hoy</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Revisado sobre el código, no sobre el documento</a:t>
            </a:r>
            <a:endParaRPr lang="en-US" sz="1400" dirty="0"/>
          </a:p>
        </p:txBody>
      </p:sp>
      <p:sp>
        <p:nvSpPr>
          <p:cNvPr id="4" name="Shape 2"/>
          <p:cNvSpPr/>
          <p:nvPr/>
        </p:nvSpPr>
        <p:spPr>
          <a:xfrm>
            <a:off x="640080" y="1737360"/>
            <a:ext cx="3503066" cy="4023360"/>
          </a:xfrm>
          <a:prstGeom prst="roundRect">
            <a:avLst>
              <a:gd name="adj" fmla="val 1305"/>
            </a:avLst>
          </a:prstGeom>
          <a:solidFill>
            <a:srgbClr val="EEF5F1"/>
          </a:solidFill>
          <a:ln w="12700">
            <a:solidFill>
              <a:srgbClr val="D9E5DF"/>
            </a:solidFill>
            <a:prstDash val="solid"/>
          </a:ln>
        </p:spPr>
      </p:sp>
      <p:sp>
        <p:nvSpPr>
          <p:cNvPr id="5" name="Text 3"/>
          <p:cNvSpPr txBox="1"/>
          <p:nvPr/>
        </p:nvSpPr>
        <p:spPr>
          <a:xfrm>
            <a:off x="914400" y="1938528"/>
            <a:ext cx="2954426" cy="658368"/>
          </a:xfrm>
          <a:prstGeom prst="rect">
            <a:avLst/>
          </a:prstGeom>
          <a:noFill/>
          <a:ln/>
        </p:spPr>
        <p:txBody>
          <a:bodyPr wrap="square" lIns="0" tIns="0" rIns="0" bIns="0" rtlCol="0" anchor="ctr"/>
          <a:lstStyle/>
          <a:p>
            <a:pPr indent="0" marL="0">
              <a:buNone/>
            </a:pPr>
            <a:r>
              <a:rPr lang="en-US" sz="3800" b="1" dirty="0">
                <a:solidFill>
                  <a:srgbClr val="14524A"/>
                </a:solidFill>
                <a:latin typeface="Cambria" pitchFamily="34" charset="0"/>
                <a:ea typeface="Cambria" pitchFamily="34" charset="-122"/>
                <a:cs typeface="Cambria" pitchFamily="34" charset="-120"/>
              </a:rPr>
              <a:t>CRM</a:t>
            </a:r>
            <a:endParaRPr lang="en-US" sz="3800" dirty="0"/>
          </a:p>
        </p:txBody>
      </p:sp>
      <p:sp>
        <p:nvSpPr>
          <p:cNvPr id="6" name="Text 4"/>
          <p:cNvSpPr txBox="1"/>
          <p:nvPr/>
        </p:nvSpPr>
        <p:spPr>
          <a:xfrm>
            <a:off x="914400" y="2615184"/>
            <a:ext cx="2954426" cy="310896"/>
          </a:xfrm>
          <a:prstGeom prst="rect">
            <a:avLst/>
          </a:prstGeom>
          <a:noFill/>
          <a:ln/>
        </p:spPr>
        <p:txBody>
          <a:bodyPr wrap="square" lIns="0" tIns="0" rIns="0" bIns="0" rtlCol="0" anchor="ctr"/>
          <a:lstStyle/>
          <a:p>
            <a:pPr indent="0" marL="0">
              <a:buNone/>
            </a:pPr>
            <a:r>
              <a:rPr lang="en-US" sz="1250" dirty="0">
                <a:solidFill>
                  <a:srgbClr val="5D6B66"/>
                </a:solidFill>
                <a:latin typeface="Calibri" pitchFamily="34" charset="0"/>
                <a:ea typeface="Calibri" pitchFamily="34" charset="-122"/>
                <a:cs typeface="Calibri" pitchFamily="34" charset="-120"/>
              </a:rPr>
              <a:t>Gestión de clientes</a:t>
            </a:r>
            <a:endParaRPr lang="en-US" sz="1250" dirty="0"/>
          </a:p>
        </p:txBody>
      </p:sp>
      <p:sp>
        <p:nvSpPr>
          <p:cNvPr id="7" name="Shape 5"/>
          <p:cNvSpPr/>
          <p:nvPr/>
        </p:nvSpPr>
        <p:spPr>
          <a:xfrm>
            <a:off x="914400" y="3054096"/>
            <a:ext cx="1554480" cy="365760"/>
          </a:xfrm>
          <a:prstGeom prst="roundRect">
            <a:avLst>
              <a:gd name="adj" fmla="val 125000"/>
            </a:avLst>
          </a:prstGeom>
          <a:solidFill>
            <a:srgbClr val="14524A"/>
          </a:solidFill>
          <a:ln w="12700">
            <a:solidFill>
              <a:srgbClr val="14524A"/>
            </a:solidFill>
            <a:prstDash val="solid"/>
          </a:ln>
        </p:spPr>
      </p:sp>
      <p:sp>
        <p:nvSpPr>
          <p:cNvPr id="8" name="Text 6"/>
          <p:cNvSpPr txBox="1"/>
          <p:nvPr/>
        </p:nvSpPr>
        <p:spPr>
          <a:xfrm>
            <a:off x="914400" y="3054096"/>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SÍ</a:t>
            </a:r>
            <a:endParaRPr lang="en-US" sz="1150" dirty="0"/>
          </a:p>
        </p:txBody>
      </p:sp>
      <p:sp>
        <p:nvSpPr>
          <p:cNvPr id="9" name="Text 7"/>
          <p:cNvSpPr txBox="1"/>
          <p:nvPr/>
        </p:nvSpPr>
        <p:spPr>
          <a:xfrm>
            <a:off x="914400" y="3621024"/>
            <a:ext cx="2954426" cy="192024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Ficha del cliente y sus mascotas, historial clínico, pedidos y suscripciones. Siete correos automáticos y el recordatorio de vacuna a 15 días.</a:t>
            </a:r>
            <a:endParaRPr lang="en-US" sz="1200" dirty="0"/>
          </a:p>
        </p:txBody>
      </p:sp>
      <p:sp>
        <p:nvSpPr>
          <p:cNvPr id="10" name="Shape 8"/>
          <p:cNvSpPr/>
          <p:nvPr/>
        </p:nvSpPr>
        <p:spPr>
          <a:xfrm>
            <a:off x="4344314" y="1737360"/>
            <a:ext cx="3503066" cy="4023360"/>
          </a:xfrm>
          <a:prstGeom prst="roundRect">
            <a:avLst>
              <a:gd name="adj" fmla="val 1305"/>
            </a:avLst>
          </a:prstGeom>
          <a:solidFill>
            <a:srgbClr val="EEF5F1"/>
          </a:solidFill>
          <a:ln w="12700">
            <a:solidFill>
              <a:srgbClr val="D9E5DF"/>
            </a:solidFill>
            <a:prstDash val="solid"/>
          </a:ln>
        </p:spPr>
      </p:sp>
      <p:sp>
        <p:nvSpPr>
          <p:cNvPr id="11" name="Text 9"/>
          <p:cNvSpPr txBox="1"/>
          <p:nvPr/>
        </p:nvSpPr>
        <p:spPr>
          <a:xfrm>
            <a:off x="4618634" y="1938528"/>
            <a:ext cx="2954426" cy="658368"/>
          </a:xfrm>
          <a:prstGeom prst="rect">
            <a:avLst/>
          </a:prstGeom>
          <a:noFill/>
          <a:ln/>
        </p:spPr>
        <p:txBody>
          <a:bodyPr wrap="square" lIns="0" tIns="0" rIns="0" bIns="0" rtlCol="0" anchor="ctr"/>
          <a:lstStyle/>
          <a:p>
            <a:pPr indent="0" marL="0">
              <a:buNone/>
            </a:pPr>
            <a:r>
              <a:rPr lang="en-US" sz="3800" b="1" dirty="0">
                <a:solidFill>
                  <a:srgbClr val="14524A"/>
                </a:solidFill>
                <a:latin typeface="Cambria" pitchFamily="34" charset="0"/>
                <a:ea typeface="Cambria" pitchFamily="34" charset="-122"/>
                <a:cs typeface="Cambria" pitchFamily="34" charset="-120"/>
              </a:rPr>
              <a:t>ERP</a:t>
            </a:r>
            <a:endParaRPr lang="en-US" sz="3800" dirty="0"/>
          </a:p>
        </p:txBody>
      </p:sp>
      <p:sp>
        <p:nvSpPr>
          <p:cNvPr id="12" name="Text 10"/>
          <p:cNvSpPr txBox="1"/>
          <p:nvPr/>
        </p:nvSpPr>
        <p:spPr>
          <a:xfrm>
            <a:off x="4618634" y="2615184"/>
            <a:ext cx="2954426" cy="310896"/>
          </a:xfrm>
          <a:prstGeom prst="rect">
            <a:avLst/>
          </a:prstGeom>
          <a:noFill/>
          <a:ln/>
        </p:spPr>
        <p:txBody>
          <a:bodyPr wrap="square" lIns="0" tIns="0" rIns="0" bIns="0" rtlCol="0" anchor="ctr"/>
          <a:lstStyle/>
          <a:p>
            <a:pPr indent="0" marL="0">
              <a:buNone/>
            </a:pPr>
            <a:r>
              <a:rPr lang="en-US" sz="1250" dirty="0">
                <a:solidFill>
                  <a:srgbClr val="5D6B66"/>
                </a:solidFill>
                <a:latin typeface="Calibri" pitchFamily="34" charset="0"/>
                <a:ea typeface="Calibri" pitchFamily="34" charset="-122"/>
                <a:cs typeface="Calibri" pitchFamily="34" charset="-120"/>
              </a:rPr>
              <a:t>Planificación de recursos</a:t>
            </a:r>
            <a:endParaRPr lang="en-US" sz="1250" dirty="0"/>
          </a:p>
        </p:txBody>
      </p:sp>
      <p:sp>
        <p:nvSpPr>
          <p:cNvPr id="13" name="Shape 11"/>
          <p:cNvSpPr/>
          <p:nvPr/>
        </p:nvSpPr>
        <p:spPr>
          <a:xfrm>
            <a:off x="4618634" y="3054096"/>
            <a:ext cx="1554480" cy="365760"/>
          </a:xfrm>
          <a:prstGeom prst="roundRect">
            <a:avLst>
              <a:gd name="adj" fmla="val 125000"/>
            </a:avLst>
          </a:prstGeom>
          <a:solidFill>
            <a:srgbClr val="E8A33D"/>
          </a:solidFill>
          <a:ln w="12700">
            <a:solidFill>
              <a:srgbClr val="E8A33D"/>
            </a:solidFill>
            <a:prstDash val="solid"/>
          </a:ln>
        </p:spPr>
      </p:sp>
      <p:sp>
        <p:nvSpPr>
          <p:cNvPr id="14" name="Text 12"/>
          <p:cNvSpPr txBox="1"/>
          <p:nvPr/>
        </p:nvSpPr>
        <p:spPr>
          <a:xfrm>
            <a:off x="4618634" y="3054096"/>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EN PARTE</a:t>
            </a:r>
            <a:endParaRPr lang="en-US" sz="1150" dirty="0"/>
          </a:p>
        </p:txBody>
      </p:sp>
      <p:sp>
        <p:nvSpPr>
          <p:cNvPr id="15" name="Text 13"/>
          <p:cNvSpPr txBox="1"/>
          <p:nvPr/>
        </p:nvSpPr>
        <p:spPr>
          <a:xfrm>
            <a:off x="4618634" y="3621024"/>
            <a:ext cx="2954426" cy="192024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La rebanada que el negocio usa: inventario con descuento en tiempo real, punto de reorden, semáforo y pedidos con sus estados.</a:t>
            </a:r>
            <a:endParaRPr lang="en-US" sz="1200" dirty="0"/>
          </a:p>
        </p:txBody>
      </p:sp>
      <p:sp>
        <p:nvSpPr>
          <p:cNvPr id="16" name="Shape 14"/>
          <p:cNvSpPr/>
          <p:nvPr/>
        </p:nvSpPr>
        <p:spPr>
          <a:xfrm>
            <a:off x="8048549" y="1737360"/>
            <a:ext cx="3503066" cy="4023360"/>
          </a:xfrm>
          <a:prstGeom prst="roundRect">
            <a:avLst>
              <a:gd name="adj" fmla="val 1305"/>
            </a:avLst>
          </a:prstGeom>
          <a:solidFill>
            <a:srgbClr val="EEF5F1"/>
          </a:solidFill>
          <a:ln w="12700">
            <a:solidFill>
              <a:srgbClr val="D9E5DF"/>
            </a:solidFill>
            <a:prstDash val="solid"/>
          </a:ln>
        </p:spPr>
      </p:sp>
      <p:sp>
        <p:nvSpPr>
          <p:cNvPr id="17" name="Text 15"/>
          <p:cNvSpPr txBox="1"/>
          <p:nvPr/>
        </p:nvSpPr>
        <p:spPr>
          <a:xfrm>
            <a:off x="8322869" y="1938528"/>
            <a:ext cx="2954426" cy="658368"/>
          </a:xfrm>
          <a:prstGeom prst="rect">
            <a:avLst/>
          </a:prstGeom>
          <a:noFill/>
          <a:ln/>
        </p:spPr>
        <p:txBody>
          <a:bodyPr wrap="square" lIns="0" tIns="0" rIns="0" bIns="0" rtlCol="0" anchor="ctr"/>
          <a:lstStyle/>
          <a:p>
            <a:pPr indent="0" marL="0">
              <a:buNone/>
            </a:pPr>
            <a:r>
              <a:rPr lang="en-US" sz="3800" b="1" dirty="0">
                <a:solidFill>
                  <a:srgbClr val="14524A"/>
                </a:solidFill>
                <a:latin typeface="Cambria" pitchFamily="34" charset="0"/>
                <a:ea typeface="Cambria" pitchFamily="34" charset="-122"/>
                <a:cs typeface="Cambria" pitchFamily="34" charset="-120"/>
              </a:rPr>
              <a:t>SRM</a:t>
            </a:r>
            <a:endParaRPr lang="en-US" sz="3800" dirty="0"/>
          </a:p>
        </p:txBody>
      </p:sp>
      <p:sp>
        <p:nvSpPr>
          <p:cNvPr id="18" name="Text 16"/>
          <p:cNvSpPr txBox="1"/>
          <p:nvPr/>
        </p:nvSpPr>
        <p:spPr>
          <a:xfrm>
            <a:off x="8322869" y="2615184"/>
            <a:ext cx="2954426" cy="310896"/>
          </a:xfrm>
          <a:prstGeom prst="rect">
            <a:avLst/>
          </a:prstGeom>
          <a:noFill/>
          <a:ln/>
        </p:spPr>
        <p:txBody>
          <a:bodyPr wrap="square" lIns="0" tIns="0" rIns="0" bIns="0" rtlCol="0" anchor="ctr"/>
          <a:lstStyle/>
          <a:p>
            <a:pPr indent="0" marL="0">
              <a:buNone/>
            </a:pPr>
            <a:r>
              <a:rPr lang="en-US" sz="1250" dirty="0">
                <a:solidFill>
                  <a:srgbClr val="5D6B66"/>
                </a:solidFill>
                <a:latin typeface="Calibri" pitchFamily="34" charset="0"/>
                <a:ea typeface="Calibri" pitchFamily="34" charset="-122"/>
                <a:cs typeface="Calibri" pitchFamily="34" charset="-120"/>
              </a:rPr>
              <a:t>Gestión de proveedores</a:t>
            </a:r>
            <a:endParaRPr lang="en-US" sz="1250" dirty="0"/>
          </a:p>
        </p:txBody>
      </p:sp>
      <p:sp>
        <p:nvSpPr>
          <p:cNvPr id="19" name="Shape 17"/>
          <p:cNvSpPr/>
          <p:nvPr/>
        </p:nvSpPr>
        <p:spPr>
          <a:xfrm>
            <a:off x="8322869" y="3054096"/>
            <a:ext cx="1554480" cy="365760"/>
          </a:xfrm>
          <a:prstGeom prst="roundRect">
            <a:avLst>
              <a:gd name="adj" fmla="val 125000"/>
            </a:avLst>
          </a:prstGeom>
          <a:solidFill>
            <a:srgbClr val="A8432F"/>
          </a:solidFill>
          <a:ln w="12700">
            <a:solidFill>
              <a:srgbClr val="A8432F"/>
            </a:solidFill>
            <a:prstDash val="solid"/>
          </a:ln>
        </p:spPr>
      </p:sp>
      <p:sp>
        <p:nvSpPr>
          <p:cNvPr id="20" name="Text 18"/>
          <p:cNvSpPr txBox="1"/>
          <p:nvPr/>
        </p:nvSpPr>
        <p:spPr>
          <a:xfrm>
            <a:off x="8322869" y="3054096"/>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a:t>
            </a:r>
            <a:endParaRPr lang="en-US" sz="1150" dirty="0"/>
          </a:p>
        </p:txBody>
      </p:sp>
      <p:sp>
        <p:nvSpPr>
          <p:cNvPr id="21" name="Text 19"/>
          <p:cNvSpPr txBox="1"/>
          <p:nvPr/>
        </p:nvSpPr>
        <p:spPr>
          <a:xfrm>
            <a:off x="8322869" y="3621024"/>
            <a:ext cx="2954426" cy="192024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No existe. Ni tabla de proveedores, ni orden de compra, ni pantalla. Es la brecha que reconocemos.</a:t>
            </a:r>
            <a:endParaRPr lang="en-US" sz="1200" dirty="0"/>
          </a:p>
        </p:txBody>
      </p:sp>
      <p:sp>
        <p:nvSpPr>
          <p:cNvPr id="22" name="Text 20"/>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«Proveedor» aparece en el proyecto solo como comentario en el SQL y como promesa en la Entrega 1: no hay tabla, ni modelo, ni pantalla.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Qué hay construido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El punto de partida del análisis: 9 tablas y lo que mueve cada una</a:t>
            </a:r>
            <a:endParaRPr lang="en-US" sz="1400" dirty="0"/>
          </a:p>
        </p:txBody>
      </p:sp>
      <p:sp>
        <p:nvSpPr>
          <p:cNvPr id="4" name="Shape 2"/>
          <p:cNvSpPr/>
          <p:nvPr/>
        </p:nvSpPr>
        <p:spPr>
          <a:xfrm>
            <a:off x="640080" y="1700784"/>
            <a:ext cx="2036003" cy="1005840"/>
          </a:xfrm>
          <a:prstGeom prst="roundRect">
            <a:avLst>
              <a:gd name="adj" fmla="val 4545"/>
            </a:avLst>
          </a:prstGeom>
          <a:solidFill>
            <a:srgbClr val="EEF5F1"/>
          </a:solidFill>
          <a:ln w="12700">
            <a:solidFill>
              <a:srgbClr val="D9E5DF"/>
            </a:solidFill>
            <a:prstDash val="solid"/>
          </a:ln>
        </p:spPr>
      </p:sp>
      <p:sp>
        <p:nvSpPr>
          <p:cNvPr id="5" name="Text 3"/>
          <p:cNvSpPr txBox="1"/>
          <p:nvPr/>
        </p:nvSpPr>
        <p:spPr>
          <a:xfrm>
            <a:off x="640080" y="1773936"/>
            <a:ext cx="2036003" cy="475488"/>
          </a:xfrm>
          <a:prstGeom prst="rect">
            <a:avLst/>
          </a:prstGeom>
          <a:noFill/>
          <a:ln/>
        </p:spPr>
        <p:txBody>
          <a:bodyPr wrap="square" lIns="0" tIns="0" rIns="0" bIns="0" rtlCol="0" anchor="ctr"/>
          <a:lstStyle/>
          <a:p>
            <a:pPr algn="ctr" indent="0" marL="0">
              <a:buNone/>
            </a:pPr>
            <a:r>
              <a:rPr lang="en-US" sz="2800" b="1" dirty="0">
                <a:solidFill>
                  <a:srgbClr val="14524A"/>
                </a:solidFill>
                <a:latin typeface="Cambria" pitchFamily="34" charset="0"/>
                <a:ea typeface="Cambria" pitchFamily="34" charset="-122"/>
                <a:cs typeface="Cambria" pitchFamily="34" charset="-120"/>
              </a:rPr>
              <a:t>9</a:t>
            </a:r>
            <a:endParaRPr lang="en-US" sz="2800" dirty="0"/>
          </a:p>
        </p:txBody>
      </p:sp>
      <p:sp>
        <p:nvSpPr>
          <p:cNvPr id="6" name="Text 4"/>
          <p:cNvSpPr txBox="1"/>
          <p:nvPr/>
        </p:nvSpPr>
        <p:spPr>
          <a:xfrm>
            <a:off x="640080" y="2231136"/>
            <a:ext cx="2036003" cy="347472"/>
          </a:xfrm>
          <a:prstGeom prst="rect">
            <a:avLst/>
          </a:prstGeom>
          <a:noFill/>
          <a:ln/>
        </p:spPr>
        <p:txBody>
          <a:bodyPr wrap="square" lIns="0" tIns="0" rIns="0" bIns="0" rtlCol="0" anchor="ctr"/>
          <a:lstStyle/>
          <a:p>
            <a:pPr algn="ctr" indent="0" marL="0">
              <a:buNone/>
            </a:pPr>
            <a:r>
              <a:rPr lang="en-US" sz="1100" dirty="0">
                <a:solidFill>
                  <a:srgbClr val="5D6B66"/>
                </a:solidFill>
                <a:latin typeface="Calibri" pitchFamily="34" charset="0"/>
                <a:ea typeface="Calibri" pitchFamily="34" charset="-122"/>
                <a:cs typeface="Calibri" pitchFamily="34" charset="-120"/>
              </a:rPr>
              <a:t>tablas de dominio</a:t>
            </a:r>
            <a:endParaRPr lang="en-US" sz="1100" dirty="0"/>
          </a:p>
        </p:txBody>
      </p:sp>
      <p:sp>
        <p:nvSpPr>
          <p:cNvPr id="7" name="Shape 5"/>
          <p:cNvSpPr/>
          <p:nvPr/>
        </p:nvSpPr>
        <p:spPr>
          <a:xfrm>
            <a:off x="2858963" y="1700784"/>
            <a:ext cx="2036003" cy="1005840"/>
          </a:xfrm>
          <a:prstGeom prst="roundRect">
            <a:avLst>
              <a:gd name="adj" fmla="val 4545"/>
            </a:avLst>
          </a:prstGeom>
          <a:solidFill>
            <a:srgbClr val="EEF5F1"/>
          </a:solidFill>
          <a:ln w="12700">
            <a:solidFill>
              <a:srgbClr val="D9E5DF"/>
            </a:solidFill>
            <a:prstDash val="solid"/>
          </a:ln>
        </p:spPr>
      </p:sp>
      <p:sp>
        <p:nvSpPr>
          <p:cNvPr id="8" name="Text 6"/>
          <p:cNvSpPr txBox="1"/>
          <p:nvPr/>
        </p:nvSpPr>
        <p:spPr>
          <a:xfrm>
            <a:off x="2858963" y="1773936"/>
            <a:ext cx="2036003" cy="475488"/>
          </a:xfrm>
          <a:prstGeom prst="rect">
            <a:avLst/>
          </a:prstGeom>
          <a:noFill/>
          <a:ln/>
        </p:spPr>
        <p:txBody>
          <a:bodyPr wrap="square" lIns="0" tIns="0" rIns="0" bIns="0" rtlCol="0" anchor="ctr"/>
          <a:lstStyle/>
          <a:p>
            <a:pPr algn="ctr" indent="0" marL="0">
              <a:buNone/>
            </a:pPr>
            <a:r>
              <a:rPr lang="en-US" sz="2800" b="1" dirty="0">
                <a:solidFill>
                  <a:srgbClr val="14524A"/>
                </a:solidFill>
                <a:latin typeface="Cambria" pitchFamily="34" charset="0"/>
                <a:ea typeface="Cambria" pitchFamily="34" charset="-122"/>
                <a:cs typeface="Cambria" pitchFamily="34" charset="-120"/>
              </a:rPr>
              <a:t>14</a:t>
            </a:r>
            <a:endParaRPr lang="en-US" sz="2800" dirty="0"/>
          </a:p>
        </p:txBody>
      </p:sp>
      <p:sp>
        <p:nvSpPr>
          <p:cNvPr id="9" name="Text 7"/>
          <p:cNvSpPr txBox="1"/>
          <p:nvPr/>
        </p:nvSpPr>
        <p:spPr>
          <a:xfrm>
            <a:off x="2858963" y="2231136"/>
            <a:ext cx="2036003" cy="347472"/>
          </a:xfrm>
          <a:prstGeom prst="rect">
            <a:avLst/>
          </a:prstGeom>
          <a:noFill/>
          <a:ln/>
        </p:spPr>
        <p:txBody>
          <a:bodyPr wrap="square" lIns="0" tIns="0" rIns="0" bIns="0" rtlCol="0" anchor="ctr"/>
          <a:lstStyle/>
          <a:p>
            <a:pPr algn="ctr" indent="0" marL="0">
              <a:buNone/>
            </a:pPr>
            <a:r>
              <a:rPr lang="en-US" sz="1100" dirty="0">
                <a:solidFill>
                  <a:srgbClr val="5D6B66"/>
                </a:solidFill>
                <a:latin typeface="Calibri" pitchFamily="34" charset="0"/>
                <a:ea typeface="Calibri" pitchFamily="34" charset="-122"/>
                <a:cs typeface="Calibri" pitchFamily="34" charset="-120"/>
              </a:rPr>
              <a:t>servicios</a:t>
            </a:r>
            <a:endParaRPr lang="en-US" sz="1100" dirty="0"/>
          </a:p>
        </p:txBody>
      </p:sp>
      <p:sp>
        <p:nvSpPr>
          <p:cNvPr id="10" name="Shape 8"/>
          <p:cNvSpPr/>
          <p:nvPr/>
        </p:nvSpPr>
        <p:spPr>
          <a:xfrm>
            <a:off x="5077846" y="1700784"/>
            <a:ext cx="2036003" cy="1005840"/>
          </a:xfrm>
          <a:prstGeom prst="roundRect">
            <a:avLst>
              <a:gd name="adj" fmla="val 4545"/>
            </a:avLst>
          </a:prstGeom>
          <a:solidFill>
            <a:srgbClr val="EEF5F1"/>
          </a:solidFill>
          <a:ln w="12700">
            <a:solidFill>
              <a:srgbClr val="D9E5DF"/>
            </a:solidFill>
            <a:prstDash val="solid"/>
          </a:ln>
        </p:spPr>
      </p:sp>
      <p:sp>
        <p:nvSpPr>
          <p:cNvPr id="11" name="Text 9"/>
          <p:cNvSpPr txBox="1"/>
          <p:nvPr/>
        </p:nvSpPr>
        <p:spPr>
          <a:xfrm>
            <a:off x="5077846" y="1773936"/>
            <a:ext cx="2036003" cy="475488"/>
          </a:xfrm>
          <a:prstGeom prst="rect">
            <a:avLst/>
          </a:prstGeom>
          <a:noFill/>
          <a:ln/>
        </p:spPr>
        <p:txBody>
          <a:bodyPr wrap="square" lIns="0" tIns="0" rIns="0" bIns="0" rtlCol="0" anchor="ctr"/>
          <a:lstStyle/>
          <a:p>
            <a:pPr algn="ctr" indent="0" marL="0">
              <a:buNone/>
            </a:pPr>
            <a:r>
              <a:rPr lang="en-US" sz="2800" b="1" dirty="0">
                <a:solidFill>
                  <a:srgbClr val="14524A"/>
                </a:solidFill>
                <a:latin typeface="Cambria" pitchFamily="34" charset="0"/>
                <a:ea typeface="Cambria" pitchFamily="34" charset="-122"/>
                <a:cs typeface="Cambria" pitchFamily="34" charset="-120"/>
              </a:rPr>
              <a:t>2</a:t>
            </a:r>
            <a:endParaRPr lang="en-US" sz="2800" dirty="0"/>
          </a:p>
        </p:txBody>
      </p:sp>
      <p:sp>
        <p:nvSpPr>
          <p:cNvPr id="12" name="Text 10"/>
          <p:cNvSpPr txBox="1"/>
          <p:nvPr/>
        </p:nvSpPr>
        <p:spPr>
          <a:xfrm>
            <a:off x="5077846" y="2231136"/>
            <a:ext cx="2036003" cy="347472"/>
          </a:xfrm>
          <a:prstGeom prst="rect">
            <a:avLst/>
          </a:prstGeom>
          <a:noFill/>
          <a:ln/>
        </p:spPr>
        <p:txBody>
          <a:bodyPr wrap="square" lIns="0" tIns="0" rIns="0" bIns="0" rtlCol="0" anchor="ctr"/>
          <a:lstStyle/>
          <a:p>
            <a:pPr algn="ctr" indent="0" marL="0">
              <a:buNone/>
            </a:pPr>
            <a:r>
              <a:rPr lang="en-US" sz="1100" dirty="0">
                <a:solidFill>
                  <a:srgbClr val="5D6B66"/>
                </a:solidFill>
                <a:latin typeface="Calibri" pitchFamily="34" charset="0"/>
                <a:ea typeface="Calibri" pitchFamily="34" charset="-122"/>
                <a:cs typeface="Calibri" pitchFamily="34" charset="-120"/>
              </a:rPr>
              <a:t>procesos automáticos</a:t>
            </a:r>
            <a:endParaRPr lang="en-US" sz="1100" dirty="0"/>
          </a:p>
        </p:txBody>
      </p:sp>
      <p:sp>
        <p:nvSpPr>
          <p:cNvPr id="13" name="Shape 11"/>
          <p:cNvSpPr/>
          <p:nvPr/>
        </p:nvSpPr>
        <p:spPr>
          <a:xfrm>
            <a:off x="7296729" y="1700784"/>
            <a:ext cx="2036003" cy="1005840"/>
          </a:xfrm>
          <a:prstGeom prst="roundRect">
            <a:avLst>
              <a:gd name="adj" fmla="val 4545"/>
            </a:avLst>
          </a:prstGeom>
          <a:solidFill>
            <a:srgbClr val="EEF5F1"/>
          </a:solidFill>
          <a:ln w="12700">
            <a:solidFill>
              <a:srgbClr val="D9E5DF"/>
            </a:solidFill>
            <a:prstDash val="solid"/>
          </a:ln>
        </p:spPr>
      </p:sp>
      <p:sp>
        <p:nvSpPr>
          <p:cNvPr id="14" name="Text 12"/>
          <p:cNvSpPr txBox="1"/>
          <p:nvPr/>
        </p:nvSpPr>
        <p:spPr>
          <a:xfrm>
            <a:off x="7296729" y="1773936"/>
            <a:ext cx="2036003" cy="475488"/>
          </a:xfrm>
          <a:prstGeom prst="rect">
            <a:avLst/>
          </a:prstGeom>
          <a:noFill/>
          <a:ln/>
        </p:spPr>
        <p:txBody>
          <a:bodyPr wrap="square" lIns="0" tIns="0" rIns="0" bIns="0" rtlCol="0" anchor="ctr"/>
          <a:lstStyle/>
          <a:p>
            <a:pPr algn="ctr" indent="0" marL="0">
              <a:buNone/>
            </a:pPr>
            <a:r>
              <a:rPr lang="en-US" sz="2800" b="1" dirty="0">
                <a:solidFill>
                  <a:srgbClr val="14524A"/>
                </a:solidFill>
                <a:latin typeface="Cambria" pitchFamily="34" charset="0"/>
                <a:ea typeface="Cambria" pitchFamily="34" charset="-122"/>
                <a:cs typeface="Cambria" pitchFamily="34" charset="-120"/>
              </a:rPr>
              <a:t>8</a:t>
            </a:r>
            <a:endParaRPr lang="en-US" sz="2800" dirty="0"/>
          </a:p>
        </p:txBody>
      </p:sp>
      <p:sp>
        <p:nvSpPr>
          <p:cNvPr id="15" name="Text 13"/>
          <p:cNvSpPr txBox="1"/>
          <p:nvPr/>
        </p:nvSpPr>
        <p:spPr>
          <a:xfrm>
            <a:off x="7296729" y="2231136"/>
            <a:ext cx="2036003" cy="347472"/>
          </a:xfrm>
          <a:prstGeom prst="rect">
            <a:avLst/>
          </a:prstGeom>
          <a:noFill/>
          <a:ln/>
        </p:spPr>
        <p:txBody>
          <a:bodyPr wrap="square" lIns="0" tIns="0" rIns="0" bIns="0" rtlCol="0" anchor="ctr"/>
          <a:lstStyle/>
          <a:p>
            <a:pPr algn="ctr" indent="0" marL="0">
              <a:buNone/>
            </a:pPr>
            <a:r>
              <a:rPr lang="en-US" sz="1100" dirty="0">
                <a:solidFill>
                  <a:srgbClr val="5D6B66"/>
                </a:solidFill>
                <a:latin typeface="Calibri" pitchFamily="34" charset="0"/>
                <a:ea typeface="Calibri" pitchFamily="34" charset="-122"/>
                <a:cs typeface="Calibri" pitchFamily="34" charset="-120"/>
              </a:rPr>
              <a:t>correos</a:t>
            </a:r>
            <a:endParaRPr lang="en-US" sz="1100" dirty="0"/>
          </a:p>
        </p:txBody>
      </p:sp>
      <p:sp>
        <p:nvSpPr>
          <p:cNvPr id="16" name="Shape 14"/>
          <p:cNvSpPr/>
          <p:nvPr/>
        </p:nvSpPr>
        <p:spPr>
          <a:xfrm>
            <a:off x="9515612" y="1700784"/>
            <a:ext cx="2036003" cy="1005840"/>
          </a:xfrm>
          <a:prstGeom prst="roundRect">
            <a:avLst>
              <a:gd name="adj" fmla="val 4545"/>
            </a:avLst>
          </a:prstGeom>
          <a:solidFill>
            <a:srgbClr val="EEF5F1"/>
          </a:solidFill>
          <a:ln w="12700">
            <a:solidFill>
              <a:srgbClr val="D9E5DF"/>
            </a:solidFill>
            <a:prstDash val="solid"/>
          </a:ln>
        </p:spPr>
      </p:sp>
      <p:sp>
        <p:nvSpPr>
          <p:cNvPr id="17" name="Text 15"/>
          <p:cNvSpPr txBox="1"/>
          <p:nvPr/>
        </p:nvSpPr>
        <p:spPr>
          <a:xfrm>
            <a:off x="9515612" y="1773936"/>
            <a:ext cx="2036003" cy="475488"/>
          </a:xfrm>
          <a:prstGeom prst="rect">
            <a:avLst/>
          </a:prstGeom>
          <a:noFill/>
          <a:ln/>
        </p:spPr>
        <p:txBody>
          <a:bodyPr wrap="square" lIns="0" tIns="0" rIns="0" bIns="0" rtlCol="0" anchor="ctr"/>
          <a:lstStyle/>
          <a:p>
            <a:pPr algn="ctr" indent="0" marL="0">
              <a:buNone/>
            </a:pPr>
            <a:r>
              <a:rPr lang="en-US" sz="2800" b="1" dirty="0">
                <a:solidFill>
                  <a:srgbClr val="14524A"/>
                </a:solidFill>
                <a:latin typeface="Cambria" pitchFamily="34" charset="0"/>
                <a:ea typeface="Cambria" pitchFamily="34" charset="-122"/>
                <a:cs typeface="Cambria" pitchFamily="34" charset="-120"/>
              </a:rPr>
              <a:t>32</a:t>
            </a:r>
            <a:endParaRPr lang="en-US" sz="2800" dirty="0"/>
          </a:p>
        </p:txBody>
      </p:sp>
      <p:sp>
        <p:nvSpPr>
          <p:cNvPr id="18" name="Text 16"/>
          <p:cNvSpPr txBox="1"/>
          <p:nvPr/>
        </p:nvSpPr>
        <p:spPr>
          <a:xfrm>
            <a:off x="9515612" y="2231136"/>
            <a:ext cx="2036003" cy="347472"/>
          </a:xfrm>
          <a:prstGeom prst="rect">
            <a:avLst/>
          </a:prstGeom>
          <a:noFill/>
          <a:ln/>
        </p:spPr>
        <p:txBody>
          <a:bodyPr wrap="square" lIns="0" tIns="0" rIns="0" bIns="0" rtlCol="0" anchor="ctr"/>
          <a:lstStyle/>
          <a:p>
            <a:pPr algn="ctr" indent="0" marL="0">
              <a:buNone/>
            </a:pPr>
            <a:r>
              <a:rPr lang="en-US" sz="1100" dirty="0">
                <a:solidFill>
                  <a:srgbClr val="5D6B66"/>
                </a:solidFill>
                <a:latin typeface="Calibri" pitchFamily="34" charset="0"/>
                <a:ea typeface="Calibri" pitchFamily="34" charset="-122"/>
                <a:cs typeface="Calibri" pitchFamily="34" charset="-120"/>
              </a:rPr>
              <a:t>rutas</a:t>
            </a:r>
            <a:endParaRPr lang="en-US" sz="1100" dirty="0"/>
          </a:p>
        </p:txBody>
      </p:sp>
      <p:sp>
        <p:nvSpPr>
          <p:cNvPr id="19" name="Shape 17"/>
          <p:cNvSpPr/>
          <p:nvPr/>
        </p:nvSpPr>
        <p:spPr>
          <a:xfrm>
            <a:off x="640080" y="2907792"/>
            <a:ext cx="10911535" cy="585216"/>
          </a:xfrm>
          <a:prstGeom prst="roundRect">
            <a:avLst>
              <a:gd name="adj" fmla="val 7813"/>
            </a:avLst>
          </a:prstGeom>
          <a:solidFill>
            <a:srgbClr val="EEF5F1"/>
          </a:solidFill>
          <a:ln w="12700">
            <a:solidFill>
              <a:srgbClr val="D9E5DF"/>
            </a:solidFill>
            <a:prstDash val="solid"/>
          </a:ln>
        </p:spPr>
      </p:sp>
      <p:sp>
        <p:nvSpPr>
          <p:cNvPr id="20" name="Shape 18"/>
          <p:cNvSpPr/>
          <p:nvPr/>
        </p:nvSpPr>
        <p:spPr>
          <a:xfrm>
            <a:off x="841248" y="3035808"/>
            <a:ext cx="1188720" cy="329184"/>
          </a:xfrm>
          <a:prstGeom prst="roundRect">
            <a:avLst>
              <a:gd name="adj" fmla="val 138889"/>
            </a:avLst>
          </a:prstGeom>
          <a:solidFill>
            <a:srgbClr val="14524A"/>
          </a:solidFill>
          <a:ln w="12700">
            <a:solidFill>
              <a:srgbClr val="14524A"/>
            </a:solidFill>
            <a:prstDash val="solid"/>
          </a:ln>
        </p:spPr>
      </p:sp>
      <p:sp>
        <p:nvSpPr>
          <p:cNvPr id="21" name="Text 19"/>
          <p:cNvSpPr txBox="1"/>
          <p:nvPr/>
        </p:nvSpPr>
        <p:spPr>
          <a:xfrm>
            <a:off x="841248" y="3035808"/>
            <a:ext cx="11887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CRM</a:t>
            </a:r>
            <a:endParaRPr lang="en-US" sz="1050" dirty="0"/>
          </a:p>
        </p:txBody>
      </p:sp>
      <p:sp>
        <p:nvSpPr>
          <p:cNvPr id="22" name="Text 20"/>
          <p:cNvSpPr txBox="1"/>
          <p:nvPr/>
        </p:nvSpPr>
        <p:spPr>
          <a:xfrm>
            <a:off x="2231136" y="2907792"/>
            <a:ext cx="9082735" cy="585216"/>
          </a:xfrm>
          <a:prstGeom prst="rect">
            <a:avLst/>
          </a:prstGeom>
          <a:noFill/>
          <a:ln/>
        </p:spPr>
        <p:txBody>
          <a:bodyPr wrap="square" lIns="0" tIns="0" rIns="0" bIns="0" rtlCol="0" anchor="ctr"/>
          <a:lstStyle/>
          <a:p>
            <a:pPr indent="0" marL="0">
              <a:buNone/>
            </a:pPr>
            <a:r>
              <a:rPr lang="en-US" sz="1150" dirty="0">
                <a:solidFill>
                  <a:srgbClr val="1C2321"/>
                </a:solidFill>
                <a:latin typeface="Courier New" pitchFamily="34" charset="0"/>
                <a:ea typeface="Courier New" pitchFamily="34" charset="-122"/>
                <a:cs typeface="Courier New" pitchFamily="34" charset="-120"/>
              </a:rPr>
              <a:t>usuarios · mascotas · citas · historias_clinicas</a:t>
            </a:r>
            <a:endParaRPr lang="en-US" sz="1150" dirty="0"/>
          </a:p>
        </p:txBody>
      </p:sp>
      <p:sp>
        <p:nvSpPr>
          <p:cNvPr id="23" name="Shape 21"/>
          <p:cNvSpPr/>
          <p:nvPr/>
        </p:nvSpPr>
        <p:spPr>
          <a:xfrm>
            <a:off x="640080" y="3621024"/>
            <a:ext cx="10911535" cy="585216"/>
          </a:xfrm>
          <a:prstGeom prst="roundRect">
            <a:avLst>
              <a:gd name="adj" fmla="val 7813"/>
            </a:avLst>
          </a:prstGeom>
          <a:solidFill>
            <a:srgbClr val="EEF5F1"/>
          </a:solidFill>
          <a:ln w="12700">
            <a:solidFill>
              <a:srgbClr val="D9E5DF"/>
            </a:solidFill>
            <a:prstDash val="solid"/>
          </a:ln>
        </p:spPr>
      </p:sp>
      <p:sp>
        <p:nvSpPr>
          <p:cNvPr id="24" name="Shape 22"/>
          <p:cNvSpPr/>
          <p:nvPr/>
        </p:nvSpPr>
        <p:spPr>
          <a:xfrm>
            <a:off x="841248" y="3749040"/>
            <a:ext cx="1188720" cy="329184"/>
          </a:xfrm>
          <a:prstGeom prst="roundRect">
            <a:avLst>
              <a:gd name="adj" fmla="val 138889"/>
            </a:avLst>
          </a:prstGeom>
          <a:solidFill>
            <a:srgbClr val="E8A33D"/>
          </a:solidFill>
          <a:ln w="12700">
            <a:solidFill>
              <a:srgbClr val="E8A33D"/>
            </a:solidFill>
            <a:prstDash val="solid"/>
          </a:ln>
        </p:spPr>
      </p:sp>
      <p:sp>
        <p:nvSpPr>
          <p:cNvPr id="25" name="Text 23"/>
          <p:cNvSpPr txBox="1"/>
          <p:nvPr/>
        </p:nvSpPr>
        <p:spPr>
          <a:xfrm>
            <a:off x="841248" y="3749040"/>
            <a:ext cx="1188720" cy="329184"/>
          </a:xfrm>
          <a:prstGeom prst="rect">
            <a:avLst/>
          </a:prstGeom>
          <a:noFill/>
          <a:ln/>
        </p:spPr>
        <p:txBody>
          <a:bodyPr wrap="square" lIns="0" tIns="0" rIns="0" bIns="0" rtlCol="0" anchor="ctr"/>
          <a:lstStyle/>
          <a:p>
            <a:pPr algn="ctr" indent="0" marL="0">
              <a:buNone/>
            </a:pPr>
            <a:r>
              <a:rPr lang="en-US" sz="1050" b="1" dirty="0">
                <a:solidFill>
                  <a:srgbClr val="14524A"/>
                </a:solidFill>
                <a:latin typeface="Calibri" pitchFamily="34" charset="0"/>
                <a:ea typeface="Calibri" pitchFamily="34" charset="-122"/>
                <a:cs typeface="Calibri" pitchFamily="34" charset="-120"/>
              </a:rPr>
              <a:t>ERP</a:t>
            </a:r>
            <a:endParaRPr lang="en-US" sz="1050" dirty="0"/>
          </a:p>
        </p:txBody>
      </p:sp>
      <p:sp>
        <p:nvSpPr>
          <p:cNvPr id="26" name="Text 24"/>
          <p:cNvSpPr txBox="1"/>
          <p:nvPr/>
        </p:nvSpPr>
        <p:spPr>
          <a:xfrm>
            <a:off x="2231136" y="3621024"/>
            <a:ext cx="9082735" cy="585216"/>
          </a:xfrm>
          <a:prstGeom prst="rect">
            <a:avLst/>
          </a:prstGeom>
          <a:noFill/>
          <a:ln/>
        </p:spPr>
        <p:txBody>
          <a:bodyPr wrap="square" lIns="0" tIns="0" rIns="0" bIns="0" rtlCol="0" anchor="ctr"/>
          <a:lstStyle/>
          <a:p>
            <a:pPr indent="0" marL="0">
              <a:buNone/>
            </a:pPr>
            <a:r>
              <a:rPr lang="en-US" sz="1150" dirty="0">
                <a:solidFill>
                  <a:srgbClr val="1C2321"/>
                </a:solidFill>
                <a:latin typeface="Courier New" pitchFamily="34" charset="0"/>
                <a:ea typeface="Courier New" pitchFamily="34" charset="-122"/>
                <a:cs typeface="Courier New" pitchFamily="34" charset="-120"/>
              </a:rPr>
              <a:t>productos · pedidos · detalle_pedidos · pagos</a:t>
            </a:r>
            <a:endParaRPr lang="en-US" sz="1150" dirty="0"/>
          </a:p>
        </p:txBody>
      </p:sp>
      <p:sp>
        <p:nvSpPr>
          <p:cNvPr id="27" name="Shape 25"/>
          <p:cNvSpPr/>
          <p:nvPr/>
        </p:nvSpPr>
        <p:spPr>
          <a:xfrm>
            <a:off x="640080" y="4334256"/>
            <a:ext cx="10911535" cy="585216"/>
          </a:xfrm>
          <a:prstGeom prst="roundRect">
            <a:avLst>
              <a:gd name="adj" fmla="val 7813"/>
            </a:avLst>
          </a:prstGeom>
          <a:solidFill>
            <a:srgbClr val="EEF5F1"/>
          </a:solidFill>
          <a:ln w="12700">
            <a:solidFill>
              <a:srgbClr val="D9E5DF"/>
            </a:solidFill>
            <a:prstDash val="solid"/>
          </a:ln>
        </p:spPr>
      </p:sp>
      <p:sp>
        <p:nvSpPr>
          <p:cNvPr id="28" name="Shape 26"/>
          <p:cNvSpPr/>
          <p:nvPr/>
        </p:nvSpPr>
        <p:spPr>
          <a:xfrm>
            <a:off x="841248" y="4462272"/>
            <a:ext cx="1188720" cy="329184"/>
          </a:xfrm>
          <a:prstGeom prst="roundRect">
            <a:avLst>
              <a:gd name="adj" fmla="val 138889"/>
            </a:avLst>
          </a:prstGeom>
          <a:solidFill>
            <a:srgbClr val="2C7A6B"/>
          </a:solidFill>
          <a:ln w="12700">
            <a:solidFill>
              <a:srgbClr val="2C7A6B"/>
            </a:solidFill>
            <a:prstDash val="solid"/>
          </a:ln>
        </p:spPr>
      </p:sp>
      <p:sp>
        <p:nvSpPr>
          <p:cNvPr id="29" name="Text 27"/>
          <p:cNvSpPr txBox="1"/>
          <p:nvPr/>
        </p:nvSpPr>
        <p:spPr>
          <a:xfrm>
            <a:off x="841248" y="4462272"/>
            <a:ext cx="11887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AMBOS</a:t>
            </a:r>
            <a:endParaRPr lang="en-US" sz="1050" dirty="0"/>
          </a:p>
        </p:txBody>
      </p:sp>
      <p:sp>
        <p:nvSpPr>
          <p:cNvPr id="30" name="Text 28"/>
          <p:cNvSpPr txBox="1"/>
          <p:nvPr/>
        </p:nvSpPr>
        <p:spPr>
          <a:xfrm>
            <a:off x="2231136" y="4334256"/>
            <a:ext cx="9082735" cy="585216"/>
          </a:xfrm>
          <a:prstGeom prst="rect">
            <a:avLst/>
          </a:prstGeom>
          <a:noFill/>
          <a:ln/>
        </p:spPr>
        <p:txBody>
          <a:bodyPr wrap="square" lIns="0" tIns="0" rIns="0" bIns="0" rtlCol="0" anchor="ctr"/>
          <a:lstStyle/>
          <a:p>
            <a:pPr indent="0" marL="0">
              <a:buNone/>
            </a:pPr>
            <a:r>
              <a:rPr lang="en-US" sz="1150" dirty="0">
                <a:solidFill>
                  <a:srgbClr val="1C2321"/>
                </a:solidFill>
                <a:latin typeface="Courier New" pitchFamily="34" charset="0"/>
                <a:ea typeface="Courier New" pitchFamily="34" charset="-122"/>
                <a:cs typeface="Courier New" pitchFamily="34" charset="-120"/>
              </a:rPr>
              <a:t>suscripciones — fideliza al cliente y mueve inventario</a:t>
            </a:r>
            <a:endParaRPr lang="en-US" sz="1150" dirty="0"/>
          </a:p>
        </p:txBody>
      </p:sp>
      <p:sp>
        <p:nvSpPr>
          <p:cNvPr id="31" name="Shape 29"/>
          <p:cNvSpPr/>
          <p:nvPr/>
        </p:nvSpPr>
        <p:spPr>
          <a:xfrm>
            <a:off x="640080" y="5120640"/>
            <a:ext cx="10911535" cy="786384"/>
          </a:xfrm>
          <a:prstGeom prst="roundRect">
            <a:avLst>
              <a:gd name="adj" fmla="val 5814"/>
            </a:avLst>
          </a:prstGeom>
          <a:solidFill>
            <a:srgbClr val="F6EADA"/>
          </a:solidFill>
          <a:ln w="12700">
            <a:solidFill>
              <a:srgbClr val="F6EADA"/>
            </a:solidFill>
            <a:prstDash val="solid"/>
          </a:ln>
        </p:spPr>
      </p:sp>
      <p:sp>
        <p:nvSpPr>
          <p:cNvPr id="32" name="Text 30"/>
          <p:cNvSpPr txBox="1"/>
          <p:nvPr/>
        </p:nvSpPr>
        <p:spPr>
          <a:xfrm>
            <a:off x="914400" y="5120640"/>
            <a:ext cx="10362895" cy="786384"/>
          </a:xfrm>
          <a:prstGeom prst="rect">
            <a:avLst/>
          </a:prstGeom>
          <a:noFill/>
          <a:ln/>
        </p:spPr>
        <p:txBody>
          <a:bodyPr wrap="square" lIns="0" tIns="0" rIns="0" bIns="0" rtlCol="0" anchor="ctr"/>
          <a:lstStyle/>
          <a:p>
            <a:pPr indent="0" marL="0">
              <a:lnSpc>
                <a:spcPts val="1700"/>
              </a:lnSpc>
              <a:buNone/>
            </a:pPr>
            <a:r>
              <a:rPr lang="en-US" sz="1200" b="1" dirty="0">
                <a:solidFill>
                  <a:srgbClr val="8A5A12"/>
                </a:solidFill>
                <a:latin typeface="Calibri" pitchFamily="34" charset="0"/>
                <a:ea typeface="Calibri" pitchFamily="34" charset="-122"/>
                <a:cs typeface="Calibri" pitchFamily="34" charset="-120"/>
              </a:rPr>
              <a:t xml:space="preserve">Cuidado con la palabra «pedido».  </a:t>
            </a:r>
            <a:pPr indent="0" marL="0">
              <a:lnSpc>
                <a:spcPts val="1700"/>
              </a:lnSpc>
              <a:buNone/>
            </a:pPr>
            <a:r>
              <a:rPr lang="en-US" sz="1200" dirty="0">
                <a:solidFill>
                  <a:srgbClr val="1C2321"/>
                </a:solidFill>
                <a:latin typeface="Calibri" pitchFamily="34" charset="0"/>
                <a:ea typeface="Calibri" pitchFamily="34" charset="-122"/>
                <a:cs typeface="Calibri" pitchFamily="34" charset="-120"/>
              </a:rPr>
              <a:t>Lo que el sistema llama pedido es una orden de VENTA: del cliente hacia la empresa. Una orden de COMPRA va al revés, de la empresa hacia el proveedor, y esa no existe.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CRM: qué tablas y qué flujos lo forman</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El pilar más completo, aunque no se llame así en ninguna carpeta</a:t>
            </a:r>
            <a:endParaRPr lang="en-US" sz="1400" dirty="0"/>
          </a:p>
        </p:txBody>
      </p:sp>
      <p:sp>
        <p:nvSpPr>
          <p:cNvPr id="4" name="Shape 2"/>
          <p:cNvSpPr/>
          <p:nvPr/>
        </p:nvSpPr>
        <p:spPr>
          <a:xfrm>
            <a:off x="640080" y="1700784"/>
            <a:ext cx="10911535" cy="694944"/>
          </a:xfrm>
          <a:prstGeom prst="roundRect">
            <a:avLst>
              <a:gd name="adj" fmla="val 6579"/>
            </a:avLst>
          </a:prstGeom>
          <a:solidFill>
            <a:srgbClr val="14524A"/>
          </a:solidFill>
          <a:ln w="12700">
            <a:solidFill>
              <a:srgbClr val="14524A"/>
            </a:solidFill>
            <a:prstDash val="solid"/>
          </a:ln>
        </p:spPr>
      </p:sp>
      <p:sp>
        <p:nvSpPr>
          <p:cNvPr id="5" name="Text 3"/>
          <p:cNvSpPr txBox="1"/>
          <p:nvPr/>
        </p:nvSpPr>
        <p:spPr>
          <a:xfrm>
            <a:off x="950976" y="1700784"/>
            <a:ext cx="10289743" cy="694944"/>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usuarios  →  mascotas  →  citas  →  historias_clinicas        +  pedidos y suscripciones como historial</a:t>
            </a:r>
            <a:endParaRPr lang="en-US" sz="1250" dirty="0"/>
          </a:p>
        </p:txBody>
      </p:sp>
      <p:sp>
        <p:nvSpPr>
          <p:cNvPr id="6" name="Shape 4"/>
          <p:cNvSpPr/>
          <p:nvPr/>
        </p:nvSpPr>
        <p:spPr>
          <a:xfrm>
            <a:off x="640080" y="2596896"/>
            <a:ext cx="10911535" cy="640080"/>
          </a:xfrm>
          <a:prstGeom prst="roundRect">
            <a:avLst>
              <a:gd name="adj" fmla="val 7143"/>
            </a:avLst>
          </a:prstGeom>
          <a:solidFill>
            <a:srgbClr val="EEF5F1"/>
          </a:solidFill>
          <a:ln w="12700">
            <a:solidFill>
              <a:srgbClr val="D9E5DF"/>
            </a:solidFill>
            <a:prstDash val="solid"/>
          </a:ln>
        </p:spPr>
      </p:sp>
      <p:sp>
        <p:nvSpPr>
          <p:cNvPr id="7" name="Text 5"/>
          <p:cNvSpPr txBox="1"/>
          <p:nvPr/>
        </p:nvSpPr>
        <p:spPr>
          <a:xfrm>
            <a:off x="914400" y="2596896"/>
            <a:ext cx="4206240" cy="640080"/>
          </a:xfrm>
          <a:prstGeom prst="rect">
            <a:avLst/>
          </a:prstGeom>
          <a:noFill/>
          <a:ln/>
        </p:spPr>
        <p:txBody>
          <a:bodyPr wrap="square" lIns="0" tIns="0" rIns="0" bIns="0" rtlCol="0" anchor="ctr"/>
          <a:lstStyle/>
          <a:p>
            <a:pPr indent="0" marL="0">
              <a:buNone/>
            </a:pPr>
            <a:r>
              <a:rPr lang="en-US" sz="1300" b="1" dirty="0">
                <a:solidFill>
                  <a:srgbClr val="14524A"/>
                </a:solidFill>
                <a:latin typeface="Cambria" pitchFamily="34" charset="0"/>
                <a:ea typeface="Cambria" pitchFamily="34" charset="-122"/>
                <a:cs typeface="Cambria" pitchFamily="34" charset="-120"/>
              </a:rPr>
              <a:t>Registro → bienvenida</a:t>
            </a:r>
            <a:endParaRPr lang="en-US" sz="1300" dirty="0"/>
          </a:p>
        </p:txBody>
      </p:sp>
      <p:sp>
        <p:nvSpPr>
          <p:cNvPr id="8" name="Text 6"/>
          <p:cNvSpPr txBox="1"/>
          <p:nvPr/>
        </p:nvSpPr>
        <p:spPr>
          <a:xfrm>
            <a:off x="5303520" y="2596896"/>
            <a:ext cx="5973775" cy="640080"/>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Se crea la cuenta y el correo sale solo.</a:t>
            </a:r>
            <a:endParaRPr lang="en-US" sz="1150" dirty="0"/>
          </a:p>
        </p:txBody>
      </p:sp>
      <p:sp>
        <p:nvSpPr>
          <p:cNvPr id="9" name="Shape 7"/>
          <p:cNvSpPr/>
          <p:nvPr/>
        </p:nvSpPr>
        <p:spPr>
          <a:xfrm>
            <a:off x="640080" y="3364992"/>
            <a:ext cx="10911535" cy="640080"/>
          </a:xfrm>
          <a:prstGeom prst="roundRect">
            <a:avLst>
              <a:gd name="adj" fmla="val 7143"/>
            </a:avLst>
          </a:prstGeom>
          <a:solidFill>
            <a:srgbClr val="EEF5F1"/>
          </a:solidFill>
          <a:ln w="12700">
            <a:solidFill>
              <a:srgbClr val="D9E5DF"/>
            </a:solidFill>
            <a:prstDash val="solid"/>
          </a:ln>
        </p:spPr>
      </p:sp>
      <p:sp>
        <p:nvSpPr>
          <p:cNvPr id="10" name="Text 8"/>
          <p:cNvSpPr txBox="1"/>
          <p:nvPr/>
        </p:nvSpPr>
        <p:spPr>
          <a:xfrm>
            <a:off x="914400" y="3364992"/>
            <a:ext cx="4206240" cy="640080"/>
          </a:xfrm>
          <a:prstGeom prst="rect">
            <a:avLst/>
          </a:prstGeom>
          <a:noFill/>
          <a:ln/>
        </p:spPr>
        <p:txBody>
          <a:bodyPr wrap="square" lIns="0" tIns="0" rIns="0" bIns="0" rtlCol="0" anchor="ctr"/>
          <a:lstStyle/>
          <a:p>
            <a:pPr indent="0" marL="0">
              <a:buNone/>
            </a:pPr>
            <a:r>
              <a:rPr lang="en-US" sz="1300" b="1" dirty="0">
                <a:solidFill>
                  <a:srgbClr val="14524A"/>
                </a:solidFill>
                <a:latin typeface="Cambria" pitchFamily="34" charset="0"/>
                <a:ea typeface="Cambria" pitchFamily="34" charset="-122"/>
                <a:cs typeface="Cambria" pitchFamily="34" charset="-120"/>
              </a:rPr>
              <a:t>Atención → próxima fecha → recordatorio</a:t>
            </a:r>
            <a:endParaRPr lang="en-US" sz="1300" dirty="0"/>
          </a:p>
        </p:txBody>
      </p:sp>
      <p:sp>
        <p:nvSpPr>
          <p:cNvPr id="11" name="Text 9"/>
          <p:cNvSpPr txBox="1"/>
          <p:nvPr/>
        </p:nvSpPr>
        <p:spPr>
          <a:xfrm>
            <a:off x="5303520" y="3364992"/>
            <a:ext cx="5973775" cy="640080"/>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El veterinario escribe la fecha del próximo control. Cada mañana a las 08:00 el sistema barre las que caen en 15 días y escribe al dueño. Nadie revisa nada a mano.</a:t>
            </a:r>
            <a:endParaRPr lang="en-US" sz="1150" dirty="0"/>
          </a:p>
        </p:txBody>
      </p:sp>
      <p:sp>
        <p:nvSpPr>
          <p:cNvPr id="12" name="Shape 10"/>
          <p:cNvSpPr/>
          <p:nvPr/>
        </p:nvSpPr>
        <p:spPr>
          <a:xfrm>
            <a:off x="640080" y="4133088"/>
            <a:ext cx="10911535" cy="640080"/>
          </a:xfrm>
          <a:prstGeom prst="roundRect">
            <a:avLst>
              <a:gd name="adj" fmla="val 7143"/>
            </a:avLst>
          </a:prstGeom>
          <a:solidFill>
            <a:srgbClr val="EEF5F1"/>
          </a:solidFill>
          <a:ln w="12700">
            <a:solidFill>
              <a:srgbClr val="D9E5DF"/>
            </a:solidFill>
            <a:prstDash val="solid"/>
          </a:ln>
        </p:spPr>
      </p:sp>
      <p:sp>
        <p:nvSpPr>
          <p:cNvPr id="13" name="Text 11"/>
          <p:cNvSpPr txBox="1"/>
          <p:nvPr/>
        </p:nvSpPr>
        <p:spPr>
          <a:xfrm>
            <a:off x="914400" y="4133088"/>
            <a:ext cx="4206240" cy="640080"/>
          </a:xfrm>
          <a:prstGeom prst="rect">
            <a:avLst/>
          </a:prstGeom>
          <a:noFill/>
          <a:ln/>
        </p:spPr>
        <p:txBody>
          <a:bodyPr wrap="square" lIns="0" tIns="0" rIns="0" bIns="0" rtlCol="0" anchor="ctr"/>
          <a:lstStyle/>
          <a:p>
            <a:pPr indent="0" marL="0">
              <a:buNone/>
            </a:pPr>
            <a:r>
              <a:rPr lang="en-US" sz="1300" b="1" dirty="0">
                <a:solidFill>
                  <a:srgbClr val="14524A"/>
                </a:solidFill>
                <a:latin typeface="Cambria" pitchFamily="34" charset="0"/>
                <a:ea typeface="Cambria" pitchFamily="34" charset="-122"/>
                <a:cs typeface="Cambria" pitchFamily="34" charset="-120"/>
              </a:rPr>
              <a:t>Suscripción → despacho → aviso</a:t>
            </a:r>
            <a:endParaRPr lang="en-US" sz="1300" dirty="0"/>
          </a:p>
        </p:txBody>
      </p:sp>
      <p:sp>
        <p:nvSpPr>
          <p:cNvPr id="14" name="Text 12"/>
          <p:cNvSpPr txBox="1"/>
          <p:nvPr/>
        </p:nvSpPr>
        <p:spPr>
          <a:xfrm>
            <a:off x="5303520" y="4133088"/>
            <a:ext cx="5973775" cy="640080"/>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El plan llega a su fecha, se emite el pedido solo y se notifica.</a:t>
            </a:r>
            <a:endParaRPr lang="en-US" sz="1150" dirty="0"/>
          </a:p>
        </p:txBody>
      </p:sp>
      <p:sp>
        <p:nvSpPr>
          <p:cNvPr id="15" name="Shape 13"/>
          <p:cNvSpPr/>
          <p:nvPr/>
        </p:nvSpPr>
        <p:spPr>
          <a:xfrm>
            <a:off x="640080" y="4901184"/>
            <a:ext cx="10911535" cy="640080"/>
          </a:xfrm>
          <a:prstGeom prst="roundRect">
            <a:avLst>
              <a:gd name="adj" fmla="val 7143"/>
            </a:avLst>
          </a:prstGeom>
          <a:solidFill>
            <a:srgbClr val="EEF5F1"/>
          </a:solidFill>
          <a:ln w="12700">
            <a:solidFill>
              <a:srgbClr val="D9E5DF"/>
            </a:solidFill>
            <a:prstDash val="solid"/>
          </a:ln>
        </p:spPr>
      </p:sp>
      <p:sp>
        <p:nvSpPr>
          <p:cNvPr id="16" name="Text 14"/>
          <p:cNvSpPr txBox="1"/>
          <p:nvPr/>
        </p:nvSpPr>
        <p:spPr>
          <a:xfrm>
            <a:off x="914400" y="4901184"/>
            <a:ext cx="4206240" cy="640080"/>
          </a:xfrm>
          <a:prstGeom prst="rect">
            <a:avLst/>
          </a:prstGeom>
          <a:noFill/>
          <a:ln/>
        </p:spPr>
        <p:txBody>
          <a:bodyPr wrap="square" lIns="0" tIns="0" rIns="0" bIns="0" rtlCol="0" anchor="ctr"/>
          <a:lstStyle/>
          <a:p>
            <a:pPr indent="0" marL="0">
              <a:buNone/>
            </a:pPr>
            <a:r>
              <a:rPr lang="en-US" sz="1300" b="1" dirty="0">
                <a:solidFill>
                  <a:srgbClr val="14524A"/>
                </a:solidFill>
                <a:latin typeface="Cambria" pitchFamily="34" charset="0"/>
                <a:ea typeface="Cambria" pitchFamily="34" charset="-122"/>
                <a:cs typeface="Cambria" pitchFamily="34" charset="-120"/>
              </a:rPr>
              <a:t>El asistente consulta las cinco tablas</a:t>
            </a:r>
            <a:endParaRPr lang="en-US" sz="1300" dirty="0"/>
          </a:p>
        </p:txBody>
      </p:sp>
      <p:sp>
        <p:nvSpPr>
          <p:cNvPr id="17" name="Text 15"/>
          <p:cNvSpPr txBox="1"/>
          <p:nvPr/>
        </p:nvSpPr>
        <p:spPr>
          <a:xfrm>
            <a:off x="5303520" y="4901184"/>
            <a:ext cx="5973775" cy="640080"/>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Pelusa responde con los datos del cliente conectado, nunca con los de otro.</a:t>
            </a:r>
            <a:endParaRPr lang="en-US" sz="1150" dirty="0"/>
          </a:p>
        </p:txBody>
      </p:sp>
      <p:sp>
        <p:nvSpPr>
          <p:cNvPr id="18" name="Text 16"/>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Lo que le falta: segmentación y campañas. No hay tabla de interacciones, así que no se puede filtrar «dueños de gato que no compran hace 60 días».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ERP: una rebanada sólida, sin esqueleto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Lo que existe funciona; lo que falta es la base para decidir</a:t>
            </a:r>
            <a:endParaRPr lang="en-US" sz="1400" dirty="0"/>
          </a:p>
        </p:txBody>
      </p:sp>
      <p:sp>
        <p:nvSpPr>
          <p:cNvPr id="4" name="Shape 2"/>
          <p:cNvSpPr/>
          <p:nvPr/>
        </p:nvSpPr>
        <p:spPr>
          <a:xfrm>
            <a:off x="640080" y="1682496"/>
            <a:ext cx="5336896" cy="4114800"/>
          </a:xfrm>
          <a:prstGeom prst="roundRect">
            <a:avLst>
              <a:gd name="adj" fmla="val 1111"/>
            </a:avLst>
          </a:prstGeom>
          <a:solidFill>
            <a:srgbClr val="EEF5F1"/>
          </a:solidFill>
          <a:ln w="12700">
            <a:solidFill>
              <a:srgbClr val="D9E5DF"/>
            </a:solidFill>
            <a:prstDash val="solid"/>
          </a:ln>
        </p:spPr>
      </p:sp>
      <p:sp>
        <p:nvSpPr>
          <p:cNvPr id="5" name="Text 3"/>
          <p:cNvSpPr txBox="1"/>
          <p:nvPr/>
        </p:nvSpPr>
        <p:spPr>
          <a:xfrm>
            <a:off x="914400" y="1847088"/>
            <a:ext cx="4788256" cy="274320"/>
          </a:xfrm>
          <a:prstGeom prst="rect">
            <a:avLst/>
          </a:prstGeom>
          <a:noFill/>
          <a:ln/>
        </p:spPr>
        <p:txBody>
          <a:bodyPr wrap="square" lIns="0" tIns="0" rIns="0" bIns="0" rtlCol="0" anchor="ctr"/>
          <a:lstStyle/>
          <a:p>
            <a:pPr indent="0" marL="0">
              <a:buNone/>
            </a:pPr>
            <a:r>
              <a:rPr lang="en-US" sz="1050" b="1" dirty="0">
                <a:solidFill>
                  <a:srgbClr val="2C7A6B"/>
                </a:solidFill>
                <a:latin typeface="Calibri" pitchFamily="34" charset="0"/>
                <a:ea typeface="Calibri" pitchFamily="34" charset="-122"/>
                <a:cs typeface="Calibri" pitchFamily="34" charset="-120"/>
              </a:rPr>
              <a:t>LO QUE SÍ</a:t>
            </a:r>
            <a:endParaRPr lang="en-US" sz="1050" dirty="0"/>
          </a:p>
        </p:txBody>
      </p:sp>
      <p:sp>
        <p:nvSpPr>
          <p:cNvPr id="6" name="Text 4"/>
          <p:cNvSpPr txBox="1"/>
          <p:nvPr/>
        </p:nvSpPr>
        <p:spPr>
          <a:xfrm>
            <a:off x="914400" y="2139696"/>
            <a:ext cx="4788256" cy="384048"/>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El ciclo de venta e inventario</a:t>
            </a:r>
            <a:endParaRPr lang="en-US" sz="1600" dirty="0"/>
          </a:p>
        </p:txBody>
      </p:sp>
      <p:sp>
        <p:nvSpPr>
          <p:cNvPr id="7" name="Text 5"/>
          <p:cNvSpPr txBox="1"/>
          <p:nvPr/>
        </p:nvSpPr>
        <p:spPr>
          <a:xfrm>
            <a:off x="914400" y="2633472"/>
            <a:ext cx="4788256" cy="3017520"/>
          </a:xfrm>
          <a:prstGeom prst="rect">
            <a:avLst/>
          </a:prstGeom>
          <a:noFill/>
          <a:ln/>
        </p:spPr>
        <p:txBody>
          <a:bodyPr wrap="square" lIns="0" tIns="0" rIns="0" bIns="0" rtlCol="0" anchor="t"/>
          <a:lstStyle/>
          <a:p>
            <a:pPr indent="0" marL="0">
              <a:lnSpc>
                <a:spcPts val="1900"/>
              </a:lnSpc>
              <a:spcAft>
                <a:spcPts val="800"/>
              </a:spcAft>
              <a:buNone/>
            </a:pPr>
            <a:r>
              <a:rPr lang="en-US" sz="1200" dirty="0">
                <a:solidFill>
                  <a:srgbClr val="1C2321"/>
                </a:solidFill>
                <a:latin typeface="Calibri" pitchFamily="34" charset="0"/>
                <a:ea typeface="Calibri" pitchFamily="34" charset="-122"/>
                <a:cs typeface="Calibri" pitchFamily="34" charset="-120"/>
              </a:rPr>
              <a:t>Descuento de stock en el mismo momento de confirmar, con bloqueo por producto y todo o nada.</a:t>
            </a:r>
            <a:endParaRPr lang="en-US" sz="1200" dirty="0"/>
          </a:p>
          <a:p>
            <a:pPr indent="0" marL="0">
              <a:lnSpc>
                <a:spcPts val="1900"/>
              </a:lnSpc>
              <a:spcAft>
                <a:spcPts val="800"/>
              </a:spcAft>
              <a:buNone/>
            </a:pPr>
            <a:r>
              <a:rPr lang="en-US" sz="1200" dirty="0">
                <a:solidFill>
                  <a:srgbClr val="1C2321"/>
                </a:solidFill>
                <a:latin typeface="Calibri" pitchFamily="34" charset="0"/>
                <a:ea typeface="Calibri" pitchFamily="34" charset="-122"/>
                <a:cs typeface="Calibri" pitchFamily="34" charset="-120"/>
              </a:rPr>
              <a:t>Punto de reorden y semáforo por producto.</a:t>
            </a:r>
            <a:endParaRPr lang="en-US" sz="1200" dirty="0"/>
          </a:p>
          <a:p>
            <a:pPr indent="0" marL="0">
              <a:lnSpc>
                <a:spcPts val="1900"/>
              </a:lnSpc>
              <a:spcAft>
                <a:spcPts val="800"/>
              </a:spcAft>
              <a:buNone/>
            </a:pPr>
            <a:r>
              <a:rPr lang="en-US" sz="1200" dirty="0">
                <a:solidFill>
                  <a:srgbClr val="1C2321"/>
                </a:solidFill>
                <a:latin typeface="Calibri" pitchFamily="34" charset="0"/>
                <a:ea typeface="Calibri" pitchFamily="34" charset="-122"/>
                <a:cs typeface="Calibri" pitchFamily="34" charset="-120"/>
              </a:rPr>
              <a:t>Pedido con secuencia de estados que no se puede saltar.</a:t>
            </a:r>
            <a:endParaRPr lang="en-US" sz="1200" dirty="0"/>
          </a:p>
          <a:p>
            <a:pPr indent="0" marL="0">
              <a:lnSpc>
                <a:spcPts val="1900"/>
              </a:lnSpc>
              <a:spcAft>
                <a:spcPts val="800"/>
              </a:spcAft>
              <a:buNone/>
            </a:pPr>
            <a:r>
              <a:rPr lang="en-US" sz="1200" dirty="0">
                <a:solidFill>
                  <a:srgbClr val="1C2321"/>
                </a:solidFill>
                <a:latin typeface="Calibri" pitchFamily="34" charset="0"/>
                <a:ea typeface="Calibri" pitchFamily="34" charset="-122"/>
                <a:cs typeface="Calibri" pitchFamily="34" charset="-120"/>
              </a:rPr>
              <a:t>Registro del cobro con su resultado.</a:t>
            </a:r>
            <a:endParaRPr lang="en-US" sz="1200" dirty="0"/>
          </a:p>
        </p:txBody>
      </p:sp>
      <p:sp>
        <p:nvSpPr>
          <p:cNvPr id="8" name="Shape 6"/>
          <p:cNvSpPr/>
          <p:nvPr/>
        </p:nvSpPr>
        <p:spPr>
          <a:xfrm>
            <a:off x="6214720" y="1682496"/>
            <a:ext cx="5336896" cy="4114800"/>
          </a:xfrm>
          <a:prstGeom prst="roundRect">
            <a:avLst>
              <a:gd name="adj" fmla="val 1111"/>
            </a:avLst>
          </a:prstGeom>
          <a:solidFill>
            <a:srgbClr val="14524A"/>
          </a:solidFill>
          <a:ln w="12700">
            <a:solidFill>
              <a:srgbClr val="14524A"/>
            </a:solidFill>
            <a:prstDash val="solid"/>
          </a:ln>
        </p:spPr>
      </p:sp>
      <p:sp>
        <p:nvSpPr>
          <p:cNvPr id="9" name="Text 7"/>
          <p:cNvSpPr txBox="1"/>
          <p:nvPr/>
        </p:nvSpPr>
        <p:spPr>
          <a:xfrm>
            <a:off x="6489040" y="1847088"/>
            <a:ext cx="4788256"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LO QUE FALTA, POR GRAVEDAD</a:t>
            </a:r>
            <a:endParaRPr lang="en-US" sz="1050" dirty="0"/>
          </a:p>
        </p:txBody>
      </p:sp>
      <p:sp>
        <p:nvSpPr>
          <p:cNvPr id="10" name="Text 8"/>
          <p:cNvSpPr txBox="1"/>
          <p:nvPr/>
        </p:nvSpPr>
        <p:spPr>
          <a:xfrm>
            <a:off x="6489040" y="2249424"/>
            <a:ext cx="4788256"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  No hay kardex</a:t>
            </a:r>
            <a:endParaRPr lang="en-US" sz="1400" dirty="0"/>
          </a:p>
        </p:txBody>
      </p:sp>
      <p:sp>
        <p:nvSpPr>
          <p:cNvPr id="11" name="Text 9"/>
          <p:cNvSpPr txBox="1"/>
          <p:nvPr/>
        </p:nvSpPr>
        <p:spPr>
          <a:xfrm>
            <a:off x="6489040" y="2596896"/>
            <a:ext cx="4788256" cy="731520"/>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El stock es una columna, no una historia. Sabes que quedan 15, pero no por qué: qué salió, cuándo ni por cuál pedido.</a:t>
            </a:r>
            <a:endParaRPr lang="en-US" sz="1150" dirty="0"/>
          </a:p>
        </p:txBody>
      </p:sp>
      <p:sp>
        <p:nvSpPr>
          <p:cNvPr id="12" name="Text 10"/>
          <p:cNvSpPr txBox="1"/>
          <p:nvPr/>
        </p:nvSpPr>
        <p:spPr>
          <a:xfrm>
            <a:off x="6489040" y="3419856"/>
            <a:ext cx="4788256"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2.  No hay precio de compra</a:t>
            </a:r>
            <a:endParaRPr lang="en-US" sz="1400" dirty="0"/>
          </a:p>
        </p:txBody>
      </p:sp>
      <p:sp>
        <p:nvSpPr>
          <p:cNvPr id="13" name="Text 11"/>
          <p:cNvSpPr txBox="1"/>
          <p:nvPr/>
        </p:nvSpPr>
        <p:spPr>
          <a:xfrm>
            <a:off x="6489040" y="3767328"/>
            <a:ext cx="4788256" cy="731520"/>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Solo existe el precio de venta. No se puede calcular el margen de un producto.</a:t>
            </a:r>
            <a:endParaRPr lang="en-US" sz="1150" dirty="0"/>
          </a:p>
        </p:txBody>
      </p:sp>
      <p:sp>
        <p:nvSpPr>
          <p:cNvPr id="14" name="Text 12"/>
          <p:cNvSpPr txBox="1"/>
          <p:nvPr/>
        </p:nvSpPr>
        <p:spPr>
          <a:xfrm>
            <a:off x="6489040" y="4590288"/>
            <a:ext cx="4788256"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3.  No hay compras ni contabilidad</a:t>
            </a:r>
            <a:endParaRPr lang="en-US" sz="1400" dirty="0"/>
          </a:p>
        </p:txBody>
      </p:sp>
      <p:sp>
        <p:nvSpPr>
          <p:cNvPr id="15" name="Text 13"/>
          <p:cNvSpPr txBox="1"/>
          <p:nvPr/>
        </p:nvSpPr>
        <p:spPr>
          <a:xfrm>
            <a:off x="6489040" y="4937760"/>
            <a:ext cx="4788256" cy="731520"/>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Cuentas por pagar, caja y facturación quedan fuera.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Por qué sí hay que integrar el SRM</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El proceso hoy se corta a la mitad</a:t>
            </a:r>
            <a:endParaRPr lang="en-US" sz="1400" dirty="0"/>
          </a:p>
        </p:txBody>
      </p:sp>
      <p:sp>
        <p:nvSpPr>
          <p:cNvPr id="4" name="Shape 2"/>
          <p:cNvSpPr/>
          <p:nvPr/>
        </p:nvSpPr>
        <p:spPr>
          <a:xfrm>
            <a:off x="640080" y="1682496"/>
            <a:ext cx="10911535" cy="1133856"/>
          </a:xfrm>
          <a:prstGeom prst="roundRect">
            <a:avLst>
              <a:gd name="adj" fmla="val 4032"/>
            </a:avLst>
          </a:prstGeom>
          <a:solidFill>
            <a:srgbClr val="14524A"/>
          </a:solidFill>
          <a:ln w="12700">
            <a:solidFill>
              <a:srgbClr val="14524A"/>
            </a:solidFill>
            <a:prstDash val="solid"/>
          </a:ln>
        </p:spPr>
      </p:sp>
      <p:sp>
        <p:nvSpPr>
          <p:cNvPr id="5" name="Shape 3"/>
          <p:cNvSpPr/>
          <p:nvPr/>
        </p:nvSpPr>
        <p:spPr>
          <a:xfrm>
            <a:off x="1005840" y="2029968"/>
            <a:ext cx="2212848" cy="457200"/>
          </a:xfrm>
          <a:prstGeom prst="roundRect">
            <a:avLst>
              <a:gd name="adj" fmla="val 100000"/>
            </a:avLst>
          </a:prstGeom>
          <a:solidFill>
            <a:srgbClr val="2C7A6B"/>
          </a:solidFill>
          <a:ln w="12700">
            <a:solidFill>
              <a:srgbClr val="2C7A6B"/>
            </a:solidFill>
            <a:prstDash val="solid"/>
          </a:ln>
        </p:spPr>
      </p:sp>
      <p:sp>
        <p:nvSpPr>
          <p:cNvPr id="6" name="Text 4"/>
          <p:cNvSpPr txBox="1"/>
          <p:nvPr/>
        </p:nvSpPr>
        <p:spPr>
          <a:xfrm>
            <a:off x="1005840" y="2029968"/>
            <a:ext cx="2212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 vende</a:t>
            </a:r>
            <a:endParaRPr lang="en-US" sz="1200" dirty="0"/>
          </a:p>
        </p:txBody>
      </p:sp>
      <p:sp>
        <p:nvSpPr>
          <p:cNvPr id="7" name="Text 5"/>
          <p:cNvSpPr txBox="1"/>
          <p:nvPr/>
        </p:nvSpPr>
        <p:spPr>
          <a:xfrm>
            <a:off x="3291840" y="2029968"/>
            <a:ext cx="329184" cy="457200"/>
          </a:xfrm>
          <a:prstGeom prst="rect">
            <a:avLst/>
          </a:prstGeom>
          <a:noFill/>
          <a:ln/>
        </p:spPr>
        <p:txBody>
          <a:bodyPr wrap="square" lIns="0" tIns="0" rIns="0" bIns="0" rtlCol="0" anchor="ctr"/>
          <a:lstStyle/>
          <a:p>
            <a:pPr algn="ctr" indent="0" marL="0">
              <a:buNone/>
            </a:pPr>
            <a:r>
              <a:rPr lang="en-US" sz="1800" b="1" dirty="0">
                <a:solidFill>
                  <a:srgbClr val="CFE3DC"/>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694176" y="2029968"/>
            <a:ext cx="2212848" cy="457200"/>
          </a:xfrm>
          <a:prstGeom prst="roundRect">
            <a:avLst>
              <a:gd name="adj" fmla="val 100000"/>
            </a:avLst>
          </a:prstGeom>
          <a:solidFill>
            <a:srgbClr val="2C7A6B"/>
          </a:solidFill>
          <a:ln w="12700">
            <a:solidFill>
              <a:srgbClr val="2C7A6B"/>
            </a:solidFill>
            <a:prstDash val="solid"/>
          </a:ln>
        </p:spPr>
      </p:sp>
      <p:sp>
        <p:nvSpPr>
          <p:cNvPr id="9" name="Text 7"/>
          <p:cNvSpPr txBox="1"/>
          <p:nvPr/>
        </p:nvSpPr>
        <p:spPr>
          <a:xfrm>
            <a:off x="3694176" y="2029968"/>
            <a:ext cx="2212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Baja el stock</a:t>
            </a:r>
            <a:endParaRPr lang="en-US" sz="1200" dirty="0"/>
          </a:p>
        </p:txBody>
      </p:sp>
      <p:sp>
        <p:nvSpPr>
          <p:cNvPr id="10" name="Text 8"/>
          <p:cNvSpPr txBox="1"/>
          <p:nvPr/>
        </p:nvSpPr>
        <p:spPr>
          <a:xfrm>
            <a:off x="5980176" y="2029968"/>
            <a:ext cx="329184" cy="457200"/>
          </a:xfrm>
          <a:prstGeom prst="rect">
            <a:avLst/>
          </a:prstGeom>
          <a:noFill/>
          <a:ln/>
        </p:spPr>
        <p:txBody>
          <a:bodyPr wrap="square" lIns="0" tIns="0" rIns="0" bIns="0" rtlCol="0" anchor="ctr"/>
          <a:lstStyle/>
          <a:p>
            <a:pPr algn="ctr" indent="0" marL="0">
              <a:buNone/>
            </a:pPr>
            <a:r>
              <a:rPr lang="en-US" sz="1800" b="1" dirty="0">
                <a:solidFill>
                  <a:srgbClr val="CFE3DC"/>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6382512" y="2029968"/>
            <a:ext cx="2212848" cy="457200"/>
          </a:xfrm>
          <a:prstGeom prst="roundRect">
            <a:avLst>
              <a:gd name="adj" fmla="val 100000"/>
            </a:avLst>
          </a:prstGeom>
          <a:solidFill>
            <a:srgbClr val="E8A33D"/>
          </a:solidFill>
          <a:ln w="12700">
            <a:solidFill>
              <a:srgbClr val="E8A33D"/>
            </a:solidFill>
            <a:prstDash val="solid"/>
          </a:ln>
        </p:spPr>
      </p:sp>
      <p:sp>
        <p:nvSpPr>
          <p:cNvPr id="12" name="Text 10"/>
          <p:cNvSpPr txBox="1"/>
          <p:nvPr/>
        </p:nvSpPr>
        <p:spPr>
          <a:xfrm>
            <a:off x="6382512" y="2029968"/>
            <a:ext cx="2212848" cy="457200"/>
          </a:xfrm>
          <a:prstGeom prst="rect">
            <a:avLst/>
          </a:prstGeom>
          <a:noFill/>
          <a:ln/>
        </p:spPr>
        <p:txBody>
          <a:bodyPr wrap="square" lIns="0" tIns="0" rIns="0" bIns="0" rtlCol="0" anchor="ctr"/>
          <a:lstStyle/>
          <a:p>
            <a:pPr algn="ctr" indent="0" marL="0">
              <a:buNone/>
            </a:pPr>
            <a:r>
              <a:rPr lang="en-US" sz="1200" b="1" dirty="0">
                <a:solidFill>
                  <a:srgbClr val="14524A"/>
                </a:solidFill>
                <a:latin typeface="Calibri" pitchFamily="34" charset="0"/>
                <a:ea typeface="Calibri" pitchFamily="34" charset="-122"/>
                <a:cs typeface="Calibri" pitchFamily="34" charset="-120"/>
              </a:rPr>
              <a:t>Semáforo en rojo</a:t>
            </a:r>
            <a:endParaRPr lang="en-US" sz="1200" dirty="0"/>
          </a:p>
        </p:txBody>
      </p:sp>
      <p:sp>
        <p:nvSpPr>
          <p:cNvPr id="13" name="Text 11"/>
          <p:cNvSpPr txBox="1"/>
          <p:nvPr/>
        </p:nvSpPr>
        <p:spPr>
          <a:xfrm>
            <a:off x="8668512" y="2029968"/>
            <a:ext cx="329184" cy="457200"/>
          </a:xfrm>
          <a:prstGeom prst="rect">
            <a:avLst/>
          </a:prstGeom>
          <a:noFill/>
          <a:ln/>
        </p:spPr>
        <p:txBody>
          <a:bodyPr wrap="square" lIns="0" tIns="0" rIns="0" bIns="0" rtlCol="0" anchor="ctr"/>
          <a:lstStyle/>
          <a:p>
            <a:pPr algn="ctr" indent="0" marL="0">
              <a:buNone/>
            </a:pPr>
            <a:r>
              <a:rPr lang="en-US" sz="1800" b="1" dirty="0">
                <a:solidFill>
                  <a:srgbClr val="CFE3DC"/>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9070848" y="2029968"/>
            <a:ext cx="2212848" cy="457200"/>
          </a:xfrm>
          <a:prstGeom prst="roundRect">
            <a:avLst>
              <a:gd name="adj" fmla="val 100000"/>
            </a:avLst>
          </a:prstGeom>
          <a:solidFill>
            <a:srgbClr val="A8432F"/>
          </a:solidFill>
          <a:ln w="12700">
            <a:solidFill>
              <a:srgbClr val="A8432F"/>
            </a:solidFill>
            <a:prstDash val="solid"/>
          </a:ln>
        </p:spPr>
      </p:sp>
      <p:sp>
        <p:nvSpPr>
          <p:cNvPr id="15" name="Text 13"/>
          <p:cNvSpPr txBox="1"/>
          <p:nvPr/>
        </p:nvSpPr>
        <p:spPr>
          <a:xfrm>
            <a:off x="9070848" y="2029968"/>
            <a:ext cx="2212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Nadie llama</a:t>
            </a:r>
            <a:endParaRPr lang="en-US" sz="1200" dirty="0"/>
          </a:p>
        </p:txBody>
      </p:sp>
      <p:sp>
        <p:nvSpPr>
          <p:cNvPr id="16" name="Shape 14"/>
          <p:cNvSpPr/>
          <p:nvPr/>
        </p:nvSpPr>
        <p:spPr>
          <a:xfrm>
            <a:off x="640080" y="3072384"/>
            <a:ext cx="10911535" cy="804672"/>
          </a:xfrm>
          <a:prstGeom prst="roundRect">
            <a:avLst>
              <a:gd name="adj" fmla="val 5682"/>
            </a:avLst>
          </a:prstGeom>
          <a:solidFill>
            <a:srgbClr val="EEF5F1"/>
          </a:solidFill>
          <a:ln w="12700">
            <a:solidFill>
              <a:srgbClr val="D9E5DF"/>
            </a:solidFill>
            <a:prstDash val="solid"/>
          </a:ln>
        </p:spPr>
      </p:sp>
      <p:sp>
        <p:nvSpPr>
          <p:cNvPr id="17" name="Text 15"/>
          <p:cNvSpPr txBox="1"/>
          <p:nvPr/>
        </p:nvSpPr>
        <p:spPr>
          <a:xfrm>
            <a:off x="914400" y="3145536"/>
            <a:ext cx="3200400" cy="658368"/>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El documento ya lo promete</a:t>
            </a:r>
            <a:endParaRPr lang="en-US" sz="1400" dirty="0"/>
          </a:p>
        </p:txBody>
      </p:sp>
      <p:sp>
        <p:nvSpPr>
          <p:cNvPr id="18" name="Text 16"/>
          <p:cNvSpPr txBox="1"/>
          <p:nvPr/>
        </p:nvSpPr>
        <p:spPr>
          <a:xfrm>
            <a:off x="4206240" y="3145536"/>
            <a:ext cx="7071055" cy="658368"/>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La Entrega 1 dice que el sistema generará «una solicitud de reposición hacia el proveedor». Hoy genera la alerta, no la solicitud.</a:t>
            </a:r>
            <a:endParaRPr lang="en-US" sz="1150" dirty="0"/>
          </a:p>
        </p:txBody>
      </p:sp>
      <p:sp>
        <p:nvSpPr>
          <p:cNvPr id="19" name="Shape 17"/>
          <p:cNvSpPr/>
          <p:nvPr/>
        </p:nvSpPr>
        <p:spPr>
          <a:xfrm>
            <a:off x="640080" y="3986784"/>
            <a:ext cx="10911535" cy="804672"/>
          </a:xfrm>
          <a:prstGeom prst="roundRect">
            <a:avLst>
              <a:gd name="adj" fmla="val 5682"/>
            </a:avLst>
          </a:prstGeom>
          <a:solidFill>
            <a:srgbClr val="EEF5F1"/>
          </a:solidFill>
          <a:ln w="12700">
            <a:solidFill>
              <a:srgbClr val="D9E5DF"/>
            </a:solidFill>
            <a:prstDash val="solid"/>
          </a:ln>
        </p:spPr>
      </p:sp>
      <p:sp>
        <p:nvSpPr>
          <p:cNvPr id="20" name="Text 18"/>
          <p:cNvSpPr txBox="1"/>
          <p:nvPr/>
        </p:nvSpPr>
        <p:spPr>
          <a:xfrm>
            <a:off x="914400" y="4059936"/>
            <a:ext cx="3200400" cy="658368"/>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El objetivo depende de eso</a:t>
            </a:r>
            <a:endParaRPr lang="en-US" sz="1400" dirty="0"/>
          </a:p>
        </p:txBody>
      </p:sp>
      <p:sp>
        <p:nvSpPr>
          <p:cNvPr id="21" name="Text 19"/>
          <p:cNvSpPr txBox="1"/>
          <p:nvPr/>
        </p:nvSpPr>
        <p:spPr>
          <a:xfrm>
            <a:off x="4206240" y="4059936"/>
            <a:ext cx="7071055" cy="658368"/>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OE-3 compromete cero quiebres de stock en 3 meses. Avisar no es reponer: hoy depende de que alguien se acuerde.</a:t>
            </a:r>
            <a:endParaRPr lang="en-US" sz="1150" dirty="0"/>
          </a:p>
        </p:txBody>
      </p:sp>
      <p:sp>
        <p:nvSpPr>
          <p:cNvPr id="22" name="Shape 20"/>
          <p:cNvSpPr/>
          <p:nvPr/>
        </p:nvSpPr>
        <p:spPr>
          <a:xfrm>
            <a:off x="640080" y="4901184"/>
            <a:ext cx="10911535" cy="804672"/>
          </a:xfrm>
          <a:prstGeom prst="roundRect">
            <a:avLst>
              <a:gd name="adj" fmla="val 5682"/>
            </a:avLst>
          </a:prstGeom>
          <a:solidFill>
            <a:srgbClr val="EEF5F1"/>
          </a:solidFill>
          <a:ln w="12700">
            <a:solidFill>
              <a:srgbClr val="D9E5DF"/>
            </a:solidFill>
            <a:prstDash val="solid"/>
          </a:ln>
        </p:spPr>
      </p:sp>
      <p:sp>
        <p:nvSpPr>
          <p:cNvPr id="23" name="Text 21"/>
          <p:cNvSpPr txBox="1"/>
          <p:nvPr/>
        </p:nvSpPr>
        <p:spPr>
          <a:xfrm>
            <a:off x="914400" y="4974336"/>
            <a:ext cx="3200400" cy="658368"/>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Cuesta poco</a:t>
            </a:r>
            <a:endParaRPr lang="en-US" sz="1400" dirty="0"/>
          </a:p>
        </p:txBody>
      </p:sp>
      <p:sp>
        <p:nvSpPr>
          <p:cNvPr id="24" name="Text 22"/>
          <p:cNvSpPr txBox="1"/>
          <p:nvPr/>
        </p:nvSpPr>
        <p:spPr>
          <a:xfrm>
            <a:off x="4206240" y="4974336"/>
            <a:ext cx="7071055" cy="658368"/>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Tres tablas, un servicio que ya tiene de dónde leer, un comando programado y una plantilla de correo más.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La propuesta: cinco tablas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Cuatro para el SRM y una que es el cimiento de todo</a:t>
            </a:r>
            <a:endParaRPr lang="en-US" sz="1400" dirty="0"/>
          </a:p>
        </p:txBody>
      </p:sp>
      <p:sp>
        <p:nvSpPr>
          <p:cNvPr id="4" name="Shape 2"/>
          <p:cNvSpPr/>
          <p:nvPr/>
        </p:nvSpPr>
        <p:spPr>
          <a:xfrm>
            <a:off x="640080" y="1719072"/>
            <a:ext cx="10911535" cy="1024128"/>
          </a:xfrm>
          <a:prstGeom prst="roundRect">
            <a:avLst>
              <a:gd name="adj" fmla="val 4464"/>
            </a:avLst>
          </a:prstGeom>
          <a:solidFill>
            <a:srgbClr val="14524A"/>
          </a:solidFill>
          <a:ln w="12700">
            <a:solidFill>
              <a:srgbClr val="14524A"/>
            </a:solidFill>
            <a:prstDash val="solid"/>
          </a:ln>
        </p:spPr>
      </p:sp>
      <p:sp>
        <p:nvSpPr>
          <p:cNvPr id="5" name="Shape 3"/>
          <p:cNvSpPr/>
          <p:nvPr/>
        </p:nvSpPr>
        <p:spPr>
          <a:xfrm>
            <a:off x="841248" y="2075688"/>
            <a:ext cx="1097280" cy="310896"/>
          </a:xfrm>
          <a:prstGeom prst="roundRect">
            <a:avLst>
              <a:gd name="adj" fmla="val 147059"/>
            </a:avLst>
          </a:prstGeom>
          <a:solidFill>
            <a:srgbClr val="E8A33D"/>
          </a:solidFill>
          <a:ln w="12700">
            <a:solidFill>
              <a:srgbClr val="E8A33D"/>
            </a:solidFill>
            <a:prstDash val="solid"/>
          </a:ln>
        </p:spPr>
      </p:sp>
      <p:sp>
        <p:nvSpPr>
          <p:cNvPr id="6" name="Text 4"/>
          <p:cNvSpPr txBox="1"/>
          <p:nvPr/>
        </p:nvSpPr>
        <p:spPr>
          <a:xfrm>
            <a:off x="841248" y="2075688"/>
            <a:ext cx="1097280" cy="310896"/>
          </a:xfrm>
          <a:prstGeom prst="rect">
            <a:avLst/>
          </a:prstGeom>
          <a:noFill/>
          <a:ln/>
        </p:spPr>
        <p:txBody>
          <a:bodyPr wrap="square" lIns="0" tIns="0" rIns="0" bIns="0" rtlCol="0" anchor="ctr"/>
          <a:lstStyle/>
          <a:p>
            <a:pPr algn="ctr" indent="0" marL="0">
              <a:buNone/>
            </a:pPr>
            <a:r>
              <a:rPr lang="en-US" sz="950" b="1" dirty="0">
                <a:solidFill>
                  <a:srgbClr val="14524A"/>
                </a:solidFill>
                <a:latin typeface="Calibri" pitchFamily="34" charset="0"/>
                <a:ea typeface="Calibri" pitchFamily="34" charset="-122"/>
                <a:cs typeface="Calibri" pitchFamily="34" charset="-120"/>
              </a:rPr>
              <a:t>EL CIMIENTO</a:t>
            </a:r>
            <a:endParaRPr lang="en-US" sz="950" dirty="0"/>
          </a:p>
        </p:txBody>
      </p:sp>
      <p:sp>
        <p:nvSpPr>
          <p:cNvPr id="7" name="Text 5"/>
          <p:cNvSpPr txBox="1"/>
          <p:nvPr/>
        </p:nvSpPr>
        <p:spPr>
          <a:xfrm>
            <a:off x="2121408" y="1792224"/>
            <a:ext cx="3108960" cy="329184"/>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movimientos_inventario</a:t>
            </a:r>
            <a:endParaRPr lang="en-US" sz="1250" dirty="0"/>
          </a:p>
        </p:txBody>
      </p:sp>
      <p:sp>
        <p:nvSpPr>
          <p:cNvPr id="8" name="Text 6"/>
          <p:cNvSpPr txBox="1"/>
          <p:nvPr/>
        </p:nvSpPr>
        <p:spPr>
          <a:xfrm>
            <a:off x="2121408" y="2103120"/>
            <a:ext cx="9155887" cy="566928"/>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Cada entrada y salida con su motivo y su documento. Es lo que permite saber el consumo diario, y sin consumo diario el punto de reorden es un número inventado.</a:t>
            </a:r>
            <a:endParaRPr lang="en-US" sz="1150" dirty="0"/>
          </a:p>
        </p:txBody>
      </p:sp>
      <p:sp>
        <p:nvSpPr>
          <p:cNvPr id="9" name="Shape 7"/>
          <p:cNvSpPr/>
          <p:nvPr/>
        </p:nvSpPr>
        <p:spPr>
          <a:xfrm>
            <a:off x="640080" y="2889504"/>
            <a:ext cx="10911535" cy="694944"/>
          </a:xfrm>
          <a:prstGeom prst="roundRect">
            <a:avLst>
              <a:gd name="adj" fmla="val 6579"/>
            </a:avLst>
          </a:prstGeom>
          <a:solidFill>
            <a:srgbClr val="EEF5F1"/>
          </a:solidFill>
          <a:ln w="12700">
            <a:solidFill>
              <a:srgbClr val="D9E5DF"/>
            </a:solidFill>
            <a:prstDash val="solid"/>
          </a:ln>
        </p:spPr>
      </p:sp>
      <p:sp>
        <p:nvSpPr>
          <p:cNvPr id="10" name="Shape 8"/>
          <p:cNvSpPr/>
          <p:nvPr/>
        </p:nvSpPr>
        <p:spPr>
          <a:xfrm>
            <a:off x="841248" y="3081528"/>
            <a:ext cx="1097280" cy="310896"/>
          </a:xfrm>
          <a:prstGeom prst="roundRect">
            <a:avLst>
              <a:gd name="adj" fmla="val 147059"/>
            </a:avLst>
          </a:prstGeom>
          <a:solidFill>
            <a:srgbClr val="2C7A6B"/>
          </a:solidFill>
          <a:ln w="12700">
            <a:solidFill>
              <a:srgbClr val="2C7A6B"/>
            </a:solidFill>
            <a:prstDash val="solid"/>
          </a:ln>
        </p:spPr>
      </p:sp>
      <p:sp>
        <p:nvSpPr>
          <p:cNvPr id="11" name="Text 9"/>
          <p:cNvSpPr txBox="1"/>
          <p:nvPr/>
        </p:nvSpPr>
        <p:spPr>
          <a:xfrm>
            <a:off x="841248" y="3081528"/>
            <a:ext cx="10972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SRM</a:t>
            </a:r>
            <a:endParaRPr lang="en-US" sz="950" dirty="0"/>
          </a:p>
        </p:txBody>
      </p:sp>
      <p:sp>
        <p:nvSpPr>
          <p:cNvPr id="12" name="Text 10"/>
          <p:cNvSpPr txBox="1"/>
          <p:nvPr/>
        </p:nvSpPr>
        <p:spPr>
          <a:xfrm>
            <a:off x="2121408" y="2962656"/>
            <a:ext cx="3108960" cy="329184"/>
          </a:xfrm>
          <a:prstGeom prst="rect">
            <a:avLst/>
          </a:prstGeom>
          <a:noFill/>
          <a:ln/>
        </p:spPr>
        <p:txBody>
          <a:bodyPr wrap="square" lIns="0" tIns="0" rIns="0" bIns="0" rtlCol="0" anchor="ctr"/>
          <a:lstStyle/>
          <a:p>
            <a:pPr indent="0" marL="0">
              <a:buNone/>
            </a:pPr>
            <a:r>
              <a:rPr lang="en-US" sz="1250" b="1" dirty="0">
                <a:solidFill>
                  <a:srgbClr val="14524A"/>
                </a:solidFill>
                <a:latin typeface="Courier New" pitchFamily="34" charset="0"/>
                <a:ea typeface="Courier New" pitchFamily="34" charset="-122"/>
                <a:cs typeface="Courier New" pitchFamily="34" charset="-120"/>
              </a:rPr>
              <a:t>proveedores</a:t>
            </a:r>
            <a:endParaRPr lang="en-US" sz="1250" dirty="0"/>
          </a:p>
        </p:txBody>
      </p:sp>
      <p:sp>
        <p:nvSpPr>
          <p:cNvPr id="13" name="Text 11"/>
          <p:cNvSpPr txBox="1"/>
          <p:nvPr/>
        </p:nvSpPr>
        <p:spPr>
          <a:xfrm>
            <a:off x="2121408" y="3273552"/>
            <a:ext cx="9155887" cy="237744"/>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Razón social, RUC, contacto y plazo de entrega en días.</a:t>
            </a:r>
            <a:endParaRPr lang="en-US" sz="1150" dirty="0"/>
          </a:p>
        </p:txBody>
      </p:sp>
      <p:sp>
        <p:nvSpPr>
          <p:cNvPr id="14" name="Shape 12"/>
          <p:cNvSpPr/>
          <p:nvPr/>
        </p:nvSpPr>
        <p:spPr>
          <a:xfrm>
            <a:off x="640080" y="3730752"/>
            <a:ext cx="10911535" cy="694944"/>
          </a:xfrm>
          <a:prstGeom prst="roundRect">
            <a:avLst>
              <a:gd name="adj" fmla="val 6579"/>
            </a:avLst>
          </a:prstGeom>
          <a:solidFill>
            <a:srgbClr val="EEF5F1"/>
          </a:solidFill>
          <a:ln w="12700">
            <a:solidFill>
              <a:srgbClr val="D9E5DF"/>
            </a:solidFill>
            <a:prstDash val="solid"/>
          </a:ln>
        </p:spPr>
      </p:sp>
      <p:sp>
        <p:nvSpPr>
          <p:cNvPr id="15" name="Shape 13"/>
          <p:cNvSpPr/>
          <p:nvPr/>
        </p:nvSpPr>
        <p:spPr>
          <a:xfrm>
            <a:off x="841248" y="3922776"/>
            <a:ext cx="1097280" cy="310896"/>
          </a:xfrm>
          <a:prstGeom prst="roundRect">
            <a:avLst>
              <a:gd name="adj" fmla="val 147059"/>
            </a:avLst>
          </a:prstGeom>
          <a:solidFill>
            <a:srgbClr val="2C7A6B"/>
          </a:solidFill>
          <a:ln w="12700">
            <a:solidFill>
              <a:srgbClr val="2C7A6B"/>
            </a:solidFill>
            <a:prstDash val="solid"/>
          </a:ln>
        </p:spPr>
      </p:sp>
      <p:sp>
        <p:nvSpPr>
          <p:cNvPr id="16" name="Text 14"/>
          <p:cNvSpPr txBox="1"/>
          <p:nvPr/>
        </p:nvSpPr>
        <p:spPr>
          <a:xfrm>
            <a:off x="841248" y="3922776"/>
            <a:ext cx="10972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SRM</a:t>
            </a:r>
            <a:endParaRPr lang="en-US" sz="950" dirty="0"/>
          </a:p>
        </p:txBody>
      </p:sp>
      <p:sp>
        <p:nvSpPr>
          <p:cNvPr id="17" name="Text 15"/>
          <p:cNvSpPr txBox="1"/>
          <p:nvPr/>
        </p:nvSpPr>
        <p:spPr>
          <a:xfrm>
            <a:off x="2121408" y="3803904"/>
            <a:ext cx="3108960" cy="329184"/>
          </a:xfrm>
          <a:prstGeom prst="rect">
            <a:avLst/>
          </a:prstGeom>
          <a:noFill/>
          <a:ln/>
        </p:spPr>
        <p:txBody>
          <a:bodyPr wrap="square" lIns="0" tIns="0" rIns="0" bIns="0" rtlCol="0" anchor="ctr"/>
          <a:lstStyle/>
          <a:p>
            <a:pPr indent="0" marL="0">
              <a:buNone/>
            </a:pPr>
            <a:r>
              <a:rPr lang="en-US" sz="1250" b="1" dirty="0">
                <a:solidFill>
                  <a:srgbClr val="14524A"/>
                </a:solidFill>
                <a:latin typeface="Courier New" pitchFamily="34" charset="0"/>
                <a:ea typeface="Courier New" pitchFamily="34" charset="-122"/>
                <a:cs typeface="Courier New" pitchFamily="34" charset="-120"/>
              </a:rPr>
              <a:t>producto_proveedor</a:t>
            </a:r>
            <a:endParaRPr lang="en-US" sz="1250" dirty="0"/>
          </a:p>
        </p:txBody>
      </p:sp>
      <p:sp>
        <p:nvSpPr>
          <p:cNvPr id="18" name="Text 16"/>
          <p:cNvSpPr txBox="1"/>
          <p:nvPr/>
        </p:nvSpPr>
        <p:spPr>
          <a:xfrm>
            <a:off x="2121408" y="4114800"/>
            <a:ext cx="9155887" cy="237744"/>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Precio de compra y código del proveedor. Sin esto no hay margen.</a:t>
            </a:r>
            <a:endParaRPr lang="en-US" sz="1150" dirty="0"/>
          </a:p>
        </p:txBody>
      </p:sp>
      <p:sp>
        <p:nvSpPr>
          <p:cNvPr id="19" name="Shape 17"/>
          <p:cNvSpPr/>
          <p:nvPr/>
        </p:nvSpPr>
        <p:spPr>
          <a:xfrm>
            <a:off x="640080" y="4572000"/>
            <a:ext cx="10911535" cy="694944"/>
          </a:xfrm>
          <a:prstGeom prst="roundRect">
            <a:avLst>
              <a:gd name="adj" fmla="val 6579"/>
            </a:avLst>
          </a:prstGeom>
          <a:solidFill>
            <a:srgbClr val="EEF5F1"/>
          </a:solidFill>
          <a:ln w="12700">
            <a:solidFill>
              <a:srgbClr val="D9E5DF"/>
            </a:solidFill>
            <a:prstDash val="solid"/>
          </a:ln>
        </p:spPr>
      </p:sp>
      <p:sp>
        <p:nvSpPr>
          <p:cNvPr id="20" name="Shape 18"/>
          <p:cNvSpPr/>
          <p:nvPr/>
        </p:nvSpPr>
        <p:spPr>
          <a:xfrm>
            <a:off x="841248" y="4764024"/>
            <a:ext cx="1097280" cy="310896"/>
          </a:xfrm>
          <a:prstGeom prst="roundRect">
            <a:avLst>
              <a:gd name="adj" fmla="val 147059"/>
            </a:avLst>
          </a:prstGeom>
          <a:solidFill>
            <a:srgbClr val="2C7A6B"/>
          </a:solidFill>
          <a:ln w="12700">
            <a:solidFill>
              <a:srgbClr val="2C7A6B"/>
            </a:solidFill>
            <a:prstDash val="solid"/>
          </a:ln>
        </p:spPr>
      </p:sp>
      <p:sp>
        <p:nvSpPr>
          <p:cNvPr id="21" name="Text 19"/>
          <p:cNvSpPr txBox="1"/>
          <p:nvPr/>
        </p:nvSpPr>
        <p:spPr>
          <a:xfrm>
            <a:off x="841248" y="4764024"/>
            <a:ext cx="10972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SRM</a:t>
            </a:r>
            <a:endParaRPr lang="en-US" sz="950" dirty="0"/>
          </a:p>
        </p:txBody>
      </p:sp>
      <p:sp>
        <p:nvSpPr>
          <p:cNvPr id="22" name="Text 20"/>
          <p:cNvSpPr txBox="1"/>
          <p:nvPr/>
        </p:nvSpPr>
        <p:spPr>
          <a:xfrm>
            <a:off x="2121408" y="4645152"/>
            <a:ext cx="3108960" cy="329184"/>
          </a:xfrm>
          <a:prstGeom prst="rect">
            <a:avLst/>
          </a:prstGeom>
          <a:noFill/>
          <a:ln/>
        </p:spPr>
        <p:txBody>
          <a:bodyPr wrap="square" lIns="0" tIns="0" rIns="0" bIns="0" rtlCol="0" anchor="ctr"/>
          <a:lstStyle/>
          <a:p>
            <a:pPr indent="0" marL="0">
              <a:buNone/>
            </a:pPr>
            <a:r>
              <a:rPr lang="en-US" sz="1250" b="1" dirty="0">
                <a:solidFill>
                  <a:srgbClr val="14524A"/>
                </a:solidFill>
                <a:latin typeface="Courier New" pitchFamily="34" charset="0"/>
                <a:ea typeface="Courier New" pitchFamily="34" charset="-122"/>
                <a:cs typeface="Courier New" pitchFamily="34" charset="-120"/>
              </a:rPr>
              <a:t>ordenes_compra</a:t>
            </a:r>
            <a:endParaRPr lang="en-US" sz="1250" dirty="0"/>
          </a:p>
        </p:txBody>
      </p:sp>
      <p:sp>
        <p:nvSpPr>
          <p:cNvPr id="23" name="Text 21"/>
          <p:cNvSpPr txBox="1"/>
          <p:nvPr/>
        </p:nvSpPr>
        <p:spPr>
          <a:xfrm>
            <a:off x="2121408" y="4956048"/>
            <a:ext cx="9155887" cy="237744"/>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Proveedor, fecha y estado: borrador, enviada, recibida o anulada.</a:t>
            </a:r>
            <a:endParaRPr lang="en-US" sz="1150" dirty="0"/>
          </a:p>
        </p:txBody>
      </p:sp>
      <p:sp>
        <p:nvSpPr>
          <p:cNvPr id="24" name="Shape 22"/>
          <p:cNvSpPr/>
          <p:nvPr/>
        </p:nvSpPr>
        <p:spPr>
          <a:xfrm>
            <a:off x="640080" y="5413248"/>
            <a:ext cx="10911535" cy="694944"/>
          </a:xfrm>
          <a:prstGeom prst="roundRect">
            <a:avLst>
              <a:gd name="adj" fmla="val 6579"/>
            </a:avLst>
          </a:prstGeom>
          <a:solidFill>
            <a:srgbClr val="EEF5F1"/>
          </a:solidFill>
          <a:ln w="12700">
            <a:solidFill>
              <a:srgbClr val="D9E5DF"/>
            </a:solidFill>
            <a:prstDash val="solid"/>
          </a:ln>
        </p:spPr>
      </p:sp>
      <p:sp>
        <p:nvSpPr>
          <p:cNvPr id="25" name="Shape 23"/>
          <p:cNvSpPr/>
          <p:nvPr/>
        </p:nvSpPr>
        <p:spPr>
          <a:xfrm>
            <a:off x="841248" y="5605272"/>
            <a:ext cx="1097280" cy="310896"/>
          </a:xfrm>
          <a:prstGeom prst="roundRect">
            <a:avLst>
              <a:gd name="adj" fmla="val 147059"/>
            </a:avLst>
          </a:prstGeom>
          <a:solidFill>
            <a:srgbClr val="2C7A6B"/>
          </a:solidFill>
          <a:ln w="12700">
            <a:solidFill>
              <a:srgbClr val="2C7A6B"/>
            </a:solidFill>
            <a:prstDash val="solid"/>
          </a:ln>
        </p:spPr>
      </p:sp>
      <p:sp>
        <p:nvSpPr>
          <p:cNvPr id="26" name="Text 24"/>
          <p:cNvSpPr txBox="1"/>
          <p:nvPr/>
        </p:nvSpPr>
        <p:spPr>
          <a:xfrm>
            <a:off x="841248" y="5605272"/>
            <a:ext cx="10972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SRM</a:t>
            </a:r>
            <a:endParaRPr lang="en-US" sz="950" dirty="0"/>
          </a:p>
        </p:txBody>
      </p:sp>
      <p:sp>
        <p:nvSpPr>
          <p:cNvPr id="27" name="Text 25"/>
          <p:cNvSpPr txBox="1"/>
          <p:nvPr/>
        </p:nvSpPr>
        <p:spPr>
          <a:xfrm>
            <a:off x="2121408" y="5486400"/>
            <a:ext cx="3108960" cy="329184"/>
          </a:xfrm>
          <a:prstGeom prst="rect">
            <a:avLst/>
          </a:prstGeom>
          <a:noFill/>
          <a:ln/>
        </p:spPr>
        <p:txBody>
          <a:bodyPr wrap="square" lIns="0" tIns="0" rIns="0" bIns="0" rtlCol="0" anchor="ctr"/>
          <a:lstStyle/>
          <a:p>
            <a:pPr indent="0" marL="0">
              <a:buNone/>
            </a:pPr>
            <a:r>
              <a:rPr lang="en-US" sz="1250" b="1" dirty="0">
                <a:solidFill>
                  <a:srgbClr val="14524A"/>
                </a:solidFill>
                <a:latin typeface="Courier New" pitchFamily="34" charset="0"/>
                <a:ea typeface="Courier New" pitchFamily="34" charset="-122"/>
                <a:cs typeface="Courier New" pitchFamily="34" charset="-120"/>
              </a:rPr>
              <a:t>detalle_ordenes_compra</a:t>
            </a:r>
            <a:endParaRPr lang="en-US" sz="1250" dirty="0"/>
          </a:p>
        </p:txBody>
      </p:sp>
      <p:sp>
        <p:nvSpPr>
          <p:cNvPr id="28" name="Text 26"/>
          <p:cNvSpPr txBox="1"/>
          <p:nvPr/>
        </p:nvSpPr>
        <p:spPr>
          <a:xfrm>
            <a:off x="2121408" y="5797296"/>
            <a:ext cx="9155887" cy="237744"/>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Producto, cantidad y precio pactado.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La propuesta: el ciclo se cierra</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Reutilizando lo que ya existe, no empezando de cero</a:t>
            </a:r>
            <a:endParaRPr lang="en-US" sz="1400" dirty="0"/>
          </a:p>
        </p:txBody>
      </p:sp>
      <p:sp>
        <p:nvSpPr>
          <p:cNvPr id="4" name="Shape 2"/>
          <p:cNvSpPr/>
          <p:nvPr/>
        </p:nvSpPr>
        <p:spPr>
          <a:xfrm>
            <a:off x="640080" y="1828800"/>
            <a:ext cx="2549576" cy="2286000"/>
          </a:xfrm>
          <a:prstGeom prst="roundRect">
            <a:avLst>
              <a:gd name="adj" fmla="val 2000"/>
            </a:avLst>
          </a:prstGeom>
          <a:solidFill>
            <a:srgbClr val="EEF5F1"/>
          </a:solidFill>
          <a:ln w="12700">
            <a:solidFill>
              <a:srgbClr val="D9E5DF"/>
            </a:solidFill>
            <a:prstDash val="solid"/>
          </a:ln>
        </p:spPr>
      </p:sp>
      <p:sp>
        <p:nvSpPr>
          <p:cNvPr id="5" name="Text 3"/>
          <p:cNvSpPr txBox="1"/>
          <p:nvPr/>
        </p:nvSpPr>
        <p:spPr>
          <a:xfrm>
            <a:off x="877824" y="2011680"/>
            <a:ext cx="457200" cy="420624"/>
          </a:xfrm>
          <a:prstGeom prst="rect">
            <a:avLst/>
          </a:prstGeom>
          <a:noFill/>
          <a:ln/>
        </p:spPr>
        <p:txBody>
          <a:bodyPr wrap="square" lIns="0" tIns="0" rIns="0" bIns="0" rtlCol="0" anchor="ctr"/>
          <a:lstStyle/>
          <a:p>
            <a:pPr indent="0" marL="0">
              <a:buNone/>
            </a:pPr>
            <a:r>
              <a:rPr lang="en-US" sz="2400" b="1" dirty="0">
                <a:solidFill>
                  <a:srgbClr val="14524A"/>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877824" y="2505456"/>
            <a:ext cx="2074088" cy="548640"/>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Semáforo en rojo</a:t>
            </a:r>
            <a:endParaRPr lang="en-US" sz="1400" dirty="0"/>
          </a:p>
        </p:txBody>
      </p:sp>
      <p:sp>
        <p:nvSpPr>
          <p:cNvPr id="7" name="Text 5"/>
          <p:cNvSpPr txBox="1"/>
          <p:nvPr/>
        </p:nvSpPr>
        <p:spPr>
          <a:xfrm>
            <a:off x="877824" y="3090672"/>
            <a:ext cx="2074088" cy="694944"/>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InventarioService::porReponer()</a:t>
            </a:r>
            <a:endParaRPr lang="en-US" sz="1100" dirty="0"/>
          </a:p>
        </p:txBody>
      </p:sp>
      <p:sp>
        <p:nvSpPr>
          <p:cNvPr id="8" name="Shape 6"/>
          <p:cNvSpPr/>
          <p:nvPr/>
        </p:nvSpPr>
        <p:spPr>
          <a:xfrm>
            <a:off x="877824" y="3749040"/>
            <a:ext cx="1371600" cy="274320"/>
          </a:xfrm>
          <a:prstGeom prst="roundRect">
            <a:avLst>
              <a:gd name="adj" fmla="val 166667"/>
            </a:avLst>
          </a:prstGeom>
          <a:solidFill>
            <a:srgbClr val="2C7A6B"/>
          </a:solidFill>
          <a:ln w="12700">
            <a:solidFill>
              <a:srgbClr val="2C7A6B"/>
            </a:solidFill>
            <a:prstDash val="solid"/>
          </a:ln>
        </p:spPr>
      </p:sp>
      <p:sp>
        <p:nvSpPr>
          <p:cNvPr id="9" name="Text 7"/>
          <p:cNvSpPr txBox="1"/>
          <p:nvPr/>
        </p:nvSpPr>
        <p:spPr>
          <a:xfrm>
            <a:off x="877824" y="3749040"/>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ya existe</a:t>
            </a:r>
            <a:endParaRPr lang="en-US" sz="900" dirty="0"/>
          </a:p>
        </p:txBody>
      </p:sp>
      <p:sp>
        <p:nvSpPr>
          <p:cNvPr id="10" name="Shape 8"/>
          <p:cNvSpPr/>
          <p:nvPr/>
        </p:nvSpPr>
        <p:spPr>
          <a:xfrm>
            <a:off x="3427400" y="1828800"/>
            <a:ext cx="2549576" cy="2286000"/>
          </a:xfrm>
          <a:prstGeom prst="roundRect">
            <a:avLst>
              <a:gd name="adj" fmla="val 2000"/>
            </a:avLst>
          </a:prstGeom>
          <a:solidFill>
            <a:srgbClr val="14524A"/>
          </a:solidFill>
          <a:ln w="12700">
            <a:solidFill>
              <a:srgbClr val="14524A"/>
            </a:solidFill>
            <a:prstDash val="solid"/>
          </a:ln>
        </p:spPr>
      </p:sp>
      <p:sp>
        <p:nvSpPr>
          <p:cNvPr id="11" name="Text 9"/>
          <p:cNvSpPr txBox="1"/>
          <p:nvPr/>
        </p:nvSpPr>
        <p:spPr>
          <a:xfrm>
            <a:off x="3665144" y="2011680"/>
            <a:ext cx="457200" cy="420624"/>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3665144" y="2505456"/>
            <a:ext cx="2074088" cy="5486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Orden en borrador</a:t>
            </a:r>
            <a:endParaRPr lang="en-US" sz="1400" dirty="0"/>
          </a:p>
        </p:txBody>
      </p:sp>
      <p:sp>
        <p:nvSpPr>
          <p:cNvPr id="13" name="Text 11"/>
          <p:cNvSpPr txBox="1"/>
          <p:nvPr/>
        </p:nvSpPr>
        <p:spPr>
          <a:xfrm>
            <a:off x="3665144" y="3090672"/>
            <a:ext cx="2074088" cy="694944"/>
          </a:xfrm>
          <a:prstGeom prst="rect">
            <a:avLst/>
          </a:prstGeom>
          <a:noFill/>
          <a:ln/>
        </p:spPr>
        <p:txBody>
          <a:bodyPr wrap="square" lIns="0" tIns="0" rIns="0" bIns="0" rtlCol="0" anchor="t"/>
          <a:lstStyle/>
          <a:p>
            <a:pPr indent="0" marL="0">
              <a:lnSpc>
                <a:spcPts val="1500"/>
              </a:lnSpc>
              <a:buNone/>
            </a:pPr>
            <a:r>
              <a:rPr lang="en-US" sz="1100" dirty="0">
                <a:solidFill>
                  <a:srgbClr val="CFE3DC"/>
                </a:solidFill>
                <a:latin typeface="Calibri" pitchFamily="34" charset="0"/>
                <a:ea typeface="Calibri" pitchFamily="34" charset="-122"/>
                <a:cs typeface="Calibri" pitchFamily="34" charset="-120"/>
              </a:rPr>
              <a:t>AbastecimientoService agrupa por proveedor</a:t>
            </a:r>
            <a:endParaRPr lang="en-US" sz="1100" dirty="0"/>
          </a:p>
        </p:txBody>
      </p:sp>
      <p:sp>
        <p:nvSpPr>
          <p:cNvPr id="14" name="Shape 12"/>
          <p:cNvSpPr/>
          <p:nvPr/>
        </p:nvSpPr>
        <p:spPr>
          <a:xfrm>
            <a:off x="3665144" y="3749040"/>
            <a:ext cx="1371600" cy="274320"/>
          </a:xfrm>
          <a:prstGeom prst="roundRect">
            <a:avLst>
              <a:gd name="adj" fmla="val 166667"/>
            </a:avLst>
          </a:prstGeom>
          <a:solidFill>
            <a:srgbClr val="E8A33D"/>
          </a:solidFill>
          <a:ln w="12700">
            <a:solidFill>
              <a:srgbClr val="E8A33D"/>
            </a:solidFill>
            <a:prstDash val="solid"/>
          </a:ln>
        </p:spPr>
      </p:sp>
      <p:sp>
        <p:nvSpPr>
          <p:cNvPr id="15" name="Text 13"/>
          <p:cNvSpPr txBox="1"/>
          <p:nvPr/>
        </p:nvSpPr>
        <p:spPr>
          <a:xfrm>
            <a:off x="3665144" y="3749040"/>
            <a:ext cx="1371600" cy="274320"/>
          </a:xfrm>
          <a:prstGeom prst="rect">
            <a:avLst/>
          </a:prstGeom>
          <a:noFill/>
          <a:ln/>
        </p:spPr>
        <p:txBody>
          <a:bodyPr wrap="square" lIns="0" tIns="0" rIns="0" bIns="0" rtlCol="0" anchor="ctr"/>
          <a:lstStyle/>
          <a:p>
            <a:pPr algn="ctr" indent="0" marL="0">
              <a:buNone/>
            </a:pPr>
            <a:r>
              <a:rPr lang="en-US" sz="900" b="1" dirty="0">
                <a:solidFill>
                  <a:srgbClr val="14524A"/>
                </a:solidFill>
                <a:latin typeface="Calibri" pitchFamily="34" charset="0"/>
                <a:ea typeface="Calibri" pitchFamily="34" charset="-122"/>
                <a:cs typeface="Calibri" pitchFamily="34" charset="-120"/>
              </a:rPr>
              <a:t>nuevo</a:t>
            </a:r>
            <a:endParaRPr lang="en-US" sz="900" dirty="0"/>
          </a:p>
        </p:txBody>
      </p:sp>
      <p:sp>
        <p:nvSpPr>
          <p:cNvPr id="16" name="Shape 14"/>
          <p:cNvSpPr/>
          <p:nvPr/>
        </p:nvSpPr>
        <p:spPr>
          <a:xfrm>
            <a:off x="6214720" y="1828800"/>
            <a:ext cx="2549576" cy="2286000"/>
          </a:xfrm>
          <a:prstGeom prst="roundRect">
            <a:avLst>
              <a:gd name="adj" fmla="val 2000"/>
            </a:avLst>
          </a:prstGeom>
          <a:solidFill>
            <a:srgbClr val="EEF5F1"/>
          </a:solidFill>
          <a:ln w="12700">
            <a:solidFill>
              <a:srgbClr val="D9E5DF"/>
            </a:solidFill>
            <a:prstDash val="solid"/>
          </a:ln>
        </p:spPr>
      </p:sp>
      <p:sp>
        <p:nvSpPr>
          <p:cNvPr id="17" name="Text 15"/>
          <p:cNvSpPr txBox="1"/>
          <p:nvPr/>
        </p:nvSpPr>
        <p:spPr>
          <a:xfrm>
            <a:off x="6452464" y="2011680"/>
            <a:ext cx="457200" cy="420624"/>
          </a:xfrm>
          <a:prstGeom prst="rect">
            <a:avLst/>
          </a:prstGeom>
          <a:noFill/>
          <a:ln/>
        </p:spPr>
        <p:txBody>
          <a:bodyPr wrap="square" lIns="0" tIns="0" rIns="0" bIns="0" rtlCol="0" anchor="ctr"/>
          <a:lstStyle/>
          <a:p>
            <a:pPr indent="0" marL="0">
              <a:buNone/>
            </a:pPr>
            <a:r>
              <a:rPr lang="en-US" sz="2400" b="1" dirty="0">
                <a:solidFill>
                  <a:srgbClr val="14524A"/>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6452464" y="2505456"/>
            <a:ext cx="2074088" cy="548640"/>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Correo al proveedor</a:t>
            </a:r>
            <a:endParaRPr lang="en-US" sz="1400" dirty="0"/>
          </a:p>
        </p:txBody>
      </p:sp>
      <p:sp>
        <p:nvSpPr>
          <p:cNvPr id="19" name="Text 17"/>
          <p:cNvSpPr txBox="1"/>
          <p:nvPr/>
        </p:nvSpPr>
        <p:spPr>
          <a:xfrm>
            <a:off x="6452464" y="3090672"/>
            <a:ext cx="2074088" cy="694944"/>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CorreoService y una plantilla más</a:t>
            </a:r>
            <a:endParaRPr lang="en-US" sz="1100" dirty="0"/>
          </a:p>
        </p:txBody>
      </p:sp>
      <p:sp>
        <p:nvSpPr>
          <p:cNvPr id="20" name="Shape 18"/>
          <p:cNvSpPr/>
          <p:nvPr/>
        </p:nvSpPr>
        <p:spPr>
          <a:xfrm>
            <a:off x="6452464" y="3749040"/>
            <a:ext cx="1371600" cy="274320"/>
          </a:xfrm>
          <a:prstGeom prst="roundRect">
            <a:avLst>
              <a:gd name="adj" fmla="val 166667"/>
            </a:avLst>
          </a:prstGeom>
          <a:solidFill>
            <a:srgbClr val="2C7A6B"/>
          </a:solidFill>
          <a:ln w="12700">
            <a:solidFill>
              <a:srgbClr val="2C7A6B"/>
            </a:solidFill>
            <a:prstDash val="solid"/>
          </a:ln>
        </p:spPr>
      </p:sp>
      <p:sp>
        <p:nvSpPr>
          <p:cNvPr id="21" name="Text 19"/>
          <p:cNvSpPr txBox="1"/>
          <p:nvPr/>
        </p:nvSpPr>
        <p:spPr>
          <a:xfrm>
            <a:off x="6452464" y="3749040"/>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ya existe</a:t>
            </a:r>
            <a:endParaRPr lang="en-US" sz="900" dirty="0"/>
          </a:p>
        </p:txBody>
      </p:sp>
      <p:sp>
        <p:nvSpPr>
          <p:cNvPr id="22" name="Shape 20"/>
          <p:cNvSpPr/>
          <p:nvPr/>
        </p:nvSpPr>
        <p:spPr>
          <a:xfrm>
            <a:off x="9002039" y="1828800"/>
            <a:ext cx="2549576" cy="2286000"/>
          </a:xfrm>
          <a:prstGeom prst="roundRect">
            <a:avLst>
              <a:gd name="adj" fmla="val 2000"/>
            </a:avLst>
          </a:prstGeom>
          <a:solidFill>
            <a:srgbClr val="14524A"/>
          </a:solidFill>
          <a:ln w="12700">
            <a:solidFill>
              <a:srgbClr val="14524A"/>
            </a:solidFill>
            <a:prstDash val="solid"/>
          </a:ln>
        </p:spPr>
      </p:sp>
      <p:sp>
        <p:nvSpPr>
          <p:cNvPr id="23" name="Text 21"/>
          <p:cNvSpPr txBox="1"/>
          <p:nvPr/>
        </p:nvSpPr>
        <p:spPr>
          <a:xfrm>
            <a:off x="9239783" y="2011680"/>
            <a:ext cx="457200" cy="420624"/>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4</a:t>
            </a:r>
            <a:endParaRPr lang="en-US" sz="2400" dirty="0"/>
          </a:p>
        </p:txBody>
      </p:sp>
      <p:sp>
        <p:nvSpPr>
          <p:cNvPr id="24" name="Text 22"/>
          <p:cNvSpPr txBox="1"/>
          <p:nvPr/>
        </p:nvSpPr>
        <p:spPr>
          <a:xfrm>
            <a:off x="9239783" y="2505456"/>
            <a:ext cx="2074088" cy="5486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Recepción</a:t>
            </a:r>
            <a:endParaRPr lang="en-US" sz="1400" dirty="0"/>
          </a:p>
        </p:txBody>
      </p:sp>
      <p:sp>
        <p:nvSpPr>
          <p:cNvPr id="25" name="Text 23"/>
          <p:cNvSpPr txBox="1"/>
          <p:nvPr/>
        </p:nvSpPr>
        <p:spPr>
          <a:xfrm>
            <a:off x="9239783" y="3090672"/>
            <a:ext cx="2074088" cy="694944"/>
          </a:xfrm>
          <a:prstGeom prst="rect">
            <a:avLst/>
          </a:prstGeom>
          <a:noFill/>
          <a:ln/>
        </p:spPr>
        <p:txBody>
          <a:bodyPr wrap="square" lIns="0" tIns="0" rIns="0" bIns="0" rtlCol="0" anchor="t"/>
          <a:lstStyle/>
          <a:p>
            <a:pPr indent="0" marL="0">
              <a:lnSpc>
                <a:spcPts val="1500"/>
              </a:lnSpc>
              <a:buNone/>
            </a:pPr>
            <a:r>
              <a:rPr lang="en-US" sz="1100" dirty="0">
                <a:solidFill>
                  <a:srgbClr val="CFE3DC"/>
                </a:solidFill>
                <a:latin typeface="Calibri" pitchFamily="34" charset="0"/>
                <a:ea typeface="Calibri" pitchFamily="34" charset="-122"/>
                <a:cs typeface="Calibri" pitchFamily="34" charset="-120"/>
              </a:rPr>
              <a:t>Suma stock y deja el movimiento</a:t>
            </a:r>
            <a:endParaRPr lang="en-US" sz="1100" dirty="0"/>
          </a:p>
        </p:txBody>
      </p:sp>
      <p:sp>
        <p:nvSpPr>
          <p:cNvPr id="26" name="Shape 24"/>
          <p:cNvSpPr/>
          <p:nvPr/>
        </p:nvSpPr>
        <p:spPr>
          <a:xfrm>
            <a:off x="9239783" y="3749040"/>
            <a:ext cx="1371600" cy="274320"/>
          </a:xfrm>
          <a:prstGeom prst="roundRect">
            <a:avLst>
              <a:gd name="adj" fmla="val 166667"/>
            </a:avLst>
          </a:prstGeom>
          <a:solidFill>
            <a:srgbClr val="E8A33D"/>
          </a:solidFill>
          <a:ln w="12700">
            <a:solidFill>
              <a:srgbClr val="E8A33D"/>
            </a:solidFill>
            <a:prstDash val="solid"/>
          </a:ln>
        </p:spPr>
      </p:sp>
      <p:sp>
        <p:nvSpPr>
          <p:cNvPr id="27" name="Text 25"/>
          <p:cNvSpPr txBox="1"/>
          <p:nvPr/>
        </p:nvSpPr>
        <p:spPr>
          <a:xfrm>
            <a:off x="9239783" y="3749040"/>
            <a:ext cx="1371600" cy="274320"/>
          </a:xfrm>
          <a:prstGeom prst="rect">
            <a:avLst/>
          </a:prstGeom>
          <a:noFill/>
          <a:ln/>
        </p:spPr>
        <p:txBody>
          <a:bodyPr wrap="square" lIns="0" tIns="0" rIns="0" bIns="0" rtlCol="0" anchor="ctr"/>
          <a:lstStyle/>
          <a:p>
            <a:pPr algn="ctr" indent="0" marL="0">
              <a:buNone/>
            </a:pPr>
            <a:r>
              <a:rPr lang="en-US" sz="900" b="1" dirty="0">
                <a:solidFill>
                  <a:srgbClr val="14524A"/>
                </a:solidFill>
                <a:latin typeface="Calibri" pitchFamily="34" charset="0"/>
                <a:ea typeface="Calibri" pitchFamily="34" charset="-122"/>
                <a:cs typeface="Calibri" pitchFamily="34" charset="-120"/>
              </a:rPr>
              <a:t>nuevo</a:t>
            </a:r>
            <a:endParaRPr lang="en-US" sz="900" dirty="0"/>
          </a:p>
        </p:txBody>
      </p:sp>
      <p:sp>
        <p:nvSpPr>
          <p:cNvPr id="28" name="Text 26"/>
          <p:cNvSpPr txBox="1"/>
          <p:nvPr/>
        </p:nvSpPr>
        <p:spPr>
          <a:xfrm>
            <a:off x="640080" y="4352544"/>
            <a:ext cx="10911535" cy="365760"/>
          </a:xfrm>
          <a:prstGeom prst="rect">
            <a:avLst/>
          </a:prstGeom>
          <a:noFill/>
          <a:ln/>
        </p:spPr>
        <p:txBody>
          <a:bodyPr wrap="square" lIns="0" tIns="0" rIns="0" bIns="0" rtlCol="0" anchor="ctr"/>
          <a:lstStyle/>
          <a:p>
            <a:pPr algn="ctr" indent="0" marL="0">
              <a:buNone/>
            </a:pPr>
            <a:r>
              <a:rPr lang="en-US" sz="1250" dirty="0">
                <a:solidFill>
                  <a:srgbClr val="5D6B66"/>
                </a:solidFill>
                <a:latin typeface="Calibri" pitchFamily="34" charset="0"/>
                <a:ea typeface="Calibri" pitchFamily="34" charset="-122"/>
                <a:cs typeface="Calibri" pitchFamily="34" charset="-120"/>
              </a:rPr>
              <a:t>Un comando programado dispara el ciclo de madrugada, igual que el despacho de suscripciones.</a:t>
            </a:r>
            <a:endParaRPr lang="en-US" sz="1250" dirty="0"/>
          </a:p>
        </p:txBody>
      </p:sp>
      <p:sp>
        <p:nvSpPr>
          <p:cNvPr id="29" name="Shape 27"/>
          <p:cNvSpPr/>
          <p:nvPr/>
        </p:nvSpPr>
        <p:spPr>
          <a:xfrm>
            <a:off x="640080" y="4937760"/>
            <a:ext cx="10911535" cy="822960"/>
          </a:xfrm>
          <a:prstGeom prst="roundRect">
            <a:avLst>
              <a:gd name="adj" fmla="val 5556"/>
            </a:avLst>
          </a:prstGeom>
          <a:solidFill>
            <a:srgbClr val="EEF5F1"/>
          </a:solidFill>
          <a:ln w="12700">
            <a:solidFill>
              <a:srgbClr val="D9E5DF"/>
            </a:solidFill>
            <a:prstDash val="solid"/>
          </a:ln>
        </p:spPr>
      </p:sp>
      <p:sp>
        <p:nvSpPr>
          <p:cNvPr id="30" name="Text 28"/>
          <p:cNvSpPr txBox="1"/>
          <p:nvPr/>
        </p:nvSpPr>
        <p:spPr>
          <a:xfrm>
            <a:off x="914400" y="4937760"/>
            <a:ext cx="10362895" cy="822960"/>
          </a:xfrm>
          <a:prstGeom prst="rect">
            <a:avLst/>
          </a:prstGeom>
          <a:noFill/>
          <a:ln/>
        </p:spPr>
        <p:txBody>
          <a:bodyPr wrap="square" lIns="0" tIns="0" rIns="0" bIns="0" rtlCol="0" anchor="ctr"/>
          <a:lstStyle/>
          <a:p>
            <a:pPr indent="0" marL="0">
              <a:lnSpc>
                <a:spcPts val="1700"/>
              </a:lnSpc>
              <a:buNone/>
            </a:pPr>
            <a:r>
              <a:rPr lang="en-US" sz="1200" b="1" dirty="0">
                <a:solidFill>
                  <a:srgbClr val="14524A"/>
                </a:solidFill>
                <a:latin typeface="Calibri" pitchFamily="34" charset="0"/>
                <a:ea typeface="Calibri" pitchFamily="34" charset="-122"/>
                <a:cs typeface="Calibri" pitchFamily="34" charset="-120"/>
              </a:rPr>
              <a:t xml:space="preserve">Tres reglas nuevas.  </a:t>
            </a:r>
            <a:pPr indent="0" marL="0">
              <a:lnSpc>
                <a:spcPts val="1700"/>
              </a:lnSpc>
              <a:buNone/>
            </a:pPr>
            <a:r>
              <a:rPr lang="en-US" sz="1200" dirty="0">
                <a:solidFill>
                  <a:srgbClr val="1C2321"/>
                </a:solidFill>
                <a:latin typeface="Calibri" pitchFamily="34" charset="0"/>
                <a:ea typeface="Calibri" pitchFamily="34" charset="-122"/>
                <a:cs typeface="Calibri" pitchFamily="34" charset="-120"/>
              </a:rPr>
              <a:t>No se emite una orden sin proveedor. Recibir mercadería suma stock y nunca lo resta. No se emite una segunda orden de un producto que ya tiene una pendiente.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Por qué no un ERP completo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Contabilidad, cuentas por pagar, caja y nómina quedan fuera, a propósito</a:t>
            </a:r>
            <a:endParaRPr lang="en-US" sz="1400" dirty="0"/>
          </a:p>
        </p:txBody>
      </p:sp>
      <p:sp>
        <p:nvSpPr>
          <p:cNvPr id="4" name="Shape 2"/>
          <p:cNvSpPr/>
          <p:nvPr/>
        </p:nvSpPr>
        <p:spPr>
          <a:xfrm>
            <a:off x="640080" y="1773936"/>
            <a:ext cx="3503066" cy="3017520"/>
          </a:xfrm>
          <a:prstGeom prst="roundRect">
            <a:avLst>
              <a:gd name="adj" fmla="val 1515"/>
            </a:avLst>
          </a:prstGeom>
          <a:solidFill>
            <a:srgbClr val="EEF5F1"/>
          </a:solidFill>
          <a:ln w="12700">
            <a:solidFill>
              <a:srgbClr val="D9E5DF"/>
            </a:solidFill>
            <a:prstDash val="solid"/>
          </a:ln>
        </p:spPr>
      </p:sp>
      <p:sp>
        <p:nvSpPr>
          <p:cNvPr id="5" name="Text 3"/>
          <p:cNvSpPr txBox="1"/>
          <p:nvPr/>
        </p:nvSpPr>
        <p:spPr>
          <a:xfrm>
            <a:off x="914400" y="1975104"/>
            <a:ext cx="548640" cy="512064"/>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914400" y="2578608"/>
            <a:ext cx="2954426" cy="621792"/>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Ya existe dónde llevarlo</a:t>
            </a:r>
            <a:endParaRPr lang="en-US" sz="1500" dirty="0"/>
          </a:p>
        </p:txBody>
      </p:sp>
      <p:sp>
        <p:nvSpPr>
          <p:cNvPr id="7" name="Text 5"/>
          <p:cNvSpPr txBox="1"/>
          <p:nvPr/>
        </p:nvSpPr>
        <p:spPr>
          <a:xfrm>
            <a:off x="914400" y="3255264"/>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El documento de requerimientos deja la facturación electrónica en el sistema contable que la empresa ya usa. Duplicarlo crearía dos verdades sobre el mismo dinero.</a:t>
            </a:r>
            <a:endParaRPr lang="en-US" sz="1200" dirty="0"/>
          </a:p>
        </p:txBody>
      </p:sp>
      <p:sp>
        <p:nvSpPr>
          <p:cNvPr id="8" name="Shape 6"/>
          <p:cNvSpPr/>
          <p:nvPr/>
        </p:nvSpPr>
        <p:spPr>
          <a:xfrm>
            <a:off x="4344314" y="1773936"/>
            <a:ext cx="3503066" cy="3017520"/>
          </a:xfrm>
          <a:prstGeom prst="roundRect">
            <a:avLst>
              <a:gd name="adj" fmla="val 1515"/>
            </a:avLst>
          </a:prstGeom>
          <a:solidFill>
            <a:srgbClr val="EEF5F1"/>
          </a:solidFill>
          <a:ln w="12700">
            <a:solidFill>
              <a:srgbClr val="D9E5DF"/>
            </a:solidFill>
            <a:prstDash val="solid"/>
          </a:ln>
        </p:spPr>
      </p:sp>
      <p:sp>
        <p:nvSpPr>
          <p:cNvPr id="9" name="Text 7"/>
          <p:cNvSpPr txBox="1"/>
          <p:nvPr/>
        </p:nvSpPr>
        <p:spPr>
          <a:xfrm>
            <a:off x="4618634" y="1975104"/>
            <a:ext cx="548640" cy="512064"/>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2</a:t>
            </a:r>
            <a:endParaRPr lang="en-US" sz="3000" dirty="0"/>
          </a:p>
        </p:txBody>
      </p:sp>
      <p:sp>
        <p:nvSpPr>
          <p:cNvPr id="10" name="Text 8"/>
          <p:cNvSpPr txBox="1"/>
          <p:nvPr/>
        </p:nvSpPr>
        <p:spPr>
          <a:xfrm>
            <a:off x="4618634" y="2578608"/>
            <a:ext cx="2954426" cy="621792"/>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Seis personas no operan un ERP</a:t>
            </a:r>
            <a:endParaRPr lang="en-US" sz="1500" dirty="0"/>
          </a:p>
        </p:txBody>
      </p:sp>
      <p:sp>
        <p:nvSpPr>
          <p:cNvPr id="11" name="Text 9"/>
          <p:cNvSpPr txBox="1"/>
          <p:nvPr/>
        </p:nvSpPr>
        <p:spPr>
          <a:xfrm>
            <a:off x="4618634" y="3255264"/>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Una MYPE con un local no tiene el volumen ni el personal. Lo que cuesta mantenerlo supera lo que ahorra.</a:t>
            </a:r>
            <a:endParaRPr lang="en-US" sz="1200" dirty="0"/>
          </a:p>
        </p:txBody>
      </p:sp>
      <p:sp>
        <p:nvSpPr>
          <p:cNvPr id="12" name="Shape 10"/>
          <p:cNvSpPr/>
          <p:nvPr/>
        </p:nvSpPr>
        <p:spPr>
          <a:xfrm>
            <a:off x="8048549" y="1773936"/>
            <a:ext cx="3503066" cy="3017520"/>
          </a:xfrm>
          <a:prstGeom prst="roundRect">
            <a:avLst>
              <a:gd name="adj" fmla="val 1515"/>
            </a:avLst>
          </a:prstGeom>
          <a:solidFill>
            <a:srgbClr val="EEF5F1"/>
          </a:solidFill>
          <a:ln w="12700">
            <a:solidFill>
              <a:srgbClr val="D9E5DF"/>
            </a:solidFill>
            <a:prstDash val="solid"/>
          </a:ln>
        </p:spPr>
      </p:sp>
      <p:sp>
        <p:nvSpPr>
          <p:cNvPr id="13" name="Text 11"/>
          <p:cNvSpPr txBox="1"/>
          <p:nvPr/>
        </p:nvSpPr>
        <p:spPr>
          <a:xfrm>
            <a:off x="8322869" y="1975104"/>
            <a:ext cx="548640" cy="512064"/>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3</a:t>
            </a:r>
            <a:endParaRPr lang="en-US" sz="3000" dirty="0"/>
          </a:p>
        </p:txBody>
      </p:sp>
      <p:sp>
        <p:nvSpPr>
          <p:cNvPr id="14" name="Text 12"/>
          <p:cNvSpPr txBox="1"/>
          <p:nvPr/>
        </p:nvSpPr>
        <p:spPr>
          <a:xfrm>
            <a:off x="8322869" y="2578608"/>
            <a:ext cx="2954426" cy="621792"/>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No era el problema</a:t>
            </a:r>
            <a:endParaRPr lang="en-US" sz="1500" dirty="0"/>
          </a:p>
        </p:txBody>
      </p:sp>
      <p:sp>
        <p:nvSpPr>
          <p:cNvPr id="15" name="Text 13"/>
          <p:cNvSpPr txBox="1"/>
          <p:nvPr/>
        </p:nvSpPr>
        <p:spPr>
          <a:xfrm>
            <a:off x="8322869" y="3255264"/>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El diagnóstico encontró cinco dolores: citas cruzadas, fichas de cartón, quiebres de stock, sin canal en línea y sin recompra. Ninguno se resuelve con un módulo contable.</a:t>
            </a:r>
            <a:endParaRPr lang="en-US" sz="1200" dirty="0"/>
          </a:p>
        </p:txBody>
      </p:sp>
      <p:sp>
        <p:nvSpPr>
          <p:cNvPr id="16" name="Shape 14"/>
          <p:cNvSpPr/>
          <p:nvPr/>
        </p:nvSpPr>
        <p:spPr>
          <a:xfrm>
            <a:off x="640080" y="4992624"/>
            <a:ext cx="10911535" cy="841248"/>
          </a:xfrm>
          <a:prstGeom prst="roundRect">
            <a:avLst>
              <a:gd name="adj" fmla="val 5435"/>
            </a:avLst>
          </a:prstGeom>
          <a:solidFill>
            <a:srgbClr val="EEF5F1"/>
          </a:solidFill>
          <a:ln w="12700">
            <a:solidFill>
              <a:srgbClr val="D9E5DF"/>
            </a:solidFill>
            <a:prstDash val="solid"/>
          </a:ln>
        </p:spPr>
      </p:sp>
      <p:sp>
        <p:nvSpPr>
          <p:cNvPr id="17" name="Text 15"/>
          <p:cNvSpPr txBox="1"/>
          <p:nvPr/>
        </p:nvSpPr>
        <p:spPr>
          <a:xfrm>
            <a:off x="914400" y="4992624"/>
            <a:ext cx="10362895" cy="841248"/>
          </a:xfrm>
          <a:prstGeom prst="rect">
            <a:avLst/>
          </a:prstGeom>
          <a:noFill/>
          <a:ln/>
        </p:spPr>
        <p:txBody>
          <a:bodyPr wrap="square" lIns="0" tIns="0" rIns="0" bIns="0" rtlCol="0" anchor="ctr"/>
          <a:lstStyle/>
          <a:p>
            <a:pPr indent="0" marL="0">
              <a:lnSpc>
                <a:spcPts val="1700"/>
              </a:lnSpc>
              <a:buNone/>
            </a:pPr>
            <a:r>
              <a:rPr lang="en-US" sz="1200" b="1" dirty="0">
                <a:solidFill>
                  <a:srgbClr val="14524A"/>
                </a:solidFill>
                <a:latin typeface="Calibri" pitchFamily="34" charset="0"/>
                <a:ea typeface="Calibri" pitchFamily="34" charset="-122"/>
                <a:cs typeface="Calibri" pitchFamily="34" charset="-120"/>
              </a:rPr>
              <a:t xml:space="preserve">Lo mismo con el CRM que falta.  </a:t>
            </a:r>
            <a:pPr indent="0" marL="0">
              <a:lnSpc>
                <a:spcPts val="1700"/>
              </a:lnSpc>
              <a:buNone/>
            </a:pPr>
            <a:r>
              <a:rPr lang="en-US" sz="1200" dirty="0">
                <a:solidFill>
                  <a:srgbClr val="1C2321"/>
                </a:solidFill>
                <a:latin typeface="Calibri" pitchFamily="34" charset="0"/>
                <a:ea typeface="Calibri" pitchFamily="34" charset="-122"/>
                <a:cs typeface="Calibri" pitchFamily="34" charset="-120"/>
              </a:rPr>
              <a:t>Campañas de correo segmentadas y recomendación por edad de la mascota son deseables, pero no son lo que hoy le hace perder dinero al negocio.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¿Lo necesitamos?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La respuesta no es la misma para todo</a:t>
            </a:r>
            <a:endParaRPr lang="en-US" sz="1400" dirty="0"/>
          </a:p>
        </p:txBody>
      </p:sp>
      <p:sp>
        <p:nvSpPr>
          <p:cNvPr id="4" name="Shape 2"/>
          <p:cNvSpPr/>
          <p:nvPr/>
        </p:nvSpPr>
        <p:spPr>
          <a:xfrm>
            <a:off x="640080" y="1737360"/>
            <a:ext cx="10911535" cy="676656"/>
          </a:xfrm>
          <a:prstGeom prst="roundRect">
            <a:avLst>
              <a:gd name="adj" fmla="val 6757"/>
            </a:avLst>
          </a:prstGeom>
          <a:solidFill>
            <a:srgbClr val="EEF5F1"/>
          </a:solidFill>
          <a:ln w="12700">
            <a:solidFill>
              <a:srgbClr val="D9E5DF"/>
            </a:solidFill>
            <a:prstDash val="solid"/>
          </a:ln>
        </p:spPr>
      </p:sp>
      <p:sp>
        <p:nvSpPr>
          <p:cNvPr id="5" name="Text 3"/>
          <p:cNvSpPr txBox="1"/>
          <p:nvPr/>
        </p:nvSpPr>
        <p:spPr>
          <a:xfrm>
            <a:off x="896112" y="1737360"/>
            <a:ext cx="2834640" cy="676656"/>
          </a:xfrm>
          <a:prstGeom prst="rect">
            <a:avLst/>
          </a:prstGeom>
          <a:noFill/>
          <a:ln/>
        </p:spPr>
        <p:txBody>
          <a:bodyPr wrap="square" lIns="0" tIns="0" rIns="0" bIns="0" rtlCol="0" anchor="ctr"/>
          <a:lstStyle/>
          <a:p>
            <a:pPr indent="0" marL="0">
              <a:buNone/>
            </a:pPr>
            <a:r>
              <a:rPr lang="en-US" sz="1350" b="1" dirty="0">
                <a:solidFill>
                  <a:srgbClr val="14524A"/>
                </a:solidFill>
                <a:latin typeface="Cambria" pitchFamily="34" charset="0"/>
                <a:ea typeface="Cambria" pitchFamily="34" charset="-122"/>
                <a:cs typeface="Cambria" pitchFamily="34" charset="-120"/>
              </a:rPr>
              <a:t>Kardex y precio de compra</a:t>
            </a:r>
            <a:endParaRPr lang="en-US" sz="1350" dirty="0"/>
          </a:p>
        </p:txBody>
      </p:sp>
      <p:sp>
        <p:nvSpPr>
          <p:cNvPr id="6" name="Shape 4"/>
          <p:cNvSpPr/>
          <p:nvPr/>
        </p:nvSpPr>
        <p:spPr>
          <a:xfrm>
            <a:off x="3840480" y="1911096"/>
            <a:ext cx="1371600" cy="329184"/>
          </a:xfrm>
          <a:prstGeom prst="roundRect">
            <a:avLst>
              <a:gd name="adj" fmla="val 138889"/>
            </a:avLst>
          </a:prstGeom>
          <a:solidFill>
            <a:srgbClr val="14524A"/>
          </a:solidFill>
          <a:ln w="12700">
            <a:solidFill>
              <a:srgbClr val="14524A"/>
            </a:solidFill>
            <a:prstDash val="solid"/>
          </a:ln>
        </p:spPr>
      </p:sp>
      <p:sp>
        <p:nvSpPr>
          <p:cNvPr id="7" name="Text 5"/>
          <p:cNvSpPr txBox="1"/>
          <p:nvPr/>
        </p:nvSpPr>
        <p:spPr>
          <a:xfrm>
            <a:off x="3840480" y="1911096"/>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SÍ, primero</a:t>
            </a:r>
            <a:endParaRPr lang="en-US" sz="1050" dirty="0"/>
          </a:p>
        </p:txBody>
      </p:sp>
      <p:sp>
        <p:nvSpPr>
          <p:cNvPr id="8" name="Text 6"/>
          <p:cNvSpPr txBox="1"/>
          <p:nvPr/>
        </p:nvSpPr>
        <p:spPr>
          <a:xfrm>
            <a:off x="5449824" y="1737360"/>
            <a:ext cx="5827471" cy="676656"/>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Sin movimientos no hay consumo diario; sin costo no hay margen. Es la base del resto.</a:t>
            </a:r>
            <a:endParaRPr lang="en-US" sz="1150" dirty="0"/>
          </a:p>
        </p:txBody>
      </p:sp>
      <p:sp>
        <p:nvSpPr>
          <p:cNvPr id="9" name="Shape 7"/>
          <p:cNvSpPr/>
          <p:nvPr/>
        </p:nvSpPr>
        <p:spPr>
          <a:xfrm>
            <a:off x="640080" y="2523744"/>
            <a:ext cx="10911535" cy="676656"/>
          </a:xfrm>
          <a:prstGeom prst="roundRect">
            <a:avLst>
              <a:gd name="adj" fmla="val 6757"/>
            </a:avLst>
          </a:prstGeom>
          <a:solidFill>
            <a:srgbClr val="EEF5F1"/>
          </a:solidFill>
          <a:ln w="12700">
            <a:solidFill>
              <a:srgbClr val="D9E5DF"/>
            </a:solidFill>
            <a:prstDash val="solid"/>
          </a:ln>
        </p:spPr>
      </p:sp>
      <p:sp>
        <p:nvSpPr>
          <p:cNvPr id="10" name="Text 8"/>
          <p:cNvSpPr txBox="1"/>
          <p:nvPr/>
        </p:nvSpPr>
        <p:spPr>
          <a:xfrm>
            <a:off x="896112" y="2523744"/>
            <a:ext cx="2834640" cy="676656"/>
          </a:xfrm>
          <a:prstGeom prst="rect">
            <a:avLst/>
          </a:prstGeom>
          <a:noFill/>
          <a:ln/>
        </p:spPr>
        <p:txBody>
          <a:bodyPr wrap="square" lIns="0" tIns="0" rIns="0" bIns="0" rtlCol="0" anchor="ctr"/>
          <a:lstStyle/>
          <a:p>
            <a:pPr indent="0" marL="0">
              <a:buNone/>
            </a:pPr>
            <a:r>
              <a:rPr lang="en-US" sz="1350" b="1" dirty="0">
                <a:solidFill>
                  <a:srgbClr val="14524A"/>
                </a:solidFill>
                <a:latin typeface="Cambria" pitchFamily="34" charset="0"/>
                <a:ea typeface="Cambria" pitchFamily="34" charset="-122"/>
                <a:cs typeface="Cambria" pitchFamily="34" charset="-120"/>
              </a:rPr>
              <a:t>SRM mínimo</a:t>
            </a:r>
            <a:endParaRPr lang="en-US" sz="1350" dirty="0"/>
          </a:p>
        </p:txBody>
      </p:sp>
      <p:sp>
        <p:nvSpPr>
          <p:cNvPr id="11" name="Shape 9"/>
          <p:cNvSpPr/>
          <p:nvPr/>
        </p:nvSpPr>
        <p:spPr>
          <a:xfrm>
            <a:off x="3840480" y="2697480"/>
            <a:ext cx="1371600" cy="329184"/>
          </a:xfrm>
          <a:prstGeom prst="roundRect">
            <a:avLst>
              <a:gd name="adj" fmla="val 138889"/>
            </a:avLst>
          </a:prstGeom>
          <a:solidFill>
            <a:srgbClr val="14524A"/>
          </a:solidFill>
          <a:ln w="12700">
            <a:solidFill>
              <a:srgbClr val="14524A"/>
            </a:solidFill>
            <a:prstDash val="solid"/>
          </a:ln>
        </p:spPr>
      </p:sp>
      <p:sp>
        <p:nvSpPr>
          <p:cNvPr id="12" name="Text 10"/>
          <p:cNvSpPr txBox="1"/>
          <p:nvPr/>
        </p:nvSpPr>
        <p:spPr>
          <a:xfrm>
            <a:off x="3840480" y="2697480"/>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SÍ</a:t>
            </a:r>
            <a:endParaRPr lang="en-US" sz="1050" dirty="0"/>
          </a:p>
        </p:txBody>
      </p:sp>
      <p:sp>
        <p:nvSpPr>
          <p:cNvPr id="13" name="Text 11"/>
          <p:cNvSpPr txBox="1"/>
          <p:nvPr/>
        </p:nvSpPr>
        <p:spPr>
          <a:xfrm>
            <a:off x="5449824" y="2523744"/>
            <a:ext cx="5827471" cy="676656"/>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Proveedor, orden de compra y recepción. Cierra el ciclo y cumple lo que promete la Entrega 1.</a:t>
            </a:r>
            <a:endParaRPr lang="en-US" sz="1150" dirty="0"/>
          </a:p>
        </p:txBody>
      </p:sp>
      <p:sp>
        <p:nvSpPr>
          <p:cNvPr id="14" name="Shape 12"/>
          <p:cNvSpPr/>
          <p:nvPr/>
        </p:nvSpPr>
        <p:spPr>
          <a:xfrm>
            <a:off x="640080" y="3310128"/>
            <a:ext cx="10911535" cy="676656"/>
          </a:xfrm>
          <a:prstGeom prst="roundRect">
            <a:avLst>
              <a:gd name="adj" fmla="val 6757"/>
            </a:avLst>
          </a:prstGeom>
          <a:solidFill>
            <a:srgbClr val="EEF5F1"/>
          </a:solidFill>
          <a:ln w="12700">
            <a:solidFill>
              <a:srgbClr val="D9E5DF"/>
            </a:solidFill>
            <a:prstDash val="solid"/>
          </a:ln>
        </p:spPr>
      </p:sp>
      <p:sp>
        <p:nvSpPr>
          <p:cNvPr id="15" name="Text 13"/>
          <p:cNvSpPr txBox="1"/>
          <p:nvPr/>
        </p:nvSpPr>
        <p:spPr>
          <a:xfrm>
            <a:off x="896112" y="3310128"/>
            <a:ext cx="2834640" cy="676656"/>
          </a:xfrm>
          <a:prstGeom prst="rect">
            <a:avLst/>
          </a:prstGeom>
          <a:noFill/>
          <a:ln/>
        </p:spPr>
        <p:txBody>
          <a:bodyPr wrap="square" lIns="0" tIns="0" rIns="0" bIns="0" rtlCol="0" anchor="ctr"/>
          <a:lstStyle/>
          <a:p>
            <a:pPr indent="0" marL="0">
              <a:buNone/>
            </a:pPr>
            <a:r>
              <a:rPr lang="en-US" sz="1350" b="1" dirty="0">
                <a:solidFill>
                  <a:srgbClr val="14524A"/>
                </a:solidFill>
                <a:latin typeface="Cambria" pitchFamily="34" charset="0"/>
                <a:ea typeface="Cambria" pitchFamily="34" charset="-122"/>
                <a:cs typeface="Cambria" pitchFamily="34" charset="-120"/>
              </a:rPr>
              <a:t>SRM completo</a:t>
            </a:r>
            <a:endParaRPr lang="en-US" sz="1350" dirty="0"/>
          </a:p>
        </p:txBody>
      </p:sp>
      <p:sp>
        <p:nvSpPr>
          <p:cNvPr id="16" name="Shape 14"/>
          <p:cNvSpPr/>
          <p:nvPr/>
        </p:nvSpPr>
        <p:spPr>
          <a:xfrm>
            <a:off x="3840480" y="3483864"/>
            <a:ext cx="1371600" cy="329184"/>
          </a:xfrm>
          <a:prstGeom prst="roundRect">
            <a:avLst>
              <a:gd name="adj" fmla="val 138889"/>
            </a:avLst>
          </a:prstGeom>
          <a:solidFill>
            <a:srgbClr val="A8432F"/>
          </a:solidFill>
          <a:ln w="12700">
            <a:solidFill>
              <a:srgbClr val="A8432F"/>
            </a:solidFill>
            <a:prstDash val="solid"/>
          </a:ln>
        </p:spPr>
      </p:sp>
      <p:sp>
        <p:nvSpPr>
          <p:cNvPr id="17" name="Text 15"/>
          <p:cNvSpPr txBox="1"/>
          <p:nvPr/>
        </p:nvSpPr>
        <p:spPr>
          <a:xfrm>
            <a:off x="3840480" y="3483864"/>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a:t>
            </a:r>
            <a:endParaRPr lang="en-US" sz="1050" dirty="0"/>
          </a:p>
        </p:txBody>
      </p:sp>
      <p:sp>
        <p:nvSpPr>
          <p:cNvPr id="18" name="Text 16"/>
          <p:cNvSpPr txBox="1"/>
          <p:nvPr/>
        </p:nvSpPr>
        <p:spPr>
          <a:xfrm>
            <a:off x="5449824" y="3310128"/>
            <a:ext cx="5827471" cy="676656"/>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Licitaciones, evaluación de proveedores y contratos marco. Con dos proveedores locales, es burocracia.</a:t>
            </a:r>
            <a:endParaRPr lang="en-US" sz="1150" dirty="0"/>
          </a:p>
        </p:txBody>
      </p:sp>
      <p:sp>
        <p:nvSpPr>
          <p:cNvPr id="19" name="Shape 17"/>
          <p:cNvSpPr/>
          <p:nvPr/>
        </p:nvSpPr>
        <p:spPr>
          <a:xfrm>
            <a:off x="640080" y="4096512"/>
            <a:ext cx="10911535" cy="676656"/>
          </a:xfrm>
          <a:prstGeom prst="roundRect">
            <a:avLst>
              <a:gd name="adj" fmla="val 6757"/>
            </a:avLst>
          </a:prstGeom>
          <a:solidFill>
            <a:srgbClr val="EEF5F1"/>
          </a:solidFill>
          <a:ln w="12700">
            <a:solidFill>
              <a:srgbClr val="D9E5DF"/>
            </a:solidFill>
            <a:prstDash val="solid"/>
          </a:ln>
        </p:spPr>
      </p:sp>
      <p:sp>
        <p:nvSpPr>
          <p:cNvPr id="20" name="Text 18"/>
          <p:cNvSpPr txBox="1"/>
          <p:nvPr/>
        </p:nvSpPr>
        <p:spPr>
          <a:xfrm>
            <a:off x="896112" y="4096512"/>
            <a:ext cx="2834640" cy="676656"/>
          </a:xfrm>
          <a:prstGeom prst="rect">
            <a:avLst/>
          </a:prstGeom>
          <a:noFill/>
          <a:ln/>
        </p:spPr>
        <p:txBody>
          <a:bodyPr wrap="square" lIns="0" tIns="0" rIns="0" bIns="0" rtlCol="0" anchor="ctr"/>
          <a:lstStyle/>
          <a:p>
            <a:pPr indent="0" marL="0">
              <a:buNone/>
            </a:pPr>
            <a:r>
              <a:rPr lang="en-US" sz="1350" b="1" dirty="0">
                <a:solidFill>
                  <a:srgbClr val="14524A"/>
                </a:solidFill>
                <a:latin typeface="Cambria" pitchFamily="34" charset="0"/>
                <a:ea typeface="Cambria" pitchFamily="34" charset="-122"/>
                <a:cs typeface="Cambria" pitchFamily="34" charset="-120"/>
              </a:rPr>
              <a:t>ERP contable</a:t>
            </a:r>
            <a:endParaRPr lang="en-US" sz="1350" dirty="0"/>
          </a:p>
        </p:txBody>
      </p:sp>
      <p:sp>
        <p:nvSpPr>
          <p:cNvPr id="21" name="Shape 19"/>
          <p:cNvSpPr/>
          <p:nvPr/>
        </p:nvSpPr>
        <p:spPr>
          <a:xfrm>
            <a:off x="3840480" y="4270248"/>
            <a:ext cx="1371600" cy="329184"/>
          </a:xfrm>
          <a:prstGeom prst="roundRect">
            <a:avLst>
              <a:gd name="adj" fmla="val 138889"/>
            </a:avLst>
          </a:prstGeom>
          <a:solidFill>
            <a:srgbClr val="A8432F"/>
          </a:solidFill>
          <a:ln w="12700">
            <a:solidFill>
              <a:srgbClr val="A8432F"/>
            </a:solidFill>
            <a:prstDash val="solid"/>
          </a:ln>
        </p:spPr>
      </p:sp>
      <p:sp>
        <p:nvSpPr>
          <p:cNvPr id="22" name="Text 20"/>
          <p:cNvSpPr txBox="1"/>
          <p:nvPr/>
        </p:nvSpPr>
        <p:spPr>
          <a:xfrm>
            <a:off x="3840480" y="4270248"/>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a:t>
            </a:r>
            <a:endParaRPr lang="en-US" sz="1050" dirty="0"/>
          </a:p>
        </p:txBody>
      </p:sp>
      <p:sp>
        <p:nvSpPr>
          <p:cNvPr id="23" name="Text 21"/>
          <p:cNvSpPr txBox="1"/>
          <p:nvPr/>
        </p:nvSpPr>
        <p:spPr>
          <a:xfrm>
            <a:off x="5449824" y="4096512"/>
            <a:ext cx="5827471" cy="676656"/>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La empresa ya lo lleva en su sistema. Duplicarlo crea dos verdades sobre el mismo dinero.</a:t>
            </a:r>
            <a:endParaRPr lang="en-US" sz="1150" dirty="0"/>
          </a:p>
        </p:txBody>
      </p:sp>
      <p:sp>
        <p:nvSpPr>
          <p:cNvPr id="24" name="Shape 22"/>
          <p:cNvSpPr/>
          <p:nvPr/>
        </p:nvSpPr>
        <p:spPr>
          <a:xfrm>
            <a:off x="640080" y="4882896"/>
            <a:ext cx="10911535" cy="676656"/>
          </a:xfrm>
          <a:prstGeom prst="roundRect">
            <a:avLst>
              <a:gd name="adj" fmla="val 6757"/>
            </a:avLst>
          </a:prstGeom>
          <a:solidFill>
            <a:srgbClr val="EEF5F1"/>
          </a:solidFill>
          <a:ln w="12700">
            <a:solidFill>
              <a:srgbClr val="D9E5DF"/>
            </a:solidFill>
            <a:prstDash val="solid"/>
          </a:ln>
        </p:spPr>
      </p:sp>
      <p:sp>
        <p:nvSpPr>
          <p:cNvPr id="25" name="Text 23"/>
          <p:cNvSpPr txBox="1"/>
          <p:nvPr/>
        </p:nvSpPr>
        <p:spPr>
          <a:xfrm>
            <a:off x="896112" y="4882896"/>
            <a:ext cx="2834640" cy="676656"/>
          </a:xfrm>
          <a:prstGeom prst="rect">
            <a:avLst/>
          </a:prstGeom>
          <a:noFill/>
          <a:ln/>
        </p:spPr>
        <p:txBody>
          <a:bodyPr wrap="square" lIns="0" tIns="0" rIns="0" bIns="0" rtlCol="0" anchor="ctr"/>
          <a:lstStyle/>
          <a:p>
            <a:pPr indent="0" marL="0">
              <a:buNone/>
            </a:pPr>
            <a:r>
              <a:rPr lang="en-US" sz="1350" b="1" dirty="0">
                <a:solidFill>
                  <a:srgbClr val="14524A"/>
                </a:solidFill>
                <a:latin typeface="Cambria" pitchFamily="34" charset="0"/>
                <a:ea typeface="Cambria" pitchFamily="34" charset="-122"/>
                <a:cs typeface="Cambria" pitchFamily="34" charset="-120"/>
              </a:rPr>
              <a:t>Campañas de CRM</a:t>
            </a:r>
            <a:endParaRPr lang="en-US" sz="1350" dirty="0"/>
          </a:p>
        </p:txBody>
      </p:sp>
      <p:sp>
        <p:nvSpPr>
          <p:cNvPr id="26" name="Shape 24"/>
          <p:cNvSpPr/>
          <p:nvPr/>
        </p:nvSpPr>
        <p:spPr>
          <a:xfrm>
            <a:off x="3840480" y="5056632"/>
            <a:ext cx="1371600" cy="329184"/>
          </a:xfrm>
          <a:prstGeom prst="roundRect">
            <a:avLst>
              <a:gd name="adj" fmla="val 138889"/>
            </a:avLst>
          </a:prstGeom>
          <a:solidFill>
            <a:srgbClr val="E8A33D"/>
          </a:solidFill>
          <a:ln w="12700">
            <a:solidFill>
              <a:srgbClr val="E8A33D"/>
            </a:solidFill>
            <a:prstDash val="solid"/>
          </a:ln>
        </p:spPr>
      </p:sp>
      <p:sp>
        <p:nvSpPr>
          <p:cNvPr id="27" name="Text 25"/>
          <p:cNvSpPr txBox="1"/>
          <p:nvPr/>
        </p:nvSpPr>
        <p:spPr>
          <a:xfrm>
            <a:off x="3840480" y="5056632"/>
            <a:ext cx="1371600" cy="329184"/>
          </a:xfrm>
          <a:prstGeom prst="rect">
            <a:avLst/>
          </a:prstGeom>
          <a:noFill/>
          <a:ln/>
        </p:spPr>
        <p:txBody>
          <a:bodyPr wrap="square" lIns="0" tIns="0" rIns="0" bIns="0" rtlCol="0" anchor="ctr"/>
          <a:lstStyle/>
          <a:p>
            <a:pPr algn="ctr" indent="0" marL="0">
              <a:buNone/>
            </a:pPr>
            <a:r>
              <a:rPr lang="en-US" sz="1050" b="1" dirty="0">
                <a:solidFill>
                  <a:srgbClr val="14524A"/>
                </a:solidFill>
                <a:latin typeface="Calibri" pitchFamily="34" charset="0"/>
                <a:ea typeface="Calibri" pitchFamily="34" charset="-122"/>
                <a:cs typeface="Calibri" pitchFamily="34" charset="-120"/>
              </a:rPr>
              <a:t>AHORA NO</a:t>
            </a:r>
            <a:endParaRPr lang="en-US" sz="1050" dirty="0"/>
          </a:p>
        </p:txBody>
      </p:sp>
      <p:sp>
        <p:nvSpPr>
          <p:cNvPr id="28" name="Text 26"/>
          <p:cNvSpPr txBox="1"/>
          <p:nvPr/>
        </p:nvSpPr>
        <p:spPr>
          <a:xfrm>
            <a:off x="5449824" y="4882896"/>
            <a:ext cx="5827471" cy="676656"/>
          </a:xfrm>
          <a:prstGeom prst="rect">
            <a:avLst/>
          </a:prstGeom>
          <a:noFill/>
          <a:ln/>
        </p:spPr>
        <p:txBody>
          <a:bodyPr wrap="square" lIns="0" tIns="0" rIns="0" bIns="0" rtlCol="0" anchor="ctr"/>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Deseable, pero no es lo que hoy le hace perder dinero al negocio.</a:t>
            </a:r>
            <a:endParaRPr lang="en-US" sz="1150" dirty="0"/>
          </a:p>
        </p:txBody>
      </p:sp>
      <p:sp>
        <p:nvSpPr>
          <p:cNvPr id="29" name="Shape 27"/>
          <p:cNvSpPr/>
          <p:nvPr/>
        </p:nvSpPr>
        <p:spPr>
          <a:xfrm>
            <a:off x="640080" y="5724144"/>
            <a:ext cx="10911535" cy="548640"/>
          </a:xfrm>
          <a:prstGeom prst="roundRect">
            <a:avLst>
              <a:gd name="adj" fmla="val 8333"/>
            </a:avLst>
          </a:prstGeom>
          <a:solidFill>
            <a:srgbClr val="F6EADA"/>
          </a:solidFill>
          <a:ln w="12700">
            <a:solidFill>
              <a:srgbClr val="F6EADA"/>
            </a:solidFill>
            <a:prstDash val="solid"/>
          </a:ln>
        </p:spPr>
      </p:sp>
      <p:sp>
        <p:nvSpPr>
          <p:cNvPr id="30" name="Text 28"/>
          <p:cNvSpPr txBox="1"/>
          <p:nvPr/>
        </p:nvSpPr>
        <p:spPr>
          <a:xfrm>
            <a:off x="914400" y="5724144"/>
            <a:ext cx="10362895" cy="548640"/>
          </a:xfrm>
          <a:prstGeom prst="rect">
            <a:avLst/>
          </a:prstGeom>
          <a:noFill/>
          <a:ln/>
        </p:spPr>
        <p:txBody>
          <a:bodyPr wrap="square" lIns="0" tIns="0" rIns="0" bIns="0" rtlCol="0" anchor="ctr"/>
          <a:lstStyle/>
          <a:p>
            <a:pPr indent="0" marL="0">
              <a:buNone/>
            </a:pPr>
            <a:r>
              <a:rPr lang="en-US" sz="1150" b="1" dirty="0">
                <a:solidFill>
                  <a:srgbClr val="8A5A12"/>
                </a:solidFill>
                <a:latin typeface="Calibri" pitchFamily="34" charset="0"/>
                <a:ea typeface="Calibri" pitchFamily="34" charset="-122"/>
                <a:cs typeface="Calibri" pitchFamily="34" charset="-120"/>
              </a:rPr>
              <a:t xml:space="preserve">Para la entrega del curso, no.  </a:t>
            </a:r>
            <a:pPr indent="0" marL="0">
              <a:buNone/>
            </a:pPr>
            <a:r>
              <a:rPr lang="en-US" sz="1150" dirty="0">
                <a:solidFill>
                  <a:srgbClr val="1C2321"/>
                </a:solidFill>
                <a:latin typeface="Calibri" pitchFamily="34" charset="0"/>
                <a:ea typeface="Calibri" pitchFamily="34" charset="-122"/>
                <a:cs typeface="Calibri" pitchFamily="34" charset="-120"/>
              </a:rPr>
              <a:t>El alcance está firmado y ningún requerimiento menciona proveedores. Para el negocio sí, en ese orden.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524A"/>
        </a:solidFill>
      </p:bgPr>
    </p:bg>
    <p:spTree>
      <p:nvGrpSpPr>
        <p:cNvPr id="1" name=""/>
        <p:cNvGrpSpPr/>
        <p:nvPr/>
      </p:nvGrpSpPr>
      <p:grpSpPr>
        <a:xfrm>
          <a:off x="0" y="0"/>
          <a:ext cx="0" cy="0"/>
          <a:chOff x="0" y="0"/>
          <a:chExt cx="0" cy="0"/>
        </a:xfrm>
      </p:grpSpPr>
      <p:sp>
        <p:nvSpPr>
          <p:cNvPr id="2" name="Text 0"/>
          <p:cNvSpPr txBox="1"/>
          <p:nvPr/>
        </p:nvSpPr>
        <p:spPr>
          <a:xfrm>
            <a:off x="640080" y="1371600"/>
            <a:ext cx="10911535" cy="45720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En una frase</a:t>
            </a:r>
            <a:endParaRPr lang="en-US" sz="1600" dirty="0"/>
          </a:p>
        </p:txBody>
      </p:sp>
      <p:sp>
        <p:nvSpPr>
          <p:cNvPr id="3" name="Text 1"/>
          <p:cNvSpPr txBox="1"/>
          <p:nvPr/>
        </p:nvSpPr>
        <p:spPr>
          <a:xfrm>
            <a:off x="1371600" y="2011680"/>
            <a:ext cx="9448495" cy="1005840"/>
          </a:xfrm>
          <a:prstGeom prst="rect">
            <a:avLst/>
          </a:prstGeom>
          <a:noFill/>
          <a:ln/>
        </p:spPr>
        <p:txBody>
          <a:bodyPr wrap="square" lIns="0" tIns="0" rIns="0" bIns="0" rtlCol="0" anchor="ctr"/>
          <a:lstStyle/>
          <a:p>
            <a:pPr algn="ctr" indent="0" marL="0">
              <a:lnSpc>
                <a:spcPts val="3400"/>
              </a:lnSpc>
              <a:buNone/>
            </a:pPr>
            <a:r>
              <a:rPr lang="en-US" sz="2400" b="1" dirty="0">
                <a:solidFill>
                  <a:srgbClr val="FFFFFF"/>
                </a:solidFill>
                <a:latin typeface="Cambria" pitchFamily="34" charset="0"/>
                <a:ea typeface="Cambria" pitchFamily="34" charset="-122"/>
                <a:cs typeface="Cambria" pitchFamily="34" charset="-120"/>
              </a:rPr>
              <a:t>Tenemos CRM operativo y la parte del ERP que el negocio usa de verdad: inventario y ventas.</a:t>
            </a:r>
            <a:endParaRPr lang="en-US" sz="2400" dirty="0"/>
          </a:p>
        </p:txBody>
      </p:sp>
      <p:sp>
        <p:nvSpPr>
          <p:cNvPr id="4" name="Text 2"/>
          <p:cNvSpPr txBox="1"/>
          <p:nvPr/>
        </p:nvSpPr>
        <p:spPr>
          <a:xfrm>
            <a:off x="1737360" y="3291840"/>
            <a:ext cx="8716975" cy="1371600"/>
          </a:xfrm>
          <a:prstGeom prst="rect">
            <a:avLst/>
          </a:prstGeom>
          <a:noFill/>
          <a:ln/>
        </p:spPr>
        <p:txBody>
          <a:bodyPr wrap="square" lIns="0" tIns="0" rIns="0" bIns="0" rtlCol="0" anchor="t"/>
          <a:lstStyle/>
          <a:p>
            <a:pPr algn="ctr" indent="0" marL="0">
              <a:lnSpc>
                <a:spcPts val="2200"/>
              </a:lnSpc>
              <a:buNone/>
            </a:pPr>
            <a:r>
              <a:rPr lang="en-US" sz="1400" dirty="0">
                <a:solidFill>
                  <a:srgbClr val="CFE3DC"/>
                </a:solidFill>
                <a:latin typeface="Calibri" pitchFamily="34" charset="0"/>
                <a:ea typeface="Calibri" pitchFamily="34" charset="-122"/>
                <a:cs typeface="Calibri" pitchFamily="34" charset="-120"/>
              </a:rPr>
              <a:t>El SRM es la brecha que reconocemos y la siguiente en cerrarse, porque el objetivo de cero quiebres de stock depende de que la reposición ocurra, no solo de que se avise. El ERP contable queda fuera de alcance de forma deliberada: la empresa ya lleva eso en su sistema actual.</a:t>
            </a:r>
            <a:endParaRPr lang="en-US" sz="1400" dirty="0"/>
          </a:p>
        </p:txBody>
      </p:sp>
      <p:sp>
        <p:nvSpPr>
          <p:cNvPr id="5" name="Shape 3"/>
          <p:cNvSpPr/>
          <p:nvPr/>
        </p:nvSpPr>
        <p:spPr>
          <a:xfrm>
            <a:off x="3626968" y="5029200"/>
            <a:ext cx="4937760" cy="457200"/>
          </a:xfrm>
          <a:prstGeom prst="roundRect">
            <a:avLst>
              <a:gd name="adj" fmla="val 100000"/>
            </a:avLst>
          </a:prstGeom>
          <a:solidFill>
            <a:srgbClr val="2C7A6B"/>
          </a:solidFill>
          <a:ln w="12700">
            <a:solidFill>
              <a:srgbClr val="2C7A6B"/>
            </a:solidFill>
            <a:prstDash val="solid"/>
          </a:ln>
        </p:spPr>
      </p:sp>
      <p:sp>
        <p:nvSpPr>
          <p:cNvPr id="6" name="Text 4"/>
          <p:cNvSpPr txBox="1"/>
          <p:nvPr/>
        </p:nvSpPr>
        <p:spPr>
          <a:xfrm>
            <a:off x="3626968" y="5029200"/>
            <a:ext cx="49377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Reconocer la brecha suma. Que te la encuentren, resta.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VetPet Surco E.I.R.L.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Integracion de la gestion empresarial - VetPet Connect</dc:title>
  <dc:subject>PptxGenJS Presentation</dc:subject>
  <dc:creator>Equipo 4</dc:creator>
  <cp:lastModifiedBy>Equipo 4</cp:lastModifiedBy>
  <cp:revision>1</cp:revision>
  <dcterms:created xsi:type="dcterms:W3CDTF">2026-10-06T01:37:33Z</dcterms:created>
  <dcterms:modified xsi:type="dcterms:W3CDTF">2026-10-06T01:37:33Z</dcterms:modified>
</cp:coreProperties>
</file>