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E-business no compite solo con su tienda: compite con lo que tiene detrás. Veamos qué hay detrás de VetPet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Importante: esto no sale del documento, sale de revisar el código. El CRM existe aunque no se llame asi en ninguna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dolor N-03 del diagnóstico era la reposición dependiendo de la memoria del personal. Sin SRM ese problema no se resolvió: se movió un paso más adelante.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«fuera de alcance, por esta razón» vale más que ponerlo en el diagrama y no tenerlo.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Si preguntan cuándo: tres tablas y un comando programado, reutilizando el semáforo que ya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524A"/>
        </a:solidFill>
      </p:bgPr>
    </p:bg>
    <p:spTree>
      <p:nvGrpSpPr>
        <p:cNvPr id="1" name=""/>
        <p:cNvGrpSpPr/>
        <p:nvPr/>
      </p:nvGrpSpPr>
      <p:grpSpPr>
        <a:xfrm>
          <a:off x="0" y="0"/>
          <a:ext cx="0" cy="0"/>
          <a:chOff x="0" y="0"/>
          <a:chExt cx="0" cy="0"/>
        </a:xfrm>
      </p:grpSpPr>
      <p:pic>
        <p:nvPicPr>
          <p:cNvPr id="2" name="Image 0" descr="/tmp/claude-0/-home-user-VetPetSurco/b8d13659-c8d7-578f-913d-52522fae5ff2/scratchpad/ppt/assets/logo.png">    </p:cNvPr>
          <p:cNvPicPr>
            <a:picLocks noChangeAspect="1"/>
          </p:cNvPicPr>
          <p:nvPr/>
        </p:nvPicPr>
        <p:blipFill>
          <a:blip r:embed="rId1"/>
          <a:stretch>
            <a:fillRect/>
          </a:stretch>
        </p:blipFill>
        <p:spPr>
          <a:xfrm>
            <a:off x="914400" y="2286000"/>
            <a:ext cx="1234440" cy="1234440"/>
          </a:xfrm>
          <a:prstGeom prst="rect">
            <a:avLst/>
          </a:prstGeom>
        </p:spPr>
      </p:pic>
      <p:sp>
        <p:nvSpPr>
          <p:cNvPr id="3" name="Text 0"/>
          <p:cNvSpPr txBox="1"/>
          <p:nvPr/>
        </p:nvSpPr>
        <p:spPr>
          <a:xfrm>
            <a:off x="2514600" y="1956816"/>
            <a:ext cx="8778240" cy="11887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Integración de la gestión empresarial</a:t>
            </a:r>
            <a:endParaRPr lang="en-US" sz="3400" dirty="0"/>
          </a:p>
        </p:txBody>
      </p:sp>
      <p:sp>
        <p:nvSpPr>
          <p:cNvPr id="4" name="Text 1"/>
          <p:cNvSpPr txBox="1"/>
          <p:nvPr/>
        </p:nvSpPr>
        <p:spPr>
          <a:xfrm>
            <a:off x="2514600" y="3163824"/>
            <a:ext cx="8595360" cy="402336"/>
          </a:xfrm>
          <a:prstGeom prst="rect">
            <a:avLst/>
          </a:prstGeom>
          <a:noFill/>
          <a:ln/>
        </p:spPr>
        <p:txBody>
          <a:bodyPr wrap="square" lIns="0" tIns="0" rIns="0" bIns="0" rtlCol="0" anchor="ctr"/>
          <a:lstStyle/>
          <a:p>
            <a:pPr indent="0" marL="0">
              <a:buNone/>
            </a:pPr>
            <a:r>
              <a:rPr lang="en-US" sz="1500" dirty="0">
                <a:solidFill>
                  <a:srgbClr val="CFE3DC"/>
                </a:solidFill>
                <a:latin typeface="Calibri" pitchFamily="34" charset="0"/>
                <a:ea typeface="Calibri" pitchFamily="34" charset="-122"/>
                <a:cs typeface="Calibri" pitchFamily="34" charset="-120"/>
              </a:rPr>
              <a:t>Qué pilares tiene VetPet Connect, cuál falta y cuál no hace falta</a:t>
            </a:r>
            <a:endParaRPr lang="en-US" sz="1500" dirty="0"/>
          </a:p>
        </p:txBody>
      </p:sp>
      <p:sp>
        <p:nvSpPr>
          <p:cNvPr id="5" name="Shape 2"/>
          <p:cNvSpPr/>
          <p:nvPr/>
        </p:nvSpPr>
        <p:spPr>
          <a:xfrm>
            <a:off x="2514600" y="3712464"/>
            <a:ext cx="2834640" cy="384048"/>
          </a:xfrm>
          <a:prstGeom prst="roundRect">
            <a:avLst>
              <a:gd name="adj" fmla="val 119048"/>
            </a:avLst>
          </a:prstGeom>
          <a:solidFill>
            <a:srgbClr val="2C7A6B"/>
          </a:solidFill>
          <a:ln w="12700">
            <a:solidFill>
              <a:srgbClr val="2C7A6B"/>
            </a:solidFill>
            <a:prstDash val="solid"/>
          </a:ln>
        </p:spPr>
      </p:sp>
      <p:sp>
        <p:nvSpPr>
          <p:cNvPr id="6" name="Text 3"/>
          <p:cNvSpPr txBox="1"/>
          <p:nvPr/>
        </p:nvSpPr>
        <p:spPr>
          <a:xfrm>
            <a:off x="2514600" y="3712464"/>
            <a:ext cx="28346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CRM  ·  ERP  ·  SRM</a:t>
            </a:r>
            <a:endParaRPr lang="en-US" sz="1200" dirty="0"/>
          </a:p>
        </p:txBody>
      </p:sp>
      <p:sp>
        <p:nvSpPr>
          <p:cNvPr id="7" name="Text 4"/>
          <p:cNvSpPr txBox="1"/>
          <p:nvPr/>
        </p:nvSpPr>
        <p:spPr>
          <a:xfrm>
            <a:off x="914400" y="5394960"/>
            <a:ext cx="10332720" cy="365760"/>
          </a:xfrm>
          <a:prstGeom prst="rect">
            <a:avLst/>
          </a:prstGeom>
          <a:noFill/>
          <a:ln/>
        </p:spPr>
        <p:txBody>
          <a:bodyPr wrap="square" lIns="0" tIns="0" rIns="0" bIns="0" rtlCol="0" anchor="ctr"/>
          <a:lstStyle/>
          <a:p>
            <a:pPr indent="0" marL="0">
              <a:buNone/>
            </a:pPr>
            <a:r>
              <a:rPr lang="en-US" sz="1300" dirty="0">
                <a:solidFill>
                  <a:srgbClr val="CFE3DC"/>
                </a:solidFill>
                <a:latin typeface="Calibri" pitchFamily="34" charset="0"/>
                <a:ea typeface="Calibri" pitchFamily="34" charset="-122"/>
                <a:cs typeface="Calibri" pitchFamily="34" charset="-120"/>
              </a:rPr>
              <a:t>VetPet Surco E.I.R.L.  ·  Equipo 4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Qué tenemos hoy</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Revisado sobre el código, no sobre el documento</a:t>
            </a:r>
            <a:endParaRPr lang="en-US" sz="1400" dirty="0"/>
          </a:p>
        </p:txBody>
      </p:sp>
      <p:sp>
        <p:nvSpPr>
          <p:cNvPr id="4" name="Shape 2"/>
          <p:cNvSpPr/>
          <p:nvPr/>
        </p:nvSpPr>
        <p:spPr>
          <a:xfrm>
            <a:off x="640080" y="1737360"/>
            <a:ext cx="3503066" cy="4023360"/>
          </a:xfrm>
          <a:prstGeom prst="roundRect">
            <a:avLst>
              <a:gd name="adj" fmla="val 1305"/>
            </a:avLst>
          </a:prstGeom>
          <a:solidFill>
            <a:srgbClr val="EEF5F1"/>
          </a:solidFill>
          <a:ln w="12700">
            <a:solidFill>
              <a:srgbClr val="D9E5DF"/>
            </a:solidFill>
            <a:prstDash val="solid"/>
          </a:ln>
        </p:spPr>
      </p:sp>
      <p:sp>
        <p:nvSpPr>
          <p:cNvPr id="5" name="Text 3"/>
          <p:cNvSpPr txBox="1"/>
          <p:nvPr/>
        </p:nvSpPr>
        <p:spPr>
          <a:xfrm>
            <a:off x="914400" y="1938528"/>
            <a:ext cx="2954426" cy="658368"/>
          </a:xfrm>
          <a:prstGeom prst="rect">
            <a:avLst/>
          </a:prstGeom>
          <a:noFill/>
          <a:ln/>
        </p:spPr>
        <p:txBody>
          <a:bodyPr wrap="square" lIns="0" tIns="0" rIns="0" bIns="0" rtlCol="0" anchor="ctr"/>
          <a:lstStyle/>
          <a:p>
            <a:pPr indent="0" marL="0">
              <a:buNone/>
            </a:pPr>
            <a:r>
              <a:rPr lang="en-US" sz="3800" b="1" dirty="0">
                <a:solidFill>
                  <a:srgbClr val="14524A"/>
                </a:solidFill>
                <a:latin typeface="Cambria" pitchFamily="34" charset="0"/>
                <a:ea typeface="Cambria" pitchFamily="34" charset="-122"/>
                <a:cs typeface="Cambria" pitchFamily="34" charset="-120"/>
              </a:rPr>
              <a:t>CRM</a:t>
            </a:r>
            <a:endParaRPr lang="en-US" sz="3800" dirty="0"/>
          </a:p>
        </p:txBody>
      </p:sp>
      <p:sp>
        <p:nvSpPr>
          <p:cNvPr id="6" name="Text 4"/>
          <p:cNvSpPr txBox="1"/>
          <p:nvPr/>
        </p:nvSpPr>
        <p:spPr>
          <a:xfrm>
            <a:off x="914400" y="2615184"/>
            <a:ext cx="2954426" cy="310896"/>
          </a:xfrm>
          <a:prstGeom prst="rect">
            <a:avLst/>
          </a:prstGeom>
          <a:noFill/>
          <a:ln/>
        </p:spPr>
        <p:txBody>
          <a:bodyPr wrap="square" lIns="0" tIns="0" rIns="0" bIns="0" rtlCol="0" anchor="ctr"/>
          <a:lstStyle/>
          <a:p>
            <a:pPr indent="0" marL="0">
              <a:buNone/>
            </a:pPr>
            <a:r>
              <a:rPr lang="en-US" sz="1250" dirty="0">
                <a:solidFill>
                  <a:srgbClr val="5D6B66"/>
                </a:solidFill>
                <a:latin typeface="Calibri" pitchFamily="34" charset="0"/>
                <a:ea typeface="Calibri" pitchFamily="34" charset="-122"/>
                <a:cs typeface="Calibri" pitchFamily="34" charset="-120"/>
              </a:rPr>
              <a:t>Gestión de clientes</a:t>
            </a:r>
            <a:endParaRPr lang="en-US" sz="1250" dirty="0"/>
          </a:p>
        </p:txBody>
      </p:sp>
      <p:sp>
        <p:nvSpPr>
          <p:cNvPr id="7" name="Shape 5"/>
          <p:cNvSpPr/>
          <p:nvPr/>
        </p:nvSpPr>
        <p:spPr>
          <a:xfrm>
            <a:off x="914400" y="3054096"/>
            <a:ext cx="1554480" cy="365760"/>
          </a:xfrm>
          <a:prstGeom prst="roundRect">
            <a:avLst>
              <a:gd name="adj" fmla="val 125000"/>
            </a:avLst>
          </a:prstGeom>
          <a:solidFill>
            <a:srgbClr val="14524A"/>
          </a:solidFill>
          <a:ln w="12700">
            <a:solidFill>
              <a:srgbClr val="14524A"/>
            </a:solidFill>
            <a:prstDash val="solid"/>
          </a:ln>
        </p:spPr>
      </p:sp>
      <p:sp>
        <p:nvSpPr>
          <p:cNvPr id="8" name="Text 6"/>
          <p:cNvSpPr txBox="1"/>
          <p:nvPr/>
        </p:nvSpPr>
        <p:spPr>
          <a:xfrm>
            <a:off x="914400" y="3054096"/>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SÍ</a:t>
            </a:r>
            <a:endParaRPr lang="en-US" sz="1150" dirty="0"/>
          </a:p>
        </p:txBody>
      </p:sp>
      <p:sp>
        <p:nvSpPr>
          <p:cNvPr id="9" name="Text 7"/>
          <p:cNvSpPr txBox="1"/>
          <p:nvPr/>
        </p:nvSpPr>
        <p:spPr>
          <a:xfrm>
            <a:off x="914400" y="3621024"/>
            <a:ext cx="2954426" cy="192024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Ficha del cliente y sus mascotas, historial clínico, pedidos y suscripciones. Siete correos automáticos y el recordatorio de vacuna a 15 días.</a:t>
            </a:r>
            <a:endParaRPr lang="en-US" sz="1200" dirty="0"/>
          </a:p>
        </p:txBody>
      </p:sp>
      <p:sp>
        <p:nvSpPr>
          <p:cNvPr id="10" name="Shape 8"/>
          <p:cNvSpPr/>
          <p:nvPr/>
        </p:nvSpPr>
        <p:spPr>
          <a:xfrm>
            <a:off x="4344314" y="1737360"/>
            <a:ext cx="3503066" cy="4023360"/>
          </a:xfrm>
          <a:prstGeom prst="roundRect">
            <a:avLst>
              <a:gd name="adj" fmla="val 1305"/>
            </a:avLst>
          </a:prstGeom>
          <a:solidFill>
            <a:srgbClr val="EEF5F1"/>
          </a:solidFill>
          <a:ln w="12700">
            <a:solidFill>
              <a:srgbClr val="D9E5DF"/>
            </a:solidFill>
            <a:prstDash val="solid"/>
          </a:ln>
        </p:spPr>
      </p:sp>
      <p:sp>
        <p:nvSpPr>
          <p:cNvPr id="11" name="Text 9"/>
          <p:cNvSpPr txBox="1"/>
          <p:nvPr/>
        </p:nvSpPr>
        <p:spPr>
          <a:xfrm>
            <a:off x="4618634" y="1938528"/>
            <a:ext cx="2954426" cy="658368"/>
          </a:xfrm>
          <a:prstGeom prst="rect">
            <a:avLst/>
          </a:prstGeom>
          <a:noFill/>
          <a:ln/>
        </p:spPr>
        <p:txBody>
          <a:bodyPr wrap="square" lIns="0" tIns="0" rIns="0" bIns="0" rtlCol="0" anchor="ctr"/>
          <a:lstStyle/>
          <a:p>
            <a:pPr indent="0" marL="0">
              <a:buNone/>
            </a:pPr>
            <a:r>
              <a:rPr lang="en-US" sz="3800" b="1" dirty="0">
                <a:solidFill>
                  <a:srgbClr val="14524A"/>
                </a:solidFill>
                <a:latin typeface="Cambria" pitchFamily="34" charset="0"/>
                <a:ea typeface="Cambria" pitchFamily="34" charset="-122"/>
                <a:cs typeface="Cambria" pitchFamily="34" charset="-120"/>
              </a:rPr>
              <a:t>ERP</a:t>
            </a:r>
            <a:endParaRPr lang="en-US" sz="3800" dirty="0"/>
          </a:p>
        </p:txBody>
      </p:sp>
      <p:sp>
        <p:nvSpPr>
          <p:cNvPr id="12" name="Text 10"/>
          <p:cNvSpPr txBox="1"/>
          <p:nvPr/>
        </p:nvSpPr>
        <p:spPr>
          <a:xfrm>
            <a:off x="4618634" y="2615184"/>
            <a:ext cx="2954426" cy="310896"/>
          </a:xfrm>
          <a:prstGeom prst="rect">
            <a:avLst/>
          </a:prstGeom>
          <a:noFill/>
          <a:ln/>
        </p:spPr>
        <p:txBody>
          <a:bodyPr wrap="square" lIns="0" tIns="0" rIns="0" bIns="0" rtlCol="0" anchor="ctr"/>
          <a:lstStyle/>
          <a:p>
            <a:pPr indent="0" marL="0">
              <a:buNone/>
            </a:pPr>
            <a:r>
              <a:rPr lang="en-US" sz="1250" dirty="0">
                <a:solidFill>
                  <a:srgbClr val="5D6B66"/>
                </a:solidFill>
                <a:latin typeface="Calibri" pitchFamily="34" charset="0"/>
                <a:ea typeface="Calibri" pitchFamily="34" charset="-122"/>
                <a:cs typeface="Calibri" pitchFamily="34" charset="-120"/>
              </a:rPr>
              <a:t>Planificación de recursos</a:t>
            </a:r>
            <a:endParaRPr lang="en-US" sz="1250" dirty="0"/>
          </a:p>
        </p:txBody>
      </p:sp>
      <p:sp>
        <p:nvSpPr>
          <p:cNvPr id="13" name="Shape 11"/>
          <p:cNvSpPr/>
          <p:nvPr/>
        </p:nvSpPr>
        <p:spPr>
          <a:xfrm>
            <a:off x="4618634" y="3054096"/>
            <a:ext cx="1554480" cy="365760"/>
          </a:xfrm>
          <a:prstGeom prst="roundRect">
            <a:avLst>
              <a:gd name="adj" fmla="val 125000"/>
            </a:avLst>
          </a:prstGeom>
          <a:solidFill>
            <a:srgbClr val="E8A33D"/>
          </a:solidFill>
          <a:ln w="12700">
            <a:solidFill>
              <a:srgbClr val="E8A33D"/>
            </a:solidFill>
            <a:prstDash val="solid"/>
          </a:ln>
        </p:spPr>
      </p:sp>
      <p:sp>
        <p:nvSpPr>
          <p:cNvPr id="14" name="Text 12"/>
          <p:cNvSpPr txBox="1"/>
          <p:nvPr/>
        </p:nvSpPr>
        <p:spPr>
          <a:xfrm>
            <a:off x="4618634" y="3054096"/>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EN PARTE</a:t>
            </a:r>
            <a:endParaRPr lang="en-US" sz="1150" dirty="0"/>
          </a:p>
        </p:txBody>
      </p:sp>
      <p:sp>
        <p:nvSpPr>
          <p:cNvPr id="15" name="Text 13"/>
          <p:cNvSpPr txBox="1"/>
          <p:nvPr/>
        </p:nvSpPr>
        <p:spPr>
          <a:xfrm>
            <a:off x="4618634" y="3621024"/>
            <a:ext cx="2954426" cy="192024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La rebanada que el negocio usa: inventario con descuento en tiempo real, punto de reorden, semáforo y pedidos con sus estados.</a:t>
            </a:r>
            <a:endParaRPr lang="en-US" sz="1200" dirty="0"/>
          </a:p>
        </p:txBody>
      </p:sp>
      <p:sp>
        <p:nvSpPr>
          <p:cNvPr id="16" name="Shape 14"/>
          <p:cNvSpPr/>
          <p:nvPr/>
        </p:nvSpPr>
        <p:spPr>
          <a:xfrm>
            <a:off x="8048549" y="1737360"/>
            <a:ext cx="3503066" cy="4023360"/>
          </a:xfrm>
          <a:prstGeom prst="roundRect">
            <a:avLst>
              <a:gd name="adj" fmla="val 1305"/>
            </a:avLst>
          </a:prstGeom>
          <a:solidFill>
            <a:srgbClr val="EEF5F1"/>
          </a:solidFill>
          <a:ln w="12700">
            <a:solidFill>
              <a:srgbClr val="D9E5DF"/>
            </a:solidFill>
            <a:prstDash val="solid"/>
          </a:ln>
        </p:spPr>
      </p:sp>
      <p:sp>
        <p:nvSpPr>
          <p:cNvPr id="17" name="Text 15"/>
          <p:cNvSpPr txBox="1"/>
          <p:nvPr/>
        </p:nvSpPr>
        <p:spPr>
          <a:xfrm>
            <a:off x="8322869" y="1938528"/>
            <a:ext cx="2954426" cy="658368"/>
          </a:xfrm>
          <a:prstGeom prst="rect">
            <a:avLst/>
          </a:prstGeom>
          <a:noFill/>
          <a:ln/>
        </p:spPr>
        <p:txBody>
          <a:bodyPr wrap="square" lIns="0" tIns="0" rIns="0" bIns="0" rtlCol="0" anchor="ctr"/>
          <a:lstStyle/>
          <a:p>
            <a:pPr indent="0" marL="0">
              <a:buNone/>
            </a:pPr>
            <a:r>
              <a:rPr lang="en-US" sz="3800" b="1" dirty="0">
                <a:solidFill>
                  <a:srgbClr val="14524A"/>
                </a:solidFill>
                <a:latin typeface="Cambria" pitchFamily="34" charset="0"/>
                <a:ea typeface="Cambria" pitchFamily="34" charset="-122"/>
                <a:cs typeface="Cambria" pitchFamily="34" charset="-120"/>
              </a:rPr>
              <a:t>SRM</a:t>
            </a:r>
            <a:endParaRPr lang="en-US" sz="3800" dirty="0"/>
          </a:p>
        </p:txBody>
      </p:sp>
      <p:sp>
        <p:nvSpPr>
          <p:cNvPr id="18" name="Text 16"/>
          <p:cNvSpPr txBox="1"/>
          <p:nvPr/>
        </p:nvSpPr>
        <p:spPr>
          <a:xfrm>
            <a:off x="8322869" y="2615184"/>
            <a:ext cx="2954426" cy="310896"/>
          </a:xfrm>
          <a:prstGeom prst="rect">
            <a:avLst/>
          </a:prstGeom>
          <a:noFill/>
          <a:ln/>
        </p:spPr>
        <p:txBody>
          <a:bodyPr wrap="square" lIns="0" tIns="0" rIns="0" bIns="0" rtlCol="0" anchor="ctr"/>
          <a:lstStyle/>
          <a:p>
            <a:pPr indent="0" marL="0">
              <a:buNone/>
            </a:pPr>
            <a:r>
              <a:rPr lang="en-US" sz="1250" dirty="0">
                <a:solidFill>
                  <a:srgbClr val="5D6B66"/>
                </a:solidFill>
                <a:latin typeface="Calibri" pitchFamily="34" charset="0"/>
                <a:ea typeface="Calibri" pitchFamily="34" charset="-122"/>
                <a:cs typeface="Calibri" pitchFamily="34" charset="-120"/>
              </a:rPr>
              <a:t>Gestión de proveedores</a:t>
            </a:r>
            <a:endParaRPr lang="en-US" sz="1250" dirty="0"/>
          </a:p>
        </p:txBody>
      </p:sp>
      <p:sp>
        <p:nvSpPr>
          <p:cNvPr id="19" name="Shape 17"/>
          <p:cNvSpPr/>
          <p:nvPr/>
        </p:nvSpPr>
        <p:spPr>
          <a:xfrm>
            <a:off x="8322869" y="3054096"/>
            <a:ext cx="1554480" cy="365760"/>
          </a:xfrm>
          <a:prstGeom prst="roundRect">
            <a:avLst>
              <a:gd name="adj" fmla="val 125000"/>
            </a:avLst>
          </a:prstGeom>
          <a:solidFill>
            <a:srgbClr val="A8432F"/>
          </a:solidFill>
          <a:ln w="12700">
            <a:solidFill>
              <a:srgbClr val="A8432F"/>
            </a:solidFill>
            <a:prstDash val="solid"/>
          </a:ln>
        </p:spPr>
      </p:sp>
      <p:sp>
        <p:nvSpPr>
          <p:cNvPr id="20" name="Text 18"/>
          <p:cNvSpPr txBox="1"/>
          <p:nvPr/>
        </p:nvSpPr>
        <p:spPr>
          <a:xfrm>
            <a:off x="8322869" y="3054096"/>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a:t>
            </a:r>
            <a:endParaRPr lang="en-US" sz="1150" dirty="0"/>
          </a:p>
        </p:txBody>
      </p:sp>
      <p:sp>
        <p:nvSpPr>
          <p:cNvPr id="21" name="Text 19"/>
          <p:cNvSpPr txBox="1"/>
          <p:nvPr/>
        </p:nvSpPr>
        <p:spPr>
          <a:xfrm>
            <a:off x="8322869" y="3621024"/>
            <a:ext cx="2954426" cy="192024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No existe. Ni tabla de proveedores, ni orden de compra, ni pantalla. Es la brecha que reconocemos.</a:t>
            </a:r>
            <a:endParaRPr lang="en-US" sz="1200" dirty="0"/>
          </a:p>
        </p:txBody>
      </p:sp>
      <p:sp>
        <p:nvSpPr>
          <p:cNvPr id="22" name="Text 20"/>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«Proveedor» aparece en el proyecto solo como comentario en el SQL y como promesa en la Entrega 1: no hay tabla, ni modelo, ni pantalla.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Por qué sí hay que integrar el SRM</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El proceso hoy se corta a la mitad</a:t>
            </a:r>
            <a:endParaRPr lang="en-US" sz="1400" dirty="0"/>
          </a:p>
        </p:txBody>
      </p:sp>
      <p:sp>
        <p:nvSpPr>
          <p:cNvPr id="4" name="Shape 2"/>
          <p:cNvSpPr/>
          <p:nvPr/>
        </p:nvSpPr>
        <p:spPr>
          <a:xfrm>
            <a:off x="640080" y="1682496"/>
            <a:ext cx="10911535" cy="1133856"/>
          </a:xfrm>
          <a:prstGeom prst="roundRect">
            <a:avLst>
              <a:gd name="adj" fmla="val 4032"/>
            </a:avLst>
          </a:prstGeom>
          <a:solidFill>
            <a:srgbClr val="14524A"/>
          </a:solidFill>
          <a:ln w="12700">
            <a:solidFill>
              <a:srgbClr val="14524A"/>
            </a:solidFill>
            <a:prstDash val="solid"/>
          </a:ln>
        </p:spPr>
      </p:sp>
      <p:sp>
        <p:nvSpPr>
          <p:cNvPr id="5" name="Shape 3"/>
          <p:cNvSpPr/>
          <p:nvPr/>
        </p:nvSpPr>
        <p:spPr>
          <a:xfrm>
            <a:off x="1005840" y="2029968"/>
            <a:ext cx="2212848" cy="457200"/>
          </a:xfrm>
          <a:prstGeom prst="roundRect">
            <a:avLst>
              <a:gd name="adj" fmla="val 100000"/>
            </a:avLst>
          </a:prstGeom>
          <a:solidFill>
            <a:srgbClr val="2C7A6B"/>
          </a:solidFill>
          <a:ln w="12700">
            <a:solidFill>
              <a:srgbClr val="2C7A6B"/>
            </a:solidFill>
            <a:prstDash val="solid"/>
          </a:ln>
        </p:spPr>
      </p:sp>
      <p:sp>
        <p:nvSpPr>
          <p:cNvPr id="6" name="Text 4"/>
          <p:cNvSpPr txBox="1"/>
          <p:nvPr/>
        </p:nvSpPr>
        <p:spPr>
          <a:xfrm>
            <a:off x="1005840" y="2029968"/>
            <a:ext cx="2212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 vende</a:t>
            </a:r>
            <a:endParaRPr lang="en-US" sz="1200" dirty="0"/>
          </a:p>
        </p:txBody>
      </p:sp>
      <p:sp>
        <p:nvSpPr>
          <p:cNvPr id="7" name="Text 5"/>
          <p:cNvSpPr txBox="1"/>
          <p:nvPr/>
        </p:nvSpPr>
        <p:spPr>
          <a:xfrm>
            <a:off x="3291840" y="2029968"/>
            <a:ext cx="329184" cy="457200"/>
          </a:xfrm>
          <a:prstGeom prst="rect">
            <a:avLst/>
          </a:prstGeom>
          <a:noFill/>
          <a:ln/>
        </p:spPr>
        <p:txBody>
          <a:bodyPr wrap="square" lIns="0" tIns="0" rIns="0" bIns="0" rtlCol="0" anchor="ctr"/>
          <a:lstStyle/>
          <a:p>
            <a:pPr algn="ctr" indent="0" marL="0">
              <a:buNone/>
            </a:pPr>
            <a:r>
              <a:rPr lang="en-US" sz="1800" b="1" dirty="0">
                <a:solidFill>
                  <a:srgbClr val="CFE3DC"/>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3694176" y="2029968"/>
            <a:ext cx="2212848" cy="457200"/>
          </a:xfrm>
          <a:prstGeom prst="roundRect">
            <a:avLst>
              <a:gd name="adj" fmla="val 100000"/>
            </a:avLst>
          </a:prstGeom>
          <a:solidFill>
            <a:srgbClr val="2C7A6B"/>
          </a:solidFill>
          <a:ln w="12700">
            <a:solidFill>
              <a:srgbClr val="2C7A6B"/>
            </a:solidFill>
            <a:prstDash val="solid"/>
          </a:ln>
        </p:spPr>
      </p:sp>
      <p:sp>
        <p:nvSpPr>
          <p:cNvPr id="9" name="Text 7"/>
          <p:cNvSpPr txBox="1"/>
          <p:nvPr/>
        </p:nvSpPr>
        <p:spPr>
          <a:xfrm>
            <a:off x="3694176" y="2029968"/>
            <a:ext cx="2212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Baja el stock</a:t>
            </a:r>
            <a:endParaRPr lang="en-US" sz="1200" dirty="0"/>
          </a:p>
        </p:txBody>
      </p:sp>
      <p:sp>
        <p:nvSpPr>
          <p:cNvPr id="10" name="Text 8"/>
          <p:cNvSpPr txBox="1"/>
          <p:nvPr/>
        </p:nvSpPr>
        <p:spPr>
          <a:xfrm>
            <a:off x="5980176" y="2029968"/>
            <a:ext cx="329184" cy="457200"/>
          </a:xfrm>
          <a:prstGeom prst="rect">
            <a:avLst/>
          </a:prstGeom>
          <a:noFill/>
          <a:ln/>
        </p:spPr>
        <p:txBody>
          <a:bodyPr wrap="square" lIns="0" tIns="0" rIns="0" bIns="0" rtlCol="0" anchor="ctr"/>
          <a:lstStyle/>
          <a:p>
            <a:pPr algn="ctr" indent="0" marL="0">
              <a:buNone/>
            </a:pPr>
            <a:r>
              <a:rPr lang="en-US" sz="1800" b="1" dirty="0">
                <a:solidFill>
                  <a:srgbClr val="CFE3DC"/>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6382512" y="2029968"/>
            <a:ext cx="2212848" cy="457200"/>
          </a:xfrm>
          <a:prstGeom prst="roundRect">
            <a:avLst>
              <a:gd name="adj" fmla="val 100000"/>
            </a:avLst>
          </a:prstGeom>
          <a:solidFill>
            <a:srgbClr val="E8A33D"/>
          </a:solidFill>
          <a:ln w="12700">
            <a:solidFill>
              <a:srgbClr val="E8A33D"/>
            </a:solidFill>
            <a:prstDash val="solid"/>
          </a:ln>
        </p:spPr>
      </p:sp>
      <p:sp>
        <p:nvSpPr>
          <p:cNvPr id="12" name="Text 10"/>
          <p:cNvSpPr txBox="1"/>
          <p:nvPr/>
        </p:nvSpPr>
        <p:spPr>
          <a:xfrm>
            <a:off x="6382512" y="2029968"/>
            <a:ext cx="2212848" cy="457200"/>
          </a:xfrm>
          <a:prstGeom prst="rect">
            <a:avLst/>
          </a:prstGeom>
          <a:noFill/>
          <a:ln/>
        </p:spPr>
        <p:txBody>
          <a:bodyPr wrap="square" lIns="0" tIns="0" rIns="0" bIns="0" rtlCol="0" anchor="ctr"/>
          <a:lstStyle/>
          <a:p>
            <a:pPr algn="ctr" indent="0" marL="0">
              <a:buNone/>
            </a:pPr>
            <a:r>
              <a:rPr lang="en-US" sz="1200" b="1" dirty="0">
                <a:solidFill>
                  <a:srgbClr val="14524A"/>
                </a:solidFill>
                <a:latin typeface="Calibri" pitchFamily="34" charset="0"/>
                <a:ea typeface="Calibri" pitchFamily="34" charset="-122"/>
                <a:cs typeface="Calibri" pitchFamily="34" charset="-120"/>
              </a:rPr>
              <a:t>Semáforo en rojo</a:t>
            </a:r>
            <a:endParaRPr lang="en-US" sz="1200" dirty="0"/>
          </a:p>
        </p:txBody>
      </p:sp>
      <p:sp>
        <p:nvSpPr>
          <p:cNvPr id="13" name="Text 11"/>
          <p:cNvSpPr txBox="1"/>
          <p:nvPr/>
        </p:nvSpPr>
        <p:spPr>
          <a:xfrm>
            <a:off x="8668512" y="2029968"/>
            <a:ext cx="329184" cy="457200"/>
          </a:xfrm>
          <a:prstGeom prst="rect">
            <a:avLst/>
          </a:prstGeom>
          <a:noFill/>
          <a:ln/>
        </p:spPr>
        <p:txBody>
          <a:bodyPr wrap="square" lIns="0" tIns="0" rIns="0" bIns="0" rtlCol="0" anchor="ctr"/>
          <a:lstStyle/>
          <a:p>
            <a:pPr algn="ctr" indent="0" marL="0">
              <a:buNone/>
            </a:pPr>
            <a:r>
              <a:rPr lang="en-US" sz="1800" b="1" dirty="0">
                <a:solidFill>
                  <a:srgbClr val="CFE3DC"/>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9070848" y="2029968"/>
            <a:ext cx="2212848" cy="457200"/>
          </a:xfrm>
          <a:prstGeom prst="roundRect">
            <a:avLst>
              <a:gd name="adj" fmla="val 100000"/>
            </a:avLst>
          </a:prstGeom>
          <a:solidFill>
            <a:srgbClr val="A8432F"/>
          </a:solidFill>
          <a:ln w="12700">
            <a:solidFill>
              <a:srgbClr val="A8432F"/>
            </a:solidFill>
            <a:prstDash val="solid"/>
          </a:ln>
        </p:spPr>
      </p:sp>
      <p:sp>
        <p:nvSpPr>
          <p:cNvPr id="15" name="Text 13"/>
          <p:cNvSpPr txBox="1"/>
          <p:nvPr/>
        </p:nvSpPr>
        <p:spPr>
          <a:xfrm>
            <a:off x="9070848" y="2029968"/>
            <a:ext cx="2212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Nadie llama</a:t>
            </a:r>
            <a:endParaRPr lang="en-US" sz="1200" dirty="0"/>
          </a:p>
        </p:txBody>
      </p:sp>
      <p:sp>
        <p:nvSpPr>
          <p:cNvPr id="16" name="Shape 14"/>
          <p:cNvSpPr/>
          <p:nvPr/>
        </p:nvSpPr>
        <p:spPr>
          <a:xfrm>
            <a:off x="640080" y="3072384"/>
            <a:ext cx="10911535" cy="804672"/>
          </a:xfrm>
          <a:prstGeom prst="roundRect">
            <a:avLst>
              <a:gd name="adj" fmla="val 5682"/>
            </a:avLst>
          </a:prstGeom>
          <a:solidFill>
            <a:srgbClr val="EEF5F1"/>
          </a:solidFill>
          <a:ln w="12700">
            <a:solidFill>
              <a:srgbClr val="D9E5DF"/>
            </a:solidFill>
            <a:prstDash val="solid"/>
          </a:ln>
        </p:spPr>
      </p:sp>
      <p:sp>
        <p:nvSpPr>
          <p:cNvPr id="17" name="Text 15"/>
          <p:cNvSpPr txBox="1"/>
          <p:nvPr/>
        </p:nvSpPr>
        <p:spPr>
          <a:xfrm>
            <a:off x="914400" y="3145536"/>
            <a:ext cx="3200400" cy="658368"/>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El documento ya lo promete</a:t>
            </a:r>
            <a:endParaRPr lang="en-US" sz="1400" dirty="0"/>
          </a:p>
        </p:txBody>
      </p:sp>
      <p:sp>
        <p:nvSpPr>
          <p:cNvPr id="18" name="Text 16"/>
          <p:cNvSpPr txBox="1"/>
          <p:nvPr/>
        </p:nvSpPr>
        <p:spPr>
          <a:xfrm>
            <a:off x="4206240" y="3145536"/>
            <a:ext cx="7071055" cy="658368"/>
          </a:xfrm>
          <a:prstGeom prst="rect">
            <a:avLst/>
          </a:prstGeom>
          <a:noFill/>
          <a:ln/>
        </p:spPr>
        <p:txBody>
          <a:bodyPr wrap="square" lIns="0" tIns="0" rIns="0" bIns="0" rtlCol="0" anchor="ctr"/>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La Entrega 1 dice que el sistema generará «una solicitud de reposición hacia el proveedor». Hoy genera la alerta, no la solicitud.</a:t>
            </a:r>
            <a:endParaRPr lang="en-US" sz="1150" dirty="0"/>
          </a:p>
        </p:txBody>
      </p:sp>
      <p:sp>
        <p:nvSpPr>
          <p:cNvPr id="19" name="Shape 17"/>
          <p:cNvSpPr/>
          <p:nvPr/>
        </p:nvSpPr>
        <p:spPr>
          <a:xfrm>
            <a:off x="640080" y="3986784"/>
            <a:ext cx="10911535" cy="804672"/>
          </a:xfrm>
          <a:prstGeom prst="roundRect">
            <a:avLst>
              <a:gd name="adj" fmla="val 5682"/>
            </a:avLst>
          </a:prstGeom>
          <a:solidFill>
            <a:srgbClr val="EEF5F1"/>
          </a:solidFill>
          <a:ln w="12700">
            <a:solidFill>
              <a:srgbClr val="D9E5DF"/>
            </a:solidFill>
            <a:prstDash val="solid"/>
          </a:ln>
        </p:spPr>
      </p:sp>
      <p:sp>
        <p:nvSpPr>
          <p:cNvPr id="20" name="Text 18"/>
          <p:cNvSpPr txBox="1"/>
          <p:nvPr/>
        </p:nvSpPr>
        <p:spPr>
          <a:xfrm>
            <a:off x="914400" y="4059936"/>
            <a:ext cx="3200400" cy="658368"/>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El objetivo depende de eso</a:t>
            </a:r>
            <a:endParaRPr lang="en-US" sz="1400" dirty="0"/>
          </a:p>
        </p:txBody>
      </p:sp>
      <p:sp>
        <p:nvSpPr>
          <p:cNvPr id="21" name="Text 19"/>
          <p:cNvSpPr txBox="1"/>
          <p:nvPr/>
        </p:nvSpPr>
        <p:spPr>
          <a:xfrm>
            <a:off x="4206240" y="4059936"/>
            <a:ext cx="7071055" cy="658368"/>
          </a:xfrm>
          <a:prstGeom prst="rect">
            <a:avLst/>
          </a:prstGeom>
          <a:noFill/>
          <a:ln/>
        </p:spPr>
        <p:txBody>
          <a:bodyPr wrap="square" lIns="0" tIns="0" rIns="0" bIns="0" rtlCol="0" anchor="ctr"/>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OE-3 compromete cero quiebres de stock en 3 meses. Avisar no es reponer: hoy depende de que alguien se acuerde.</a:t>
            </a:r>
            <a:endParaRPr lang="en-US" sz="1150" dirty="0"/>
          </a:p>
        </p:txBody>
      </p:sp>
      <p:sp>
        <p:nvSpPr>
          <p:cNvPr id="22" name="Shape 20"/>
          <p:cNvSpPr/>
          <p:nvPr/>
        </p:nvSpPr>
        <p:spPr>
          <a:xfrm>
            <a:off x="640080" y="4901184"/>
            <a:ext cx="10911535" cy="804672"/>
          </a:xfrm>
          <a:prstGeom prst="roundRect">
            <a:avLst>
              <a:gd name="adj" fmla="val 5682"/>
            </a:avLst>
          </a:prstGeom>
          <a:solidFill>
            <a:srgbClr val="EEF5F1"/>
          </a:solidFill>
          <a:ln w="12700">
            <a:solidFill>
              <a:srgbClr val="D9E5DF"/>
            </a:solidFill>
            <a:prstDash val="solid"/>
          </a:ln>
        </p:spPr>
      </p:sp>
      <p:sp>
        <p:nvSpPr>
          <p:cNvPr id="23" name="Text 21"/>
          <p:cNvSpPr txBox="1"/>
          <p:nvPr/>
        </p:nvSpPr>
        <p:spPr>
          <a:xfrm>
            <a:off x="914400" y="4974336"/>
            <a:ext cx="3200400" cy="658368"/>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Cuesta poco</a:t>
            </a:r>
            <a:endParaRPr lang="en-US" sz="1400" dirty="0"/>
          </a:p>
        </p:txBody>
      </p:sp>
      <p:sp>
        <p:nvSpPr>
          <p:cNvPr id="24" name="Text 22"/>
          <p:cNvSpPr txBox="1"/>
          <p:nvPr/>
        </p:nvSpPr>
        <p:spPr>
          <a:xfrm>
            <a:off x="4206240" y="4974336"/>
            <a:ext cx="7071055" cy="658368"/>
          </a:xfrm>
          <a:prstGeom prst="rect">
            <a:avLst/>
          </a:prstGeom>
          <a:noFill/>
          <a:ln/>
        </p:spPr>
        <p:txBody>
          <a:bodyPr wrap="square" lIns="0" tIns="0" rIns="0" bIns="0" rtlCol="0" anchor="ctr"/>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Tres tablas, un servicio que ya tiene de dónde leer, un comando programado y una plantilla de correo más.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Por qué no un ERP completo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Contabilidad, cuentas por pagar, caja y nómina quedan fuera, a propósito</a:t>
            </a:r>
            <a:endParaRPr lang="en-US" sz="1400" dirty="0"/>
          </a:p>
        </p:txBody>
      </p:sp>
      <p:sp>
        <p:nvSpPr>
          <p:cNvPr id="4" name="Shape 2"/>
          <p:cNvSpPr/>
          <p:nvPr/>
        </p:nvSpPr>
        <p:spPr>
          <a:xfrm>
            <a:off x="640080" y="1773936"/>
            <a:ext cx="3503066" cy="3017520"/>
          </a:xfrm>
          <a:prstGeom prst="roundRect">
            <a:avLst>
              <a:gd name="adj" fmla="val 1515"/>
            </a:avLst>
          </a:prstGeom>
          <a:solidFill>
            <a:srgbClr val="EEF5F1"/>
          </a:solidFill>
          <a:ln w="12700">
            <a:solidFill>
              <a:srgbClr val="D9E5DF"/>
            </a:solidFill>
            <a:prstDash val="solid"/>
          </a:ln>
        </p:spPr>
      </p:sp>
      <p:sp>
        <p:nvSpPr>
          <p:cNvPr id="5" name="Text 3"/>
          <p:cNvSpPr txBox="1"/>
          <p:nvPr/>
        </p:nvSpPr>
        <p:spPr>
          <a:xfrm>
            <a:off x="914400" y="1975104"/>
            <a:ext cx="548640" cy="512064"/>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914400" y="2578608"/>
            <a:ext cx="2954426" cy="621792"/>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Ya existe dónde llevarlo</a:t>
            </a:r>
            <a:endParaRPr lang="en-US" sz="1500" dirty="0"/>
          </a:p>
        </p:txBody>
      </p:sp>
      <p:sp>
        <p:nvSpPr>
          <p:cNvPr id="7" name="Text 5"/>
          <p:cNvSpPr txBox="1"/>
          <p:nvPr/>
        </p:nvSpPr>
        <p:spPr>
          <a:xfrm>
            <a:off x="914400" y="3255264"/>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El documento de requerimientos deja la facturación electrónica en el sistema contable que la empresa ya usa. Duplicarlo crearía dos verdades sobre el mismo dinero.</a:t>
            </a:r>
            <a:endParaRPr lang="en-US" sz="1200" dirty="0"/>
          </a:p>
        </p:txBody>
      </p:sp>
      <p:sp>
        <p:nvSpPr>
          <p:cNvPr id="8" name="Shape 6"/>
          <p:cNvSpPr/>
          <p:nvPr/>
        </p:nvSpPr>
        <p:spPr>
          <a:xfrm>
            <a:off x="4344314" y="1773936"/>
            <a:ext cx="3503066" cy="3017520"/>
          </a:xfrm>
          <a:prstGeom prst="roundRect">
            <a:avLst>
              <a:gd name="adj" fmla="val 1515"/>
            </a:avLst>
          </a:prstGeom>
          <a:solidFill>
            <a:srgbClr val="EEF5F1"/>
          </a:solidFill>
          <a:ln w="12700">
            <a:solidFill>
              <a:srgbClr val="D9E5DF"/>
            </a:solidFill>
            <a:prstDash val="solid"/>
          </a:ln>
        </p:spPr>
      </p:sp>
      <p:sp>
        <p:nvSpPr>
          <p:cNvPr id="9" name="Text 7"/>
          <p:cNvSpPr txBox="1"/>
          <p:nvPr/>
        </p:nvSpPr>
        <p:spPr>
          <a:xfrm>
            <a:off x="4618634" y="1975104"/>
            <a:ext cx="548640" cy="512064"/>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4618634" y="2578608"/>
            <a:ext cx="2954426" cy="621792"/>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Seis personas no operan un ERP</a:t>
            </a:r>
            <a:endParaRPr lang="en-US" sz="1500" dirty="0"/>
          </a:p>
        </p:txBody>
      </p:sp>
      <p:sp>
        <p:nvSpPr>
          <p:cNvPr id="11" name="Text 9"/>
          <p:cNvSpPr txBox="1"/>
          <p:nvPr/>
        </p:nvSpPr>
        <p:spPr>
          <a:xfrm>
            <a:off x="4618634" y="3255264"/>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Una MYPE con un local no tiene el volumen ni el personal. Lo que cuesta mantenerlo supera lo que ahorra.</a:t>
            </a:r>
            <a:endParaRPr lang="en-US" sz="1200" dirty="0"/>
          </a:p>
        </p:txBody>
      </p:sp>
      <p:sp>
        <p:nvSpPr>
          <p:cNvPr id="12" name="Shape 10"/>
          <p:cNvSpPr/>
          <p:nvPr/>
        </p:nvSpPr>
        <p:spPr>
          <a:xfrm>
            <a:off x="8048549" y="1773936"/>
            <a:ext cx="3503066" cy="3017520"/>
          </a:xfrm>
          <a:prstGeom prst="roundRect">
            <a:avLst>
              <a:gd name="adj" fmla="val 1515"/>
            </a:avLst>
          </a:prstGeom>
          <a:solidFill>
            <a:srgbClr val="EEF5F1"/>
          </a:solidFill>
          <a:ln w="12700">
            <a:solidFill>
              <a:srgbClr val="D9E5DF"/>
            </a:solidFill>
            <a:prstDash val="solid"/>
          </a:ln>
        </p:spPr>
      </p:sp>
      <p:sp>
        <p:nvSpPr>
          <p:cNvPr id="13" name="Text 11"/>
          <p:cNvSpPr txBox="1"/>
          <p:nvPr/>
        </p:nvSpPr>
        <p:spPr>
          <a:xfrm>
            <a:off x="8322869" y="1975104"/>
            <a:ext cx="548640" cy="512064"/>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3</a:t>
            </a:r>
            <a:endParaRPr lang="en-US" sz="3000" dirty="0"/>
          </a:p>
        </p:txBody>
      </p:sp>
      <p:sp>
        <p:nvSpPr>
          <p:cNvPr id="14" name="Text 12"/>
          <p:cNvSpPr txBox="1"/>
          <p:nvPr/>
        </p:nvSpPr>
        <p:spPr>
          <a:xfrm>
            <a:off x="8322869" y="2578608"/>
            <a:ext cx="2954426" cy="621792"/>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No era el problema</a:t>
            </a:r>
            <a:endParaRPr lang="en-US" sz="1500" dirty="0"/>
          </a:p>
        </p:txBody>
      </p:sp>
      <p:sp>
        <p:nvSpPr>
          <p:cNvPr id="15" name="Text 13"/>
          <p:cNvSpPr txBox="1"/>
          <p:nvPr/>
        </p:nvSpPr>
        <p:spPr>
          <a:xfrm>
            <a:off x="8322869" y="3255264"/>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El diagnóstico encontró cinco dolores: citas cruzadas, fichas de cartón, quiebres de stock, sin canal en línea y sin recompra. Ninguno se resuelve con un módulo contable.</a:t>
            </a:r>
            <a:endParaRPr lang="en-US" sz="1200" dirty="0"/>
          </a:p>
        </p:txBody>
      </p:sp>
      <p:sp>
        <p:nvSpPr>
          <p:cNvPr id="16" name="Shape 14"/>
          <p:cNvSpPr/>
          <p:nvPr/>
        </p:nvSpPr>
        <p:spPr>
          <a:xfrm>
            <a:off x="640080" y="4992624"/>
            <a:ext cx="10911535" cy="841248"/>
          </a:xfrm>
          <a:prstGeom prst="roundRect">
            <a:avLst>
              <a:gd name="adj" fmla="val 5435"/>
            </a:avLst>
          </a:prstGeom>
          <a:solidFill>
            <a:srgbClr val="EEF5F1"/>
          </a:solidFill>
          <a:ln w="12700">
            <a:solidFill>
              <a:srgbClr val="D9E5DF"/>
            </a:solidFill>
            <a:prstDash val="solid"/>
          </a:ln>
        </p:spPr>
      </p:sp>
      <p:sp>
        <p:nvSpPr>
          <p:cNvPr id="17" name="Text 15"/>
          <p:cNvSpPr txBox="1"/>
          <p:nvPr/>
        </p:nvSpPr>
        <p:spPr>
          <a:xfrm>
            <a:off x="914400" y="4992624"/>
            <a:ext cx="10362895" cy="841248"/>
          </a:xfrm>
          <a:prstGeom prst="rect">
            <a:avLst/>
          </a:prstGeom>
          <a:noFill/>
          <a:ln/>
        </p:spPr>
        <p:txBody>
          <a:bodyPr wrap="square" lIns="0" tIns="0" rIns="0" bIns="0" rtlCol="0" anchor="ctr"/>
          <a:lstStyle/>
          <a:p>
            <a:pPr indent="0" marL="0">
              <a:lnSpc>
                <a:spcPts val="1700"/>
              </a:lnSpc>
              <a:buNone/>
            </a:pPr>
            <a:r>
              <a:rPr lang="en-US" sz="1200" b="1" dirty="0">
                <a:solidFill>
                  <a:srgbClr val="14524A"/>
                </a:solidFill>
                <a:latin typeface="Calibri" pitchFamily="34" charset="0"/>
                <a:ea typeface="Calibri" pitchFamily="34" charset="-122"/>
                <a:cs typeface="Calibri" pitchFamily="34" charset="-120"/>
              </a:rPr>
              <a:t xml:space="preserve">Lo mismo con el CRM que falta.  </a:t>
            </a:r>
            <a:pPr indent="0" marL="0">
              <a:lnSpc>
                <a:spcPts val="1700"/>
              </a:lnSpc>
              <a:buNone/>
            </a:pPr>
            <a:r>
              <a:rPr lang="en-US" sz="1200" dirty="0">
                <a:solidFill>
                  <a:srgbClr val="1C2321"/>
                </a:solidFill>
                <a:latin typeface="Calibri" pitchFamily="34" charset="0"/>
                <a:ea typeface="Calibri" pitchFamily="34" charset="-122"/>
                <a:cs typeface="Calibri" pitchFamily="34" charset="-120"/>
              </a:rPr>
              <a:t>Campañas de correo segmentadas y recomendación por edad de la mascota son deseables, pero no son lo que hoy le hace perder dinero al negocio.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24A"/>
        </a:solidFill>
      </p:bgPr>
    </p:bg>
    <p:spTree>
      <p:nvGrpSpPr>
        <p:cNvPr id="1" name=""/>
        <p:cNvGrpSpPr/>
        <p:nvPr/>
      </p:nvGrpSpPr>
      <p:grpSpPr>
        <a:xfrm>
          <a:off x="0" y="0"/>
          <a:ext cx="0" cy="0"/>
          <a:chOff x="0" y="0"/>
          <a:chExt cx="0" cy="0"/>
        </a:xfrm>
      </p:grpSpPr>
      <p:sp>
        <p:nvSpPr>
          <p:cNvPr id="2" name="Text 0"/>
          <p:cNvSpPr txBox="1"/>
          <p:nvPr/>
        </p:nvSpPr>
        <p:spPr>
          <a:xfrm>
            <a:off x="640080" y="1371600"/>
            <a:ext cx="10911535" cy="457200"/>
          </a:xfrm>
          <a:prstGeom prst="rect">
            <a:avLst/>
          </a:prstGeom>
          <a:noFill/>
          <a:ln/>
        </p:spPr>
        <p:txBody>
          <a:bodyPr wrap="square" lIns="0" tIns="0" rIns="0" bIns="0" rtlCol="0" anchor="ctr"/>
          <a:lstStyle/>
          <a:p>
            <a:pPr algn="ctr" indent="0" marL="0">
              <a:buNone/>
            </a:pPr>
            <a:r>
              <a:rPr lang="en-US" sz="1600" b="1" dirty="0">
                <a:solidFill>
                  <a:srgbClr val="E8A33D"/>
                </a:solidFill>
                <a:latin typeface="Calibri" pitchFamily="34" charset="0"/>
                <a:ea typeface="Calibri" pitchFamily="34" charset="-122"/>
                <a:cs typeface="Calibri" pitchFamily="34" charset="-120"/>
              </a:rPr>
              <a:t>En una frase</a:t>
            </a:r>
            <a:endParaRPr lang="en-US" sz="1600" dirty="0"/>
          </a:p>
        </p:txBody>
      </p:sp>
      <p:sp>
        <p:nvSpPr>
          <p:cNvPr id="3" name="Text 1"/>
          <p:cNvSpPr txBox="1"/>
          <p:nvPr/>
        </p:nvSpPr>
        <p:spPr>
          <a:xfrm>
            <a:off x="1371600" y="2011680"/>
            <a:ext cx="9448495" cy="1005840"/>
          </a:xfrm>
          <a:prstGeom prst="rect">
            <a:avLst/>
          </a:prstGeom>
          <a:noFill/>
          <a:ln/>
        </p:spPr>
        <p:txBody>
          <a:bodyPr wrap="square" lIns="0" tIns="0" rIns="0" bIns="0" rtlCol="0" anchor="ctr"/>
          <a:lstStyle/>
          <a:p>
            <a:pPr algn="ctr" indent="0" marL="0">
              <a:lnSpc>
                <a:spcPts val="3400"/>
              </a:lnSpc>
              <a:buNone/>
            </a:pPr>
            <a:r>
              <a:rPr lang="en-US" sz="2400" b="1" dirty="0">
                <a:solidFill>
                  <a:srgbClr val="FFFFFF"/>
                </a:solidFill>
                <a:latin typeface="Cambria" pitchFamily="34" charset="0"/>
                <a:ea typeface="Cambria" pitchFamily="34" charset="-122"/>
                <a:cs typeface="Cambria" pitchFamily="34" charset="-120"/>
              </a:rPr>
              <a:t>Tenemos CRM operativo y la parte del ERP que el negocio usa de verdad: inventario y ventas.</a:t>
            </a:r>
            <a:endParaRPr lang="en-US" sz="2400" dirty="0"/>
          </a:p>
        </p:txBody>
      </p:sp>
      <p:sp>
        <p:nvSpPr>
          <p:cNvPr id="4" name="Text 2"/>
          <p:cNvSpPr txBox="1"/>
          <p:nvPr/>
        </p:nvSpPr>
        <p:spPr>
          <a:xfrm>
            <a:off x="1737360" y="3291840"/>
            <a:ext cx="8716975" cy="1371600"/>
          </a:xfrm>
          <a:prstGeom prst="rect">
            <a:avLst/>
          </a:prstGeom>
          <a:noFill/>
          <a:ln/>
        </p:spPr>
        <p:txBody>
          <a:bodyPr wrap="square" lIns="0" tIns="0" rIns="0" bIns="0" rtlCol="0" anchor="t"/>
          <a:lstStyle/>
          <a:p>
            <a:pPr algn="ctr" indent="0" marL="0">
              <a:lnSpc>
                <a:spcPts val="2200"/>
              </a:lnSpc>
              <a:buNone/>
            </a:pPr>
            <a:r>
              <a:rPr lang="en-US" sz="1400" dirty="0">
                <a:solidFill>
                  <a:srgbClr val="CFE3DC"/>
                </a:solidFill>
                <a:latin typeface="Calibri" pitchFamily="34" charset="0"/>
                <a:ea typeface="Calibri" pitchFamily="34" charset="-122"/>
                <a:cs typeface="Calibri" pitchFamily="34" charset="-120"/>
              </a:rPr>
              <a:t>El SRM es la brecha que reconocemos y la siguiente en cerrarse, porque el objetivo de cero quiebres de stock depende de que la reposición ocurra, no solo de que se avise. El ERP contable queda fuera de alcance de forma deliberada: la empresa ya lleva eso en su sistema actual.</a:t>
            </a:r>
            <a:endParaRPr lang="en-US" sz="1400" dirty="0"/>
          </a:p>
        </p:txBody>
      </p:sp>
      <p:sp>
        <p:nvSpPr>
          <p:cNvPr id="5" name="Shape 3"/>
          <p:cNvSpPr/>
          <p:nvPr/>
        </p:nvSpPr>
        <p:spPr>
          <a:xfrm>
            <a:off x="3626968" y="5029200"/>
            <a:ext cx="4937760" cy="457200"/>
          </a:xfrm>
          <a:prstGeom prst="roundRect">
            <a:avLst>
              <a:gd name="adj" fmla="val 100000"/>
            </a:avLst>
          </a:prstGeom>
          <a:solidFill>
            <a:srgbClr val="2C7A6B"/>
          </a:solidFill>
          <a:ln w="12700">
            <a:solidFill>
              <a:srgbClr val="2C7A6B"/>
            </a:solidFill>
            <a:prstDash val="solid"/>
          </a:ln>
        </p:spPr>
      </p:sp>
      <p:sp>
        <p:nvSpPr>
          <p:cNvPr id="6" name="Text 4"/>
          <p:cNvSpPr txBox="1"/>
          <p:nvPr/>
        </p:nvSpPr>
        <p:spPr>
          <a:xfrm>
            <a:off x="3626968" y="5029200"/>
            <a:ext cx="493776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Reconocer la brecha suma. Que te la encuentren, resta.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VetPet Surco E.I.R.L.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Integracion de la gestion empresarial - VetPet Connect</dc:title>
  <dc:subject>PptxGenJS Presentation</dc:subject>
  <dc:creator>Equipo 4</dc:creator>
  <cp:lastModifiedBy>Equipo 4</cp:lastModifiedBy>
  <cp:revision>1</cp:revision>
  <dcterms:created xsi:type="dcterms:W3CDTF">2026-10-06T01:28:30Z</dcterms:created>
  <dcterms:modified xsi:type="dcterms:W3CDTF">2026-10-06T01:28:30Z</dcterms:modified>
</cp:coreProperties>
</file>