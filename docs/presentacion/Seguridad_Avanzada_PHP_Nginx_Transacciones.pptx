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Hoy: cómo blindar el dinero y los datos de un e-commerce — transacciones seguras en la base y un servidor PHP/Nginx endurecido. VetPet Connect sirve como caso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dinero se protege en tres capas: la base de datos, el servidor y el código. Si una falla, las otras dos contienen el daño.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e-commerce concentra dinero y datos personales: cada amenaza de la izquierda ataca el valor, cada una de la derecha la superficie técnica.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nivel por defecto de InnoDB es REPEATABLE READ. La regla práctica: transacciones cortas, orden de bloqueo fijo y ninguna llamada externa dentro.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patrón es el corazón del checkout: el bloqueo serializa los intentos de compra sobre el mismo producto y el rollback evita ventas parciales.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deadlocks no se eliminan del todo: se diseñan para que sean raros, rápidos e inocuos. El retry debe ser idempotente o repetirá cobros.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idempotencia es lo que permite reintentar sin miedo. Combinada con webhooks firmados, el estado del pedido solo cambia por hechos verificables.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aplicación valida, pero el motor es quien da la última palabra: un CHECK o un UNIQUE sobrevive a cualquier bug del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Server tokens off quita la huella de versiones; las cabeceras nuevas son baratas y neutralizan familias enteras de ataques del navegador.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bloque location ~.php$ es donde se han ganado las brechas más ruidosas de la historia de PHP: try_files + deny en uploads es la regla mínima.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disable_functions y open_basedir convierten una subida de shell en un incidente menor. En contenedores, correr como no-root y solo lectura suma otra capa.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Ninguna capa reemplaza a la otra: Blade escapa, el middleware cierra el rol y las reglas del motor mantienen la verdad del dato.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operación es parte de la seguridad: secretos fuera de git, dependencias auditadas y copias de seguridad que además se restauran y se prueban.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Transparencia académica: la izquierda corre y tiene pruebas; la derecha son las técnicas avanzadas recomendadas para llevar el mismo sistema a producción.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si el tiempo aprieta, estas cinco prácticas cubren el 90% del daño real que sufre un e-commerce.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5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72600" y="1554480"/>
            <a:ext cx="457200" cy="6400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1371600"/>
            <a:ext cx="457200" cy="7315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44200" y="1554480"/>
            <a:ext cx="457200" cy="6400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869680" y="1965960"/>
            <a:ext cx="2834640" cy="20116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757916" y="4562856"/>
            <a:ext cx="137160" cy="192024"/>
          </a:xfrm>
          <a:prstGeom prst="ellipse">
            <a:avLst/>
          </a:prstGeom>
          <a:solidFill>
            <a:srgbClr val="E8A33D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63656" y="4507992"/>
            <a:ext cx="137160" cy="219456"/>
          </a:xfrm>
          <a:prstGeom prst="ellipse">
            <a:avLst/>
          </a:prstGeom>
          <a:solidFill>
            <a:srgbClr val="E8A33D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169396" y="4562856"/>
            <a:ext cx="137160" cy="192024"/>
          </a:xfrm>
          <a:prstGeom prst="ellipse">
            <a:avLst/>
          </a:prstGeom>
          <a:solidFill>
            <a:srgbClr val="E8A33D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0" y="4686300"/>
            <a:ext cx="850392" cy="603504"/>
          </a:xfrm>
          <a:prstGeom prst="ellipse">
            <a:avLst/>
          </a:prstGeom>
          <a:solidFill>
            <a:srgbClr val="E8A33D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1005840"/>
            <a:ext cx="822960" cy="822960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1005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98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0116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Técnicas avanzadas de seguridad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29718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E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 y protección en servidores PHP/Nginx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611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estudio: VetPet Connect — tienda en línea, suscripción e historia clínica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438912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4389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E-business · Equipo 4 · 2026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VetPet Surco E.I.R.L. · Santiago de Surco, Lima · Empresa ficticia con fines académicos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482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3" name="Shape 1"/>
          <p:cNvSpPr/>
          <p:nvPr/>
        </p:nvSpPr>
        <p:spPr>
          <a:xfrm>
            <a:off x="11301984" y="429768"/>
            <a:ext cx="91440" cy="146304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4" name="Shape 2"/>
          <p:cNvSpPr/>
          <p:nvPr/>
        </p:nvSpPr>
        <p:spPr>
          <a:xfrm>
            <a:off x="1143914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5" name="Shape 3"/>
          <p:cNvSpPr/>
          <p:nvPr/>
        </p:nvSpPr>
        <p:spPr>
          <a:xfrm>
            <a:off x="11064240" y="548640"/>
            <a:ext cx="566928" cy="40233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657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frentes de defensa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6424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1691640"/>
            <a:ext cx="731520" cy="731520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176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1554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Transacciones seguras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196596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y niveles de aislamiento · bloqueo pesimista · deadlocks · idempotencia de pagos · auditoría inmutable.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1106424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291840"/>
            <a:ext cx="731520" cy="731520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291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176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31546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Servidor PHP/Nginx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828800" y="356616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y cabeceras · rutas PHP blindadas · PHP-FPM endurecido · sesiones y cookies · límites y rate limiting.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8680" y="4892040"/>
            <a:ext cx="731520" cy="731520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4892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1760" dirty="0"/>
          </a:p>
        </p:txBody>
      </p:sp>
      <p:sp>
        <p:nvSpPr>
          <p:cNvPr id="20" name="Text 18"/>
          <p:cNvSpPr txBox="1"/>
          <p:nvPr/>
        </p:nvSpPr>
        <p:spPr>
          <a:xfrm>
            <a:off x="1828800" y="47548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Aplicación e infraestructura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828800" y="516636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SQLi/XSS/CSRF · RBAC y contraseñas · secretos y dependencias · MySQL de mínimo privilegio · WAF y monitoreo.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avanzada · Transacciones y servidores PHP/Nginx · Equipo 4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482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3" name="Shape 1"/>
          <p:cNvSpPr/>
          <p:nvPr/>
        </p:nvSpPr>
        <p:spPr>
          <a:xfrm>
            <a:off x="11301984" y="429768"/>
            <a:ext cx="91440" cy="146304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4" name="Shape 2"/>
          <p:cNvSpPr/>
          <p:nvPr/>
        </p:nvSpPr>
        <p:spPr>
          <a:xfrm>
            <a:off x="1143914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5" name="Shape 3"/>
          <p:cNvSpPr/>
          <p:nvPr/>
        </p:nvSpPr>
        <p:spPr>
          <a:xfrm>
            <a:off x="11064240" y="548640"/>
            <a:ext cx="566928" cy="40233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657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atacan en un e-commerce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52044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627632"/>
            <a:ext cx="566928" cy="566928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627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1364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1645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cobro y sobreventa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2860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hilos confirman el mismo stock o el mismo pago: el clásico bug que también es una vulnerabilidad.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97680" y="1371600"/>
            <a:ext cx="352044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627632"/>
            <a:ext cx="566928" cy="566928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0" y="1627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</a:t>
            </a:r>
            <a:endParaRPr lang="en-US" sz="1364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1645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Manipulación de precios y estados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22860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Alterar el precio de la línea, saltar PENDIENTE→ENTREGADO o reabrir lo cancelado.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46720" y="1371600"/>
            <a:ext cx="352044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21040" y="1627632"/>
            <a:ext cx="566928" cy="566928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21040" y="1627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🗃️</a:t>
            </a:r>
            <a:endParaRPr lang="en-US" sz="1364" dirty="0"/>
          </a:p>
        </p:txBody>
      </p:sp>
      <p:sp>
        <p:nvSpPr>
          <p:cNvPr id="20" name="Text 18"/>
          <p:cNvSpPr txBox="1"/>
          <p:nvPr/>
        </p:nvSpPr>
        <p:spPr>
          <a:xfrm>
            <a:off x="9052560" y="1645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Inyección y fuga de datos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22860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sobre consultas dinámicas, datos de clientes y de tarjetas.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657600"/>
            <a:ext cx="352044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3913632"/>
            <a:ext cx="566928" cy="566928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3913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</a:t>
            </a:r>
            <a:endParaRPr lang="en-US" sz="1364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3931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Suplantación y CSRF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45720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 de sesión, cookies sin SameSite, formularios cruzados que gastan tu saldo.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297680" y="3657600"/>
            <a:ext cx="352044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3913632"/>
            <a:ext cx="566928" cy="566928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572000" y="3913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364" dirty="0"/>
          </a:p>
        </p:txBody>
      </p:sp>
      <p:sp>
        <p:nvSpPr>
          <p:cNvPr id="30" name="Text 28"/>
          <p:cNvSpPr txBox="1"/>
          <p:nvPr/>
        </p:nvSpPr>
        <p:spPr>
          <a:xfrm>
            <a:off x="5303520" y="3931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en el servidor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0" y="45720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Subidas maliciosas, PHP ejecutable en /uploads, PATH_INFO mal configurado, RCE.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046720" y="3657600"/>
            <a:ext cx="352044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21040" y="3913632"/>
            <a:ext cx="566928" cy="566928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321040" y="3913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364" dirty="0"/>
          </a:p>
        </p:txBody>
      </p:sp>
      <p:sp>
        <p:nvSpPr>
          <p:cNvPr id="35" name="Text 33"/>
          <p:cNvSpPr txBox="1"/>
          <p:nvPr/>
        </p:nvSpPr>
        <p:spPr>
          <a:xfrm>
            <a:off x="9052560" y="3931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Abuso y fuerza bruta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8321040" y="45720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masivo, spam de formularios, scraping de precios y stock.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48640" y="5989320"/>
            <a:ext cx="6035040" cy="365760"/>
          </a:xfrm>
          <a:prstGeom prst="roundRect">
            <a:avLst>
              <a:gd name="adj" fmla="val 50000"/>
            </a:avLst>
          </a:prstGeom>
          <a:solidFill>
            <a:srgbClr val="EEF5F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48640" y="59893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+ fraude transaccional: los dos mapas de hoy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avanzada · Transacciones y servidores PHP/Nginx · Equipo 4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482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3" name="Shape 1"/>
          <p:cNvSpPr/>
          <p:nvPr/>
        </p:nvSpPr>
        <p:spPr>
          <a:xfrm>
            <a:off x="11301984" y="429768"/>
            <a:ext cx="91440" cy="146304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4" name="Shape 2"/>
          <p:cNvSpPr/>
          <p:nvPr/>
        </p:nvSpPr>
        <p:spPr>
          <a:xfrm>
            <a:off x="1143914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5" name="Shape 3"/>
          <p:cNvSpPr/>
          <p:nvPr/>
        </p:nvSpPr>
        <p:spPr>
          <a:xfrm>
            <a:off x="11064240" y="548640"/>
            <a:ext cx="566928" cy="40233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657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Primera línea: transacciones ACID y aislamiento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39496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cuatro garantías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2011680"/>
            <a:ext cx="640080" cy="640080"/>
          </a:xfrm>
          <a:prstGeom prst="ellipse">
            <a:avLst/>
          </a:prstGeom>
          <a:solidFill>
            <a:srgbClr val="1452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743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Atomicidad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103120" y="201168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10312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920240" y="2743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37560" y="2011680"/>
            <a:ext cx="640080" cy="640080"/>
          </a:xfrm>
          <a:prstGeom prst="ellipse">
            <a:avLst/>
          </a:prstGeom>
          <a:solidFill>
            <a:srgbClr val="1452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33756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3154680" y="2743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Isolamiento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0" y="201168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389120" y="2743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Durabilidad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3063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InnoDB las cumple; la aplicación debe abrir y cerrar el alcance de cada una.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703320"/>
            <a:ext cx="539496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68680" y="3886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 de aislamiento (ANSI/SQL)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42976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UNCOMMITTED — lee datos no confirmados (nunca usar)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COMMITTED — evita dirty read; ideal para reportes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READ — el de InnoDB: estable dentro de la tx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SERIALIZABLE — máximo control, máximo costo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0" y="1371600"/>
            <a:ext cx="5394960" cy="4526280"/>
          </a:xfrm>
          <a:prstGeom prst="roundRect">
            <a:avLst>
              <a:gd name="adj" fmla="val 2828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53796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oro del diseño transaccional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537960" y="20574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379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132320" y="20391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 cortas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132320" y="23134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llamadas HTTP ni de correo dentro del BEGIN…COMMIT.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537960" y="280720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53796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27889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bloqueo consistente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7132320" y="30632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tocar las filas en el mismo orden: evita abrazos mortales.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537960" y="355701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3796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7132320" y="35387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escritor por recurso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7132320" y="381304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stock lo modifica la transacción de pedidos, nadie más.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537960" y="430682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537960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↩️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7132320" y="428853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completo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7132320" y="456285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pieza falla, deshacer todo: nada de estados a medias.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537960" y="50566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537960" y="5056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🧵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7132320" y="503834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Reintento con backoff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7132320" y="531266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deadlock (1213), reintentar la transacción entera con jitter.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avanzada · Transacciones y servidores PHP/Nginx · Equipo 4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482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3" name="Shape 1"/>
          <p:cNvSpPr/>
          <p:nvPr/>
        </p:nvSpPr>
        <p:spPr>
          <a:xfrm>
            <a:off x="11301984" y="429768"/>
            <a:ext cx="91440" cy="146304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4" name="Shape 2"/>
          <p:cNvSpPr/>
          <p:nvPr/>
        </p:nvSpPr>
        <p:spPr>
          <a:xfrm>
            <a:off x="1143914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5" name="Shape 3"/>
          <p:cNvSpPr/>
          <p:nvPr/>
        </p:nvSpPr>
        <p:spPr>
          <a:xfrm>
            <a:off x="11064240" y="548640"/>
            <a:ext cx="566928" cy="40233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657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Bloqueo pesimista: SELECT … FOR UPDATE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120640" cy="685800"/>
          </a:xfrm>
          <a:prstGeom prst="roundRect">
            <a:avLst>
              <a:gd name="adj" fmla="val 13333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4447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737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la transacción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5120640" cy="685800"/>
          </a:xfrm>
          <a:prstGeom prst="roundRect">
            <a:avLst>
              <a:gd name="adj" fmla="val 13333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359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… FOR UPDATE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6517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 las filas de stock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5120640" cy="685800"/>
          </a:xfrm>
          <a:prstGeom prst="roundRect">
            <a:avLst>
              <a:gd name="adj" fmla="val 13333"/>
            </a:avLst>
          </a:prstGeom>
          <a:solidFill>
            <a:srgbClr val="FFF3DC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2735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¿Stock suficiente?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5661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falta: ROLLBACK total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5120640" cy="685800"/>
          </a:xfrm>
          <a:prstGeom prst="roundRect">
            <a:avLst>
              <a:gd name="adj" fmla="val 13333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187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stock = stock − 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4805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sobre filas bloqueadas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5120640" cy="685800"/>
          </a:xfrm>
          <a:prstGeom prst="roundRect">
            <a:avLst>
              <a:gd name="adj" fmla="val 13333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51023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394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 y hace durable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35040" y="1371600"/>
            <a:ext cx="5577840" cy="3017520"/>
          </a:xfrm>
          <a:prstGeom prst="roundRect">
            <a:avLst>
              <a:gd name="adj" fmla="val 3030"/>
            </a:avLst>
          </a:prstGeom>
          <a:solidFill>
            <a:srgbClr val="17221F"/>
          </a:solidFill>
          <a:ln/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536192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0" y="1536192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5" name="Shape 23"/>
          <p:cNvSpPr/>
          <p:nvPr/>
        </p:nvSpPr>
        <p:spPr>
          <a:xfrm>
            <a:off x="6583680" y="1536192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63640" y="1783080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TRANSACTION;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stock_actual FROM productos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producto_id =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UPDATE;          -- lock de fila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si todos alcanzan: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productos SET stock_actual = stock_actual - 2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producto_id = 1;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                -- o ROLLBACK si algo falta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35040" y="4572000"/>
            <a:ext cx="5577840" cy="1325880"/>
          </a:xfrm>
          <a:prstGeom prst="roundRect">
            <a:avLst>
              <a:gd name="adj" fmla="val 9655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355080" y="47091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VetPet Connect (RN-12)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355080" y="50292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PedidoService confirma con lockForUpdate() sobre todas las líneas: si UNA se queda sin stock, no se registra ninguna parte del pedido. Es lo que impide la sobreventa en Black Friday.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6035040"/>
            <a:ext cx="5120640" cy="36576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48640" y="6035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FOR UPDATE: dos ventas simultáneas venden el último stock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avanzada · Transacciones y servidores PHP/Nginx · Equipo 4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482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3" name="Shape 1"/>
          <p:cNvSpPr/>
          <p:nvPr/>
        </p:nvSpPr>
        <p:spPr>
          <a:xfrm>
            <a:off x="11301984" y="429768"/>
            <a:ext cx="91440" cy="146304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4" name="Shape 2"/>
          <p:cNvSpPr/>
          <p:nvPr/>
        </p:nvSpPr>
        <p:spPr>
          <a:xfrm>
            <a:off x="1143914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5" name="Shape 3"/>
          <p:cNvSpPr/>
          <p:nvPr/>
        </p:nvSpPr>
        <p:spPr>
          <a:xfrm>
            <a:off x="11064240" y="548640"/>
            <a:ext cx="566928" cy="40233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657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Deadlocks: anticiparlos y sobrevivirlos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39496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ocurren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965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transacciones se bloquean mutuamente: A tiene la fila 1 y pide la 2; B tiene la 2 y pide la 1. InnoDB detecta el ciclo y sacrifica una (error 1213).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8803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Causas típicas: orden de bloqueo distinto, transacciones largas y lotes gigantes.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5394960" cy="2103120"/>
          </a:xfrm>
          <a:prstGeom prst="roundRect">
            <a:avLst>
              <a:gd name="adj" fmla="val 6087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6868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3891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fijo de tablas y filas en toda la aplicación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 cortas: nada externo dentro del lock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innodb_lock_wait_timeout bajo (5 s): falla rápido y limpio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idempotente con backoff + jitter (3 intentos)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5394960" cy="2743200"/>
          </a:xfrm>
          <a:prstGeom prst="roundRect">
            <a:avLst>
              <a:gd name="adj" fmla="val 3333"/>
            </a:avLst>
          </a:prstGeom>
          <a:solidFill>
            <a:srgbClr val="17221F"/>
          </a:solidFill>
          <a:ln/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536192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0" y="1536192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7" name="Shape 15"/>
          <p:cNvSpPr/>
          <p:nvPr/>
        </p:nvSpPr>
        <p:spPr>
          <a:xfrm>
            <a:off x="6766560" y="1536192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46520" y="178308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intentos = 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ejecutar_transaccion()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Deadlock (1213):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intentos +=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intentos &gt; 3: raise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sleep(0.05 * 2**intentos + random())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4343400"/>
            <a:ext cx="539496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53796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48006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ENGINE INNODB STATUS y el log de errores vigilan la tasa de deadlocks: un pico revela un orden de bloqueo roto en un flujo nuevo.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avanzada · Transacciones y servidores PHP/Nginx · Equipo 4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482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3" name="Shape 1"/>
          <p:cNvSpPr/>
          <p:nvPr/>
        </p:nvSpPr>
        <p:spPr>
          <a:xfrm>
            <a:off x="11301984" y="429768"/>
            <a:ext cx="91440" cy="146304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4" name="Shape 2"/>
          <p:cNvSpPr/>
          <p:nvPr/>
        </p:nvSpPr>
        <p:spPr>
          <a:xfrm>
            <a:off x="1143914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5" name="Shape 3"/>
          <p:cNvSpPr/>
          <p:nvPr/>
        </p:nvSpPr>
        <p:spPr>
          <a:xfrm>
            <a:off x="11064240" y="548640"/>
            <a:ext cx="566928" cy="40233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657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Pagos: exactamente una vez, pase lo que pase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3035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</a:t>
            </a:r>
            <a:endParaRPr lang="en-US" sz="132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1645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key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1993392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intento de cobro lleva una clave única; si el cliente reintenta, el servidor reconoce la clave y NO vuelve a cobrar.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371600"/>
            <a:ext cx="53035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46520" y="1645920"/>
            <a:ext cx="548640" cy="548640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🃏</a:t>
            </a:r>
            <a:endParaRPr lang="en-US" sz="1320" dirty="0"/>
          </a:p>
        </p:txBody>
      </p:sp>
      <p:sp>
        <p:nvSpPr>
          <p:cNvPr id="15" name="Text 13"/>
          <p:cNvSpPr txBox="1"/>
          <p:nvPr/>
        </p:nvSpPr>
        <p:spPr>
          <a:xfrm>
            <a:off x="7178040" y="1645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Tokenización de tarjeta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7178040" y="1993392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número se cambia por un token en el navegador: el servidor jamás ve los 16 dígitos (PCI-DSS al mínimo).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291840"/>
            <a:ext cx="53035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3566160"/>
            <a:ext cx="548640" cy="548640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32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3566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firmados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3913632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pasarela avisa con firma HMAC: se verifica antes de marcar PAGADO. Nunca confiar en un redirect del navegador.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3291840"/>
            <a:ext cx="530352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46520" y="3566160"/>
            <a:ext cx="548640" cy="548640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4652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</a:t>
            </a:r>
            <a:endParaRPr lang="en-US" sz="132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3566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 pattern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3913632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evento "pago aprobado" se escribe en la MISMA transacción y un worker lo despacha: sin eventos perdidos.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303520"/>
            <a:ext cx="11064240" cy="777240"/>
          </a:xfrm>
          <a:prstGeom prst="roundRect">
            <a:avLst>
              <a:gd name="adj" fmla="val 16471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68680" y="544068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VetPet (RN-21): el token viaja al servidor, nunca el número · todo intento queda en el historial · sin aprobación del emisor no hay PAGADO.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avanzada · Transacciones y servidores PHP/Nginx · Equipo 4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482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3" name="Shape 1"/>
          <p:cNvSpPr/>
          <p:nvPr/>
        </p:nvSpPr>
        <p:spPr>
          <a:xfrm>
            <a:off x="11301984" y="429768"/>
            <a:ext cx="91440" cy="146304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4" name="Shape 2"/>
          <p:cNvSpPr/>
          <p:nvPr/>
        </p:nvSpPr>
        <p:spPr>
          <a:xfrm>
            <a:off x="1143914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5" name="Shape 3"/>
          <p:cNvSpPr/>
          <p:nvPr/>
        </p:nvSpPr>
        <p:spPr>
          <a:xfrm>
            <a:off x="11064240" y="548640"/>
            <a:ext cx="566928" cy="40233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657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Integridad y auditoría: la última línea está en el motor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486400" cy="452628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del motor (CHECK / UNIQUE / FK)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01168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de SKU: dos altas simultáneas no duplican el producto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de stock ≥ 0 y precio &gt; 0: imposible aunque el código falle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de estados: PENDIENTE→PAGADO→ENVIADO→ENTREGADO, sin inventar estados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con ON DELETE restrict: nada se borra en cascada sin querer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Procedimientos almacenados (sp_confirmar_pedido): la lógica crítica vive junto al dato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371600"/>
            <a:ext cx="5349240" cy="2148840"/>
          </a:xfrm>
          <a:prstGeom prst="roundRect">
            <a:avLst>
              <a:gd name="adj" fmla="val 5957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8368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y auditoría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19659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de movimientos solo-insertables (nunca UPDATE)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entrada: cada cobro tiene su contrapartida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 + quién, cuándo y desde qué IP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3749040"/>
            <a:ext cx="534924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8368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Concurrencia optimista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4297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bloqueo pesimista no compensa (formularios, perfiles), una columna version hace el trabajo: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4800600"/>
            <a:ext cx="4754880" cy="914400"/>
          </a:xfrm>
          <a:prstGeom prst="roundRect">
            <a:avLst>
              <a:gd name="adj" fmla="val 10000"/>
            </a:avLst>
          </a:prstGeom>
          <a:solidFill>
            <a:srgbClr val="17221F"/>
          </a:solidFill>
          <a:ln/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4965192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8" name="Shape 16"/>
          <p:cNvSpPr/>
          <p:nvPr/>
        </p:nvSpPr>
        <p:spPr>
          <a:xfrm>
            <a:off x="6949440" y="4965192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9" name="Shape 17"/>
          <p:cNvSpPr/>
          <p:nvPr/>
        </p:nvSpPr>
        <p:spPr>
          <a:xfrm>
            <a:off x="7132320" y="4965192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12280" y="5212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… SET version = version + 1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id = ? AND version = ?;   -- 0 filas = conflicto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avanzada · Transacciones y servidores PHP/Nginx · Equipo 4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482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3" name="Shape 1"/>
          <p:cNvSpPr/>
          <p:nvPr/>
        </p:nvSpPr>
        <p:spPr>
          <a:xfrm>
            <a:off x="11301984" y="429768"/>
            <a:ext cx="91440" cy="146304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4" name="Shape 2"/>
          <p:cNvSpPr/>
          <p:nvPr/>
        </p:nvSpPr>
        <p:spPr>
          <a:xfrm>
            <a:off x="1143914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5" name="Shape 3"/>
          <p:cNvSpPr/>
          <p:nvPr/>
        </p:nvSpPr>
        <p:spPr>
          <a:xfrm>
            <a:off x="11064240" y="548640"/>
            <a:ext cx="566928" cy="40233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657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Nginx endurecido: transporte y cabeceras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669280" cy="4480560"/>
          </a:xfrm>
          <a:prstGeom prst="roundRect">
            <a:avLst>
              <a:gd name="adj" fmla="val 2041"/>
            </a:avLst>
          </a:prstGeom>
          <a:solidFill>
            <a:srgbClr val="17221F"/>
          </a:solidFill>
          <a:ln/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536192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1536192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1536192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1783080"/>
            <a:ext cx="5212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listen 443 ssl http2;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server_tokens off;             # sin version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ssl_protocols TLSv1.2 TLSv1.3;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ssl_prefer_server_ciphers on;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ssl_stapling on;               # OCSP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add_header Strict-Transport-Security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"max-age=31536000; includeSubDomains" always;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add_header X-Content-Type-Options "nosniff" always;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add_header X-Frame-Options "DENY" always;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add_header Referrer-Policy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"strict-origin-when-cross-origin" always;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add_header Content-Security-Policy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"default-src 'self'; frame-ancestors 'none'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object-src 'none'; base-uri 'self'" always;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92240" y="1371600"/>
            <a:ext cx="5120640" cy="2148840"/>
          </a:xfrm>
          <a:prstGeom prst="roundRect">
            <a:avLst>
              <a:gd name="adj" fmla="val 5957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81228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gana el sitio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19659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HSTS: el navegador fuerza HTTPS el primer año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CSP: mata el XSS reflejado y el clickjacking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nosniff: impide adivinar tipos (drive-by)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92240" y="3749040"/>
            <a:ext cx="512064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81228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todo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43434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Redirigir :80 → :443 y ACME (certbot) con renovación automática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Bloquear dotfiles y /vendor, /storage fuera del docroot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client_max_body_size 2m: corta cargas bomba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avanzada · Transacciones y servidores PHP/Nginx · Equipo 4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482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3" name="Shape 1"/>
          <p:cNvSpPr/>
          <p:nvPr/>
        </p:nvSpPr>
        <p:spPr>
          <a:xfrm>
            <a:off x="11301984" y="429768"/>
            <a:ext cx="91440" cy="146304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4" name="Shape 2"/>
          <p:cNvSpPr/>
          <p:nvPr/>
        </p:nvSpPr>
        <p:spPr>
          <a:xfrm>
            <a:off x="1143914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5" name="Shape 3"/>
          <p:cNvSpPr/>
          <p:nvPr/>
        </p:nvSpPr>
        <p:spPr>
          <a:xfrm>
            <a:off x="11064240" y="548640"/>
            <a:ext cx="566928" cy="40233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657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Nginx endurecido: PHP, límites y abuso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669280" cy="3200400"/>
          </a:xfrm>
          <a:prstGeom prst="roundRect">
            <a:avLst>
              <a:gd name="adj" fmla="val 2857"/>
            </a:avLst>
          </a:prstGeom>
          <a:solidFill>
            <a:srgbClr val="17221F"/>
          </a:solidFill>
          <a:ln/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536192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1536192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1536192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1783080"/>
            <a:ext cx="5212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 ruta PHP más peligrosa del stack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 ~ \.php$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try_files $uri =404;          # evita PATH_INFO raro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include fastcgi_params;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fastcgi_param SCRIPT_FILENAME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$document_root$fastcgi_script_name;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fastcgi_pass unix:/run/php/php-fpm.sock;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 ~ /\.(?!well-known).* { deny all;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 ~* /uploads/.*\.php$ { deny all; 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92240" y="1371600"/>
            <a:ext cx="5120640" cy="1463040"/>
          </a:xfrm>
          <a:prstGeom prst="roundRect">
            <a:avLst>
              <a:gd name="adj" fmla="val 8750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812280" y="1508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importa?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18288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try_files, /uploads/shell.jpg/xx.php puede ejecutar PHP. Y ningún archivo subido debe correr jamás como código.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92240" y="3017520"/>
            <a:ext cx="512064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812280" y="3154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y conexión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34747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limit_req_zone por IP: 10 r/s con ráfaga 20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limit_conn por IP y timeouts cortos (client_body 10s)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92240" y="4754880"/>
            <a:ext cx="5120640" cy="1143000"/>
          </a:xfrm>
          <a:prstGeom prst="roundRect">
            <a:avLst>
              <a:gd name="adj" fmla="val 11200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812280" y="4892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allá: WAF ModSecurity con OWASP CRS delante de PHP — inspecciona payloads y corta SQLi/XSS conocidos antes de tocar la app.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avanzada · Transacciones y servidores PHP/Nginx · Equipo 4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482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3" name="Shape 1"/>
          <p:cNvSpPr/>
          <p:nvPr/>
        </p:nvSpPr>
        <p:spPr>
          <a:xfrm>
            <a:off x="11301984" y="429768"/>
            <a:ext cx="91440" cy="146304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4" name="Shape 2"/>
          <p:cNvSpPr/>
          <p:nvPr/>
        </p:nvSpPr>
        <p:spPr>
          <a:xfrm>
            <a:off x="1143914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5" name="Shape 3"/>
          <p:cNvSpPr/>
          <p:nvPr/>
        </p:nvSpPr>
        <p:spPr>
          <a:xfrm>
            <a:off x="11064240" y="548640"/>
            <a:ext cx="566928" cy="40233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657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PHP-FPM y php.ini: el runtime bajo llave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669280" cy="4480560"/>
          </a:xfrm>
          <a:prstGeom prst="roundRect">
            <a:avLst>
              <a:gd name="adj" fmla="val 2041"/>
            </a:avLst>
          </a:prstGeom>
          <a:solidFill>
            <a:srgbClr val="17221F"/>
          </a:solidFill>
          <a:ln/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536192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1536192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1536192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1783080"/>
            <a:ext cx="5212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php.ini de producción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expose_php = Off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display_errors = Off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log_errors = 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allow_url_fopen = Off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allow_url_include = Off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cgi.fix_pathinfo = 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open_basedir = /var/www:/tmp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disable_functions = exec,passthru,shell_exec,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system,proc_open,popen,pcntl_exec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upload_max_filesize = 2M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session.cookie_httponly =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session.cookie_secure =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session.cookie_samesite = Lax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session.use_strict_mode =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session.gc_maxlifetime = 3600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opcache.validate_timestamps = 0   # prod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92240" y="1371600"/>
            <a:ext cx="5120640" cy="2103120"/>
          </a:xfrm>
          <a:prstGeom prst="roundRect">
            <a:avLst>
              <a:gd name="adj" fmla="val 6087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81228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y cookies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192024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session_regenerate_id(true) al cambiar de privilegio (login/logout)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SameSite=Lax corta el CSRF de raíz; el token cubre el resto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strict_mode rechaza IDs de sesión inventados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92240" y="3703320"/>
            <a:ext cx="512064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812280" y="3886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de PHP-FPM aislado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425196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Unix socket + usuario dedicado (no www-data compartido)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= dynamic con límites: un sitio saturado no se come a los demás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 sin root, imagen mínima y filesystem de solo lectura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avanzada · Transacciones y servidores PHP/Nginx · Equipo 4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482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3" name="Shape 1"/>
          <p:cNvSpPr/>
          <p:nvPr/>
        </p:nvSpPr>
        <p:spPr>
          <a:xfrm>
            <a:off x="11301984" y="429768"/>
            <a:ext cx="91440" cy="146304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4" name="Shape 2"/>
          <p:cNvSpPr/>
          <p:nvPr/>
        </p:nvSpPr>
        <p:spPr>
          <a:xfrm>
            <a:off x="1143914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5" name="Shape 3"/>
          <p:cNvSpPr/>
          <p:nvPr/>
        </p:nvSpPr>
        <p:spPr>
          <a:xfrm>
            <a:off x="11064240" y="548640"/>
            <a:ext cx="566928" cy="40233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657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Aplicación PHP: el código también defiende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52044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600200"/>
            <a:ext cx="530352" cy="530352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600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6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</a:t>
            </a:r>
            <a:endParaRPr lang="en-US" sz="1276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1645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1945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PDO/Eloquent con parámetros atados. Consultas dinámicas solo con allow-list de columnas.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1371600"/>
            <a:ext cx="352044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600200"/>
            <a:ext cx="530352" cy="530352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0" y="1600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6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</a:t>
            </a:r>
            <a:endParaRPr lang="en-US" sz="1276" dirty="0"/>
          </a:p>
        </p:txBody>
      </p:sp>
      <p:sp>
        <p:nvSpPr>
          <p:cNvPr id="15" name="Text 13"/>
          <p:cNvSpPr txBox="1"/>
          <p:nvPr/>
        </p:nvSpPr>
        <p:spPr>
          <a:xfrm>
            <a:off x="5257800" y="1645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21945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 escapa con {{ }} por defecto; {!! !!} solo con contenido purificado (HTMLPurifier).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1371600"/>
            <a:ext cx="352044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21040" y="1600200"/>
            <a:ext cx="530352" cy="530352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6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🍪</a:t>
            </a:r>
            <a:endParaRPr lang="en-US" sz="1276" dirty="0"/>
          </a:p>
        </p:txBody>
      </p:sp>
      <p:sp>
        <p:nvSpPr>
          <p:cNvPr id="20" name="Text 18"/>
          <p:cNvSpPr txBox="1"/>
          <p:nvPr/>
        </p:nvSpPr>
        <p:spPr>
          <a:xfrm>
            <a:off x="9006840" y="1645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21945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por formulario + SameSite=Lax + verificar Origin/Referer en los POST sensibles.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566160"/>
            <a:ext cx="352044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3794760"/>
            <a:ext cx="530352" cy="530352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37947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6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1276" dirty="0"/>
          </a:p>
        </p:txBody>
      </p:sp>
      <p:sp>
        <p:nvSpPr>
          <p:cNvPr id="25" name="Text 23"/>
          <p:cNvSpPr txBox="1"/>
          <p:nvPr/>
        </p:nvSpPr>
        <p:spPr>
          <a:xfrm>
            <a:off x="1508760" y="3840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43891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 ARGON2ID (o Bcrypt cost 12) + 2FA para roles ADMIN/VETERINARIO.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97680" y="3566160"/>
            <a:ext cx="352044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3794760"/>
            <a:ext cx="530352" cy="530352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572000" y="37947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6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👮</a:t>
            </a:r>
            <a:endParaRPr lang="en-US" sz="1276" dirty="0"/>
          </a:p>
        </p:txBody>
      </p:sp>
      <p:sp>
        <p:nvSpPr>
          <p:cNvPr id="30" name="Text 28"/>
          <p:cNvSpPr txBox="1"/>
          <p:nvPr/>
        </p:nvSpPr>
        <p:spPr>
          <a:xfrm>
            <a:off x="5257800" y="3840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0" y="43891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de rol por ruta: el cliente jamás llega al controller del admin (403).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46720" y="3566160"/>
            <a:ext cx="352044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21040" y="3794760"/>
            <a:ext cx="530352" cy="530352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321040" y="37947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6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</a:t>
            </a:r>
            <a:endParaRPr lang="en-US" sz="1276" dirty="0"/>
          </a:p>
        </p:txBody>
      </p:sp>
      <p:sp>
        <p:nvSpPr>
          <p:cNvPr id="35" name="Text 33"/>
          <p:cNvSpPr txBox="1"/>
          <p:nvPr/>
        </p:nvSpPr>
        <p:spPr>
          <a:xfrm>
            <a:off x="9006840" y="3840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Subidas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8321040" y="43891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MIME real (finfo), re-nombrar al azar, guardar fuera del docroot, nunca ejecutar.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5943600"/>
            <a:ext cx="4937760" cy="36576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48640" y="5943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en profundidad: validación + motor + servidor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avanzada · Transacciones y servidores PHP/Nginx · Equipo 4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482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3" name="Shape 1"/>
          <p:cNvSpPr/>
          <p:nvPr/>
        </p:nvSpPr>
        <p:spPr>
          <a:xfrm>
            <a:off x="11301984" y="429768"/>
            <a:ext cx="91440" cy="146304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4" name="Shape 2"/>
          <p:cNvSpPr/>
          <p:nvPr/>
        </p:nvSpPr>
        <p:spPr>
          <a:xfrm>
            <a:off x="1143914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5" name="Shape 3"/>
          <p:cNvSpPr/>
          <p:nvPr/>
        </p:nvSpPr>
        <p:spPr>
          <a:xfrm>
            <a:off x="11064240" y="548640"/>
            <a:ext cx="566928" cy="40233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657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Infraestructura y operación segura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64240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517904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5179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6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1276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149961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de mínimo privilegio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46304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único por aplicación sin FILE, SUPER ni GRANT; secure_file_priv vacío; backups cifrados y probados.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331720"/>
            <a:ext cx="11064240" cy="841248"/>
          </a:xfrm>
          <a:prstGeom prst="roundRect">
            <a:avLst>
              <a:gd name="adj" fmla="val 15217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2478024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24780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6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🧰</a:t>
            </a:r>
            <a:endParaRPr lang="en-US" sz="1276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245973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de suministro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242316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 audit en CI, composer.lock versionado, actualizaciones de seguridad el mismo día que salen.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291840"/>
            <a:ext cx="11064240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3438144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34381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6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276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341985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338328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root, imágenes mínimas, filesystem de solo lectura, sin shell en producción.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251960"/>
            <a:ext cx="11064240" cy="841248"/>
          </a:xfrm>
          <a:prstGeom prst="roundRect">
            <a:avLst>
              <a:gd name="adj" fmla="val 15217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" y="4398264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43982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6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</a:t>
            </a:r>
            <a:endParaRPr lang="en-US" sz="1276" dirty="0"/>
          </a:p>
        </p:txBody>
      </p:sp>
      <p:sp>
        <p:nvSpPr>
          <p:cNvPr id="25" name="Text 23"/>
          <p:cNvSpPr txBox="1"/>
          <p:nvPr/>
        </p:nvSpPr>
        <p:spPr>
          <a:xfrm>
            <a:off x="1463040" y="437997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y monitoreo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4937760" y="434340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Accesos y errores centralizados, alertas de fuerza bruta (fail2ban), retención y acceso restringido al log.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5212080"/>
            <a:ext cx="11064240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77240" y="5358384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53583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6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</a:t>
            </a:r>
            <a:endParaRPr lang="en-US" sz="1276" dirty="0"/>
          </a:p>
        </p:txBody>
      </p:sp>
      <p:sp>
        <p:nvSpPr>
          <p:cNvPr id="30" name="Text 28"/>
          <p:cNvSpPr txBox="1"/>
          <p:nvPr/>
        </p:nvSpPr>
        <p:spPr>
          <a:xfrm>
            <a:off x="1463040" y="534009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y DDoS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4937760" y="530352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ModSecurity + OWASP CRS, rate limiting per-IP y CDN con protección de borde para el tráfico público.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avanzada · Transacciones y servidores PHP/Nginx · Equipo 4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482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3" name="Shape 1"/>
          <p:cNvSpPr/>
          <p:nvPr/>
        </p:nvSpPr>
        <p:spPr>
          <a:xfrm>
            <a:off x="11301984" y="429768"/>
            <a:ext cx="91440" cy="146304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4" name="Shape 2"/>
          <p:cNvSpPr/>
          <p:nvPr/>
        </p:nvSpPr>
        <p:spPr>
          <a:xfrm>
            <a:off x="1143914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5" name="Shape 3"/>
          <p:cNvSpPr/>
          <p:nvPr/>
        </p:nvSpPr>
        <p:spPr>
          <a:xfrm>
            <a:off x="11064240" y="548640"/>
            <a:ext cx="566928" cy="40233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657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VetPet Connect: implementado y en hoja de ruta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394960" cy="4480560"/>
          </a:xfrm>
          <a:prstGeom prst="roundRect">
            <a:avLst>
              <a:gd name="adj" fmla="val 2857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Implementado y probado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1965960"/>
            <a:ext cx="4846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Transacción con FOR UPDATE al confirmar pedidos (RN-12): sin sobreventa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Tokenización de tarjeta en el navegador; el número nunca llega al servidor (RN-21)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de estados encadenados + CHECK + UNIQUE en el motor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para contraseñas, CSRF en cada POST, RBAC por middleware (RN-01)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Throttling en formularios y endpoint del asistente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 pruebas automatizadas contra MySQL real (346 aserciones)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539496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3796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Hoja de ruta (recomendado)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1965960"/>
            <a:ext cx="4846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Cabeceras HSTS/CSP y server_tokens off en Nginx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location ~\.php$ con try_files =404 y deny en /uploads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PHP-FPM endurecido: disable_functions, open_basedir, pool propio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keys y outbox para los cobros recurrentes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ModSecurity + OWASP CRS y fail2ban delante del login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 para ADMIN/VETERINARIO y auditoría de acciones sensibles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avanzada · Transacciones y servidores PHP/Nginx · Equipo 4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5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40773" y="4345229"/>
            <a:ext cx="384048" cy="537667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16845" y="4191610"/>
            <a:ext cx="384048" cy="614477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992917" y="4345229"/>
            <a:ext cx="384048" cy="537667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418320" y="4690872"/>
            <a:ext cx="2381098" cy="1689811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90956" y="630936"/>
            <a:ext cx="137160" cy="192024"/>
          </a:xfrm>
          <a:prstGeom prst="ellipse">
            <a:avLst/>
          </a:prstGeom>
          <a:solidFill>
            <a:srgbClr val="E8A33D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96696" y="576072"/>
            <a:ext cx="137160" cy="219456"/>
          </a:xfrm>
          <a:prstGeom prst="ellipse">
            <a:avLst/>
          </a:prstGeom>
          <a:solidFill>
            <a:srgbClr val="E8A33D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202436" y="630936"/>
            <a:ext cx="137160" cy="192024"/>
          </a:xfrm>
          <a:prstGeom prst="ellipse">
            <a:avLst/>
          </a:prstGeom>
          <a:solidFill>
            <a:srgbClr val="E8A33D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754380"/>
            <a:ext cx="850392" cy="603504"/>
          </a:xfrm>
          <a:prstGeom prst="ellipse">
            <a:avLst/>
          </a:prstGeom>
          <a:solidFill>
            <a:srgbClr val="E8A33D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1554480"/>
            <a:ext cx="777240" cy="777240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1554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87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5603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prioridades si solo hay un día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383280"/>
            <a:ext cx="8778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EE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Transacciones cortas con FOR UPDATE e idempotencia en todo lo que toca dinero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EE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TLS + HSTS + CSP y server_tokens off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EE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location ~\.php$ con try_files =404 y uploads sin ejecución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EE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PHP-FPM con disable_functions, open_basedir y sesiones duras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EE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Monitoreo: logs, alertas y copias de seguridad probadas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4 · Curso de E-business · 2026 · OWASP Top 10 · PHP Security Manual · Nginx Docs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Seguridad avanzada: transacciones y servidores PHP/Nginx</dc:title>
  <dc:subject>PptxGenJS Presentation</dc:subject>
  <dc:creator>Equipo 4 — Curso de E-business</dc:creator>
  <cp:lastModifiedBy>Equipo 4 — Curso de E-business</cp:lastModifiedBy>
  <cp:revision>1</cp:revision>
  <dcterms:created xsi:type="dcterms:W3CDTF">2026-09-23T00:49:54Z</dcterms:created>
  <dcterms:modified xsi:type="dcterms:W3CDTF">2026-09-23T00:49:54Z</dcterms:modified>
</cp:coreProperties>
</file>