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32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C2321"/>
                </a:solidFill>
                <a:latin typeface="Calibri"/>
              </a:rPr>
              <a:t>Número de reglas por capa (20 en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Reglas</c:v>
                </c:pt>
              </c:strCache>
            </c:strRef>
          </c:tx>
          <c:spPr>
            <a:solidFill>
              <a:srgbClr val="2C7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32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Aplicación (Java)</c:v>
                  </c:pt>
                  <c:pt idx="1">
                    <c:v>Procedimiento almacenado</c:v>
                  </c:pt>
                  <c:pt idx="2">
                    <c:v>Vista SQL</c:v>
                  </c:pt>
                  <c:pt idx="3">
                    <c:v>BD + aplicación</c:v>
                  </c:pt>
                  <c:pt idx="4">
                    <c:v>Restricción de la base de datos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32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b"/>
        <c:majorGridlines>
          <c:spPr>
            <a:ln w="12700" cap="flat">
              <a:solidFill>
                <a:srgbClr val="D9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regla de negocio es una condición que el negocio necesita que se cumpla siempre. En este proyecto no las dejamos escritas solo en el documento: cada una tiene un lugar concreto en el código donde se hace cumplir.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idea central de toda la presentación: una regla escrita solo en la aplicación se puede saltar; una escrita en el motor de datos, no. Por eso empujamos cada regla lo más abajo 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Conviene decir que estas 20 reglas no se inventaron para la presentación: se leyeron del esquema, del procedimiento y de las clases Java que ya están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rol es un ENUM y no un texto libre: no se puede inventar un rol nuevo por error. La contraseña es la única regla de este grupo que depende de la aplicación, porque el hash se calcula antes de guardar.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regla del semáforo vive en una vista porque es una regla de cálculo: ROJO cuando el stock cae al punto de reorden, ÁMBAR hasta el doble, VERDE el resto. El dashboard solo consulta el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primeras son mixtas a propósito: Java las valida para dar un mensaje claro al usuario, y la base de datos las vuelve a validar por si la petición llega por otro camino.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RN-14 es la que permite medir si se cumple el objetivo de la Entrega 1: aumentar 30% la venta recurrente. Sin ese campo no se podría separar un tipo de venta del otro.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RN-17 es la que resuelve el cruce de horarios del diagnóstico de la Entrega 1, y la RN-20 es la que reduce las inasistencias a los controles.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número que resume el enfoque del trabajo: la mayoría de las reglas no dependen de que el programador se acuerde de comprobarlas.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importante de este caso: la venta no se registra a medias. O se cumple la regla completa, o no queda rastro de la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mejor ejemplo para explicar por qué la concurrencia obliga a bajar la regla al motor. Si el profesor pregunta por el RNF-03, esta es la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argumento. La aplicación valida por cortesía con el usuario; la base de datos valida por obligación con el negocio.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idea de fondo: el trabajo no solo lista reglas de negocio, las deja implementadas y verificables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VetPetSurco/b8d13659-c8d7-578f-913d-52522fae5ff2/scratchpad/ppt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12848"/>
            <a:ext cx="1234440" cy="1234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14600" y="2048256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de negocio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2514600" y="290779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20 reglas que gobiernan VetPet Connect y dónde se hace cumplir cada una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336499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Extraídas del esquema MySQL, del procedimiento transaccional y del carrito en Java del proyecto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VetPet Surco E.I.R.L.  ·  Modelo B2C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E-business  ·  Equipo 4  ·  Lima, Perú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puede vivir una regla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VetPet Connect usamos cuatro lugares, y no son equivalentes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55648"/>
            <a:ext cx="2508428" cy="3749040"/>
          </a:xfrm>
          <a:prstGeom prst="roundRect">
            <a:avLst>
              <a:gd name="adj" fmla="val 1823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9339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42032"/>
            <a:ext cx="19963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1752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del motor: UNIQUE, CHECK, ENUM y claves foráneas. Nadie las puede rodear, ni siquiera una consulta escrita a mano.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901184"/>
            <a:ext cx="19963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más fuerte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41116" y="1755648"/>
            <a:ext cx="2508428" cy="3749040"/>
          </a:xfrm>
          <a:prstGeom prst="roundRect">
            <a:avLst>
              <a:gd name="adj" fmla="val 1823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97148" y="199339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9714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97148" y="2542032"/>
            <a:ext cx="19963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Procedimiento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697148" y="301752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transaccional en sp_confirmar_pedido: valida, bloquea filas y revierte todo si algo no cuadra.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97148" y="4901184"/>
            <a:ext cx="19963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reglas con varios pasos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42152" y="1755648"/>
            <a:ext cx="2508428" cy="3749040"/>
          </a:xfrm>
          <a:prstGeom prst="roundRect">
            <a:avLst>
              <a:gd name="adj" fmla="val 1823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8184" y="199339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8184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98184" y="2542032"/>
            <a:ext cx="19963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SQL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498184" y="301752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derivadas que se calculan al consultar, como el semáforo de inventario o los recordatorios de salud.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98184" y="4901184"/>
            <a:ext cx="19963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reglas de cálculo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43187" y="1755648"/>
            <a:ext cx="2508428" cy="3749040"/>
          </a:xfrm>
          <a:prstGeom prst="roundRect">
            <a:avLst>
              <a:gd name="adj" fmla="val 1823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9219" y="199339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9219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299219" y="2542032"/>
            <a:ext cx="19963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299219" y="301752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en Java, antes de llegar a la base de datos. Dan mejor mensaje al usuario, pero se pueden saltar.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99219" y="4901184"/>
            <a:ext cx="19963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más débil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30936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del proyecto: cada regla se coloca en la capa más fuerte donde pueda expresarse.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20 reglas, agrupadas por módulo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módulo del sistema aporta sus propias condiciones de negocio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3429914" cy="1920240"/>
          </a:xfrm>
          <a:prstGeom prst="roundRect">
            <a:avLst>
              <a:gd name="adj" fmla="val 2381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75104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75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17904" y="1993392"/>
            <a:ext cx="2277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RN-01 a RN-04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23744"/>
            <a:ext cx="288127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Cuentas y acceso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127248"/>
            <a:ext cx="2881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entra, con qué rol y de quién es cada mascota.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0890" y="1719072"/>
            <a:ext cx="3429914" cy="1920240"/>
          </a:xfrm>
          <a:prstGeom prst="roundRect">
            <a:avLst>
              <a:gd name="adj" fmla="val 2381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55210" y="1975104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55210" y="1975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258714" y="1993392"/>
            <a:ext cx="2277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RN-05 a RN-08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55210" y="2523744"/>
            <a:ext cx="288127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e inventario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655210" y="3127248"/>
            <a:ext cx="2881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puede vender, a qué precio y cuándo reponer.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21701" y="1719072"/>
            <a:ext cx="3429914" cy="1920240"/>
          </a:xfrm>
          <a:prstGeom prst="roundRect">
            <a:avLst>
              <a:gd name="adj" fmla="val 2381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96021" y="1975104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6021" y="1975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999525" y="1993392"/>
            <a:ext cx="2277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RN-09 a RN-13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96021" y="2523744"/>
            <a:ext cx="288127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Carrito y pedido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396021" y="3127248"/>
            <a:ext cx="2881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arma, se cobra y se cierra una venta.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3877056"/>
            <a:ext cx="3429914" cy="1920240"/>
          </a:xfrm>
          <a:prstGeom prst="roundRect">
            <a:avLst>
              <a:gd name="adj" fmla="val 2381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133088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133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517904" y="4151376"/>
            <a:ext cx="2277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RN-14 a RN-16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681728"/>
            <a:ext cx="288127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Suscripción mensual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285232"/>
            <a:ext cx="2881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el ingreso recurrente del negocio.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80890" y="3877056"/>
            <a:ext cx="3429914" cy="1920240"/>
          </a:xfrm>
          <a:prstGeom prst="roundRect">
            <a:avLst>
              <a:gd name="adj" fmla="val 2381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55210" y="4133088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55210" y="4133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5258714" y="4151376"/>
            <a:ext cx="227777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RN-17 a RN-20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655210" y="4681728"/>
            <a:ext cx="288127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e historia clínica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4655210" y="5285232"/>
            <a:ext cx="2881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reserva la atención y se sigue la salud.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121701" y="3877056"/>
            <a:ext cx="3429914" cy="1920240"/>
          </a:xfrm>
          <a:prstGeom prst="roundRect">
            <a:avLst>
              <a:gd name="adj" fmla="val 2381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96021" y="4078224"/>
            <a:ext cx="28812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600" dirty="0"/>
          </a:p>
        </p:txBody>
      </p:sp>
      <p:sp>
        <p:nvSpPr>
          <p:cNvPr id="36" name="Text 34"/>
          <p:cNvSpPr txBox="1"/>
          <p:nvPr/>
        </p:nvSpPr>
        <p:spPr>
          <a:xfrm>
            <a:off x="8396021" y="4992624"/>
            <a:ext cx="28812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en total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8396021" y="5358384"/>
            <a:ext cx="28812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salen del código del proyecto, no de un listado teórico.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Cuentas y acceso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entra al sistema y con qué permisos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2039112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039112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01952" y="185623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persona tiene un solo rol y es excluyente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usuarios.rol ENUM('CLIENTE','VETERINARIO','ADMIN')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052560" y="2039112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052560" y="20391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79776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81528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" y="308152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01952" y="28986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correo identifica a una sola cuenta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323697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usuarios.correo VARCHAR(100) UNIQUE NOT NULL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52560" y="3081528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30815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22192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7824" y="4123944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" y="4123944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901952" y="3941064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contraseña nunca se guarda legible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901952" y="427939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password_hash VARCHAR(255) — hash BCrypt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52560" y="4123944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5D6B66"/>
          </a:solidFill>
          <a:ln w="12700">
            <a:solidFill>
              <a:srgbClr val="5D6B6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52560" y="41239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864608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5166360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824" y="5166360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RN-04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901952" y="49834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mascota pertenece a un cliente registrado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901952" y="53218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 (cliente_id) REFERENCES usuarios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5166360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52560" y="516636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e inventario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puede vender y cuándo hay que reponer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2039112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039112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RN-05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01952" y="185623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producto tiene un SKU irrepetible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productos.codigo_sku VARCHAR(50) UNIQUE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052560" y="2039112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052560" y="20391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79776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81528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" y="308152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RN-06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01952" y="28986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producto se vende a precio cero o negativo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323697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chk_precio_positivo CHECK (precio &gt; 0)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52560" y="3081528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30815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22192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7824" y="4123944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" y="4123944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RN-07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901952" y="3941064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nunca queda en negativo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901952" y="427939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chk_stock_no_negativo CHECK (stock_actual &gt;= 0)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52560" y="4123944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52560" y="41239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864608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5166360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824" y="5166360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RN-08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901952" y="49834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semáforo decide cuándo reponer un producto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901952" y="53218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v_semaforo_inventario — ROJO, ÁMBAR o VERDE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5166360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2C7A6B"/>
          </a:solidFill>
          <a:ln w="12700">
            <a:solidFill>
              <a:srgbClr val="2C7A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52560" y="516636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SQL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Carrito y pedido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arma, se cobra y se cierra una venta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911535" cy="822960"/>
          </a:xfrm>
          <a:prstGeom prst="roundRect">
            <a:avLst>
              <a:gd name="adj" fmla="val 5556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865376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865376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01952" y="1746504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aparece una sola vez por pedido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208483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uk_linea_pedido + CarritoCompra.agregarProducto()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052560" y="1865376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052560" y="186537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+ aplicación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523744"/>
            <a:ext cx="10911535" cy="822960"/>
          </a:xfrm>
          <a:prstGeom prst="roundRect">
            <a:avLst>
              <a:gd name="adj" fmla="val 5556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2761488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" y="276148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RN-10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01952" y="264261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compran cantidades menores o iguales a cero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298094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(cantidad &gt; 0) + IllegalArgumentException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52560" y="2761488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276148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+ aplicación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419856"/>
            <a:ext cx="10911535" cy="822960"/>
          </a:xfrm>
          <a:prstGeom prst="roundRect">
            <a:avLst>
              <a:gd name="adj" fmla="val 5556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7824" y="3657600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" y="3657600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RN-11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901952" y="353872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un pedido emitido ya no cambia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901952" y="38770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detalle_pedidos.precio_unitario — precio histórico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52560" y="3657600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52560" y="365760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315968"/>
            <a:ext cx="10911535" cy="822960"/>
          </a:xfrm>
          <a:prstGeom prst="roundRect">
            <a:avLst>
              <a:gd name="adj" fmla="val 5556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4553712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824" y="4553712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RN-12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901952" y="443484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stock suficiente no hay pedido: se revierte todo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901952" y="477316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sp_confirmar_pedido — SIGNAL y ROLLBACK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4553712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52560" y="45537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Procedimiento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12080"/>
            <a:ext cx="10911535" cy="822960"/>
          </a:xfrm>
          <a:prstGeom prst="roundRect">
            <a:avLst>
              <a:gd name="adj" fmla="val 5556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7824" y="5449824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7824" y="5449824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RN-13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901952" y="533095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 recorre una secuencia de estados definida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1901952" y="566928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 ENUM('PENDIENTE','PAGADO','ENVIADO',…)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052560" y="5449824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52560" y="544982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Suscripción mensual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ingreso recurrente del negocio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2039112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039112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RN-14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01952" y="185623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distingue la compra puntual del despacho por suscripción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pedidos.tipo_origen ENUM('COMPRA_DIRECTA','SUSCRIPCION')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052560" y="2039112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052560" y="20391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79776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81528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" y="308152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RN-15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01952" y="28986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pausa o cancela su plan cuando quiera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323697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 ENUM('ACTIVA','PAUSADA','CANCELADA')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52560" y="3081528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30815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22192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7824" y="4123944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" y="4123944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RN-16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901952" y="3941064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plan tiene frecuencia y fecha de próximo despacho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901952" y="427939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frecuencia_dias INT + proximo_despacho DATE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52560" y="4123944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52560" y="41239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e historia clínica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reserva la atención y se sigue la salud del animal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2039112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039112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RN-17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01952" y="185623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veterinario no atiende dos citas a la misma hora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 KEY uk_agenda (veterinario_id, fecha_hora)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052560" y="2039112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052560" y="20391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79776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81528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" y="308152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01952" y="28986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cita registra su desenlace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323697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 ENUM('RESERVADA','ATENDIDA','CANCELADA','NO_ASISTIO')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52560" y="3081528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30815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22192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7824" y="4123944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" y="4123944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901952" y="3941064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atención genera un único registro clínico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901952" y="427939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historias_clinicas.cita_id INT UNIQUE — relación 1 a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52560" y="4123944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52560" y="41239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864608"/>
            <a:ext cx="10911535" cy="950976"/>
          </a:xfrm>
          <a:prstGeom prst="roundRect">
            <a:avLst>
              <a:gd name="adj" fmla="val 480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5166360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824" y="5166360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RN-20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901952" y="49834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avisa 15 días antes del próximo control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901952" y="53218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v_recordatorios_salud — proxima_fecha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5166360"/>
            <a:ext cx="2240280" cy="347472"/>
          </a:xfrm>
          <a:prstGeom prst="roundRect">
            <a:avLst>
              <a:gd name="adj" fmla="val 131579"/>
            </a:avLst>
          </a:prstGeom>
          <a:solidFill>
            <a:srgbClr val="2C7A6B"/>
          </a:solidFill>
          <a:ln w="12700">
            <a:solidFill>
              <a:srgbClr val="2C7A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52560" y="516636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SQL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se hace cumplir cada regla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reparto de las 20 reglas entre las cuatro capas del sistema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64208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26680" y="17007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de 20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52374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son imposibles de violar, incluso si alguien escribe directo en la base de datos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34564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20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7307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quedan fuera del alcance de la aplicación: viven en el motor, en una vista o en el procedimiento.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4315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reglas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9028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validan dos veces a propósito: en Java para el mensaje y en la base de datos por seguridad.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5175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sola regla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44982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únicamente del código: el hash de la contraseña, que se calcula antes de guardar.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1: un cliente pide más de lo que hay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ocurre exactamente cuando se rompe la RN-12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92224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71907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arma el pedido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0078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5 unidades de «Vitaminas 60 tabs». El carrito acepta la cantidad porque es mayor que cero (RN-10).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25786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confirma el pedido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56032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sp_confirmar_pedido abre la transacción y bloquea la fila del producto con el cursor FOR UPDATE.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11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25296" y="343814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comparación falla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41985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stock real es 3 y se piden 5. La RN-12 no se cumple.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70832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70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25296" y="42976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aborta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427939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SQLSTATE '45000' con el mensaje «Stock insuficiente -&gt; Vitaminas (pedido: 5, disponible: 3)».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230368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30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25296" y="51572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revierte todo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513892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EXIT HANDLER ejecuta ROLLBACK: el pedido sigue en PENDIENTE y el stock sigue siendo 3.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998464"/>
            <a:ext cx="10911535" cy="566928"/>
          </a:xfrm>
          <a:prstGeom prst="roundRect">
            <a:avLst>
              <a:gd name="adj" fmla="val 8065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599846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 todo lo anterior fallara, la restricción CHECK (stock_actual &gt;= 0) de la RN-07 seguiría impidiendo un inventario negativo.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2: dos clientes piden el mismo horario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ocurre cuando dos personas pulsan «reservar» a la vez (RN-17)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83664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83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8105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reserva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9222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Martes 10:00 con la veterinaria Lucía Bernal. El INSERT en citas se registra sin problema.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52928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27797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intenta el mismo bloque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76148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segundo después envía la misma fecha y hora con la misma veterinaria.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822192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25296" y="37490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 datos lo rechaza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73075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uk_agenda (veterinario_id, fecha_hora) devuelve el error 1062: Duplicate entry.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791456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791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25296" y="4718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reacciona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470001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el error, marca el bloque como no disponible y le ofrece a Marco el siguiente horario libre.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742432"/>
            <a:ext cx="10911535" cy="786384"/>
          </a:xfrm>
          <a:prstGeom prst="roundRect">
            <a:avLst>
              <a:gd name="adj" fmla="val 5814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0976" y="5742432"/>
            <a:ext cx="1028974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«if» en la aplicación no habría bastado: entre la comprobación y el guardado caben las dos reservas. La restricción UNIQUE resuelve el empate dentro del motor.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las bajamos a la base de datos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razones por las que una regla no se queda solo en el código de la aplicación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73936"/>
            <a:ext cx="3417722" cy="3621024"/>
          </a:xfrm>
          <a:prstGeom prst="roundRect">
            <a:avLst>
              <a:gd name="adj" fmla="val 133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56816"/>
            <a:ext cx="28690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72384"/>
            <a:ext cx="286908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app no es la única puerta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77056"/>
            <a:ext cx="28690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script de carga, una consulta manual o una segunda aplicación escriben directo en la tabla. La restricción del motor no se puede rodear por ningún camino.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6986" y="1773936"/>
            <a:ext cx="3417722" cy="3621024"/>
          </a:xfrm>
          <a:prstGeom prst="roundRect">
            <a:avLst>
              <a:gd name="adj" fmla="val 1338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1306" y="1956816"/>
            <a:ext cx="28690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661306" y="3072384"/>
            <a:ext cx="286908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concurrencia no perdona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61306" y="3877056"/>
            <a:ext cx="28690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usuarios simultáneos pueden pasar ambos por el mismo «if» antes de que cualquiera guarde. UNIQUE y FOR UPDATE deciden el empate; una comprobación en memoria, no.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3893" y="1773936"/>
            <a:ext cx="3417722" cy="3621024"/>
          </a:xfrm>
          <a:prstGeom prst="roundRect">
            <a:avLst>
              <a:gd name="adj" fmla="val 1338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08213" y="1956816"/>
            <a:ext cx="28690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408213" y="3072384"/>
            <a:ext cx="286908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regla queda documentada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08213" y="3877056"/>
            <a:ext cx="28690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esquema es la fuente de verdad: quien lea las tablas entiende la regla sin abrir una sola clase Java, y no puede quedar desactualizada respecto del código.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0936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sigue validando: no para sustituir a la base de datos, sino para dar al usuario un mensaje claro antes de intentarlo.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garantizan estas reglas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 no depende de que alguien recuerde comprobar cada condición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95728"/>
            <a:ext cx="24809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11296"/>
            <a:ext cx="2480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50260" y="2395728"/>
            <a:ext cx="24809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3450260" y="3511296"/>
            <a:ext cx="2480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imposibles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violar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60440" y="2395728"/>
            <a:ext cx="24809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6260440" y="3511296"/>
            <a:ext cx="2480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con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070619" y="2395728"/>
            <a:ext cx="24809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9070619" y="3511296"/>
            <a:ext cx="2480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donde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aplican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626864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que más pesan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99262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RN-07  </a:t>
            </a:r>
            <a:pPr indent="0" marL="0"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el inventario nunca queda en negativo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RN-12  </a:t>
            </a:r>
            <a:pPr indent="0" marL="0"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sin stock no hay pedido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RN-17  </a:t>
            </a:r>
            <a:pPr indent="0" marL="0"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veterinario no se duplica en la agenda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03504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4  ·  Curso de E-business  ·  VetPet Surco E.I.R.L.  ·  Lima,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VetPet Surco E.I.R.L.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Reglas de negocio - VetPet Connect</dc:title>
  <dc:subject>PptxGenJS Presentation</dc:subject>
  <dc:creator>Equipo 4 - Curso de E-business</dc:creator>
  <cp:lastModifiedBy>Equipo 4 - Curso de E-business</cp:lastModifiedBy>
  <cp:revision>1</cp:revision>
  <dcterms:created xsi:type="dcterms:W3CDTF">2026-09-15T01:16:48Z</dcterms:created>
  <dcterms:modified xsi:type="dcterms:W3CDTF">2026-09-15T01:16:48Z</dcterms:modified>
</cp:coreProperties>
</file>