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VetPet Connect es el portal B2C de una veterinaria MYPE de Surco. Hoy mostramos el sistema funcionando de punta a punta.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pilares se sostienen entre sí: la tienda vende hoy, la suscripción factura cada mes y la historia clínica trae al cliente de vuelta.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RN-01: cada cuenta nace con un solo rol y los módulos se cierran por middleware, no por esconder enlaces.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flujo en vivo con una compra de dos productos, incluyendo el rechazo de tarjeta antes del cobro aprobado.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regla existe en dos capas: la aplicación (servicios, requests) y el motor (UNIQUE, CHECK, ENUM, claves foráneas).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corazón del negocio: el ingreso recurrente. En la demo se dispara a mano con artisan suscripciones:despachar y llega el correo del despacho.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RN-20 resuelve el dolor real del negocio: la gente olvida las vacunas. El aviso llega por correo con el botón de reservar cita.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convención de colas permite filtrar la bandeja de entrada de un vistazo. Responder un mensaje contesta directo al cliente gracias al Reply-To.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escribir "cuánto cuesta el alimento para cachorro" y ver la respuesta con precios reales del catálogo.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precios se exhiben con IGV incluido, como exige la norma peruana, y el comprobante desglosa base imponible, tributo y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php artisan test: 137 passed, 346 assertions. Ejecutarlo en la demo si el tiempo lo permite.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minutos: negocio → compra → asistente → administración → automatización. La bandeja de MailHog queda abierta en otra pestaña para ver los correos llegar.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sistema cubre el ciclo completo —registro, compra, comprobante, citas, suscripciones, despachos y recordatorios— con pruebas que lo respaldan.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01277" y="1656893"/>
            <a:ext cx="475488" cy="665683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14509" y="1466698"/>
            <a:ext cx="475488" cy="760781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27741" y="1656893"/>
            <a:ext cx="475488" cy="665683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084832"/>
            <a:ext cx="2948026" cy="2092147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22254" y="4614062"/>
            <a:ext cx="146304" cy="204826"/>
          </a:xfrm>
          <a:prstGeom prst="ellipse">
            <a:avLst/>
          </a:prstGeom>
          <a:solidFill>
            <a:srgbClr val="E8A33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41710" y="4555541"/>
            <a:ext cx="146304" cy="234086"/>
          </a:xfrm>
          <a:prstGeom prst="ellipse">
            <a:avLst/>
          </a:prstGeom>
          <a:solidFill>
            <a:srgbClr val="E8A33D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61166" y="4614062"/>
            <a:ext cx="146304" cy="204826"/>
          </a:xfrm>
          <a:prstGeom prst="ellipse">
            <a:avLst/>
          </a:prstGeom>
          <a:solidFill>
            <a:srgbClr val="E8A33D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61320" y="4745736"/>
            <a:ext cx="907085" cy="643738"/>
          </a:xfrm>
          <a:prstGeom prst="ellipse">
            <a:avLst/>
          </a:prstGeom>
          <a:solidFill>
            <a:srgbClr val="E8A33D">
              <a:alpha val="70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182880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VetPet Connect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017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E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del sistema: tienda en línea, suscripción mensual e historia clínica digital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411480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114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E-business · Equipo 4 · 2026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Surco E.I.R.L. · Santiago de Surco, Lima · Empresa ficticia con fines académicos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pilares, un solo portal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antes vivía en el mostrador y en una libreta, hoy vive en línea.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52044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187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Tienda en línea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5204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Alimento, arena, accesorios y medicamentos con stock real, carrito y pago con tarjeta.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352044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103120"/>
            <a:ext cx="777240" cy="7772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87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Suscripción mensual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5204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alimento llega solo cada mes: comodidad para el cliente e ingreso recurrente para la tienda.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52044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58200" y="2103120"/>
            <a:ext cx="777240" cy="7772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5820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</a:t>
            </a:r>
            <a:endParaRPr lang="en-US" sz="187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clínica digital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35204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Vacunas y controles registrados, con recordatorio automático 15 días antes de cada fecha.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EF5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303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· MYPE de Surco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53035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EEF5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66160" y="5303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 + MySQL 8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530352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EF5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0" y="53035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PHP 8.2 · sin frameworks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Connect · Demo del sistema · Equipo 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roles, módulos excluyentes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035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187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0848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· Carrito · Pago · Reservar cita · Mis mascotas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53035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828800"/>
            <a:ext cx="777240" cy="7772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187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VETERINARIO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20848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clínica: atiende citas y cierra desenlaces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53035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794760"/>
            <a:ext cx="777240" cy="7772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794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7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405079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inventario, pedidos, ingreso recurrente, recordatorios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3337560"/>
            <a:ext cx="530352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3794760"/>
            <a:ext cx="777240" cy="7772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3794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7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INVITADO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405079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institucional y formulario de contacto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EEF5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55321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RN-01 · un rol por persona, excluyente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553212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se comprueba en el servidor: un cliente que pide la URL del admin recibe 403.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Connect · Demo del sistema · Equipo 4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 compra, paso a paso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822960" cy="822960"/>
          </a:xfrm>
          <a:prstGeom prst="ellipse">
            <a:avLst/>
          </a:prstGeom>
          <a:solidFill>
            <a:srgbClr val="1452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554480" y="2240280"/>
            <a:ext cx="1371600" cy="0"/>
          </a:xfrm>
          <a:prstGeom prst="line">
            <a:avLst/>
          </a:prstGeom>
          <a:noFill/>
          <a:ln w="38100">
            <a:solidFill>
              <a:srgbClr val="D9E5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8288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71800" y="1828800"/>
            <a:ext cx="822960" cy="822960"/>
          </a:xfrm>
          <a:prstGeom prst="ellipse">
            <a:avLst/>
          </a:prstGeom>
          <a:solidFill>
            <a:srgbClr val="1452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718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840480" y="2240280"/>
            <a:ext cx="1371600" cy="0"/>
          </a:xfrm>
          <a:prstGeom prst="line">
            <a:avLst/>
          </a:prstGeom>
          <a:noFill/>
          <a:ln w="38100">
            <a:solidFill>
              <a:srgbClr val="D9E5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6888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acumula, congela precio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57800" y="1828800"/>
            <a:ext cx="822960" cy="822960"/>
          </a:xfrm>
          <a:prstGeom prst="ellipse">
            <a:avLst/>
          </a:prstGeom>
          <a:solidFill>
            <a:srgbClr val="1452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578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126480" y="2240280"/>
            <a:ext cx="1371600" cy="0"/>
          </a:xfrm>
          <a:prstGeom prst="line">
            <a:avLst/>
          </a:prstGeom>
          <a:noFill/>
          <a:ln w="38100">
            <a:solidFill>
              <a:srgbClr val="D9E5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y descuenta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43800" y="182880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438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8412480" y="2240280"/>
            <a:ext cx="1371600" cy="0"/>
          </a:xfrm>
          <a:prstGeom prst="line">
            <a:avLst/>
          </a:prstGeom>
          <a:noFill/>
          <a:ln w="38100">
            <a:solidFill>
              <a:srgbClr val="D9E5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tokenizada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829800" y="1828800"/>
            <a:ext cx="822960" cy="822960"/>
          </a:xfrm>
          <a:prstGeom prst="ellipse">
            <a:avLst/>
          </a:prstGeom>
          <a:solidFill>
            <a:srgbClr val="1452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8298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32688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correo, con IGV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686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protege cada salto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14400" y="48280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143000" y="47183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RN-12 · si una sola línea se queda sin stock, no se registra NADA (transacción con FOR UPDATE)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14400" y="515721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143000" y="504748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RN-21 · sin aprobación del emisor no hay PAGADO, y todo intento queda en el historial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14400" y="548640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143000" y="537667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RN-14 · el pedido nace COMPRA_DIRECTA; los despachos del plan nacen SUSCRIPCION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Connect · Demo del sistema · Equipo 4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reglas viven en el motor, no solo en el código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3035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737360"/>
            <a:ext cx="566928" cy="566928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64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RN-09 · Acumula, no duplica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19476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aparece una vez por pedido; repetirlo suma cantidades.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3035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1737360"/>
            <a:ext cx="566928" cy="566928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28232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64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RN-11 · Precio congelado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19476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guarda el precio del momento: mañana no cambia lo que ya pediste.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98648"/>
            <a:ext cx="53035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218688"/>
            <a:ext cx="566928" cy="566928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3218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64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081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RN-07 · Stock nunca negativo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4290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en la tabla y transacción al descontar: dos capas, misma regla.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2898648"/>
            <a:ext cx="53035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28232" y="3218688"/>
            <a:ext cx="566928" cy="566928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28232" y="3218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64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081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RN-05 · SKU irrepetible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4290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en el motor: dos altas con el mismo SKU, una se rechaza.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79976"/>
            <a:ext cx="53035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" y="4700016"/>
            <a:ext cx="566928" cy="566928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4672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64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45628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RN-13 · Estados encadenados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49103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→ PAGADO → ENVIADO → ENTREGADO, sin saltarse pasos.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4379976"/>
            <a:ext cx="53035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28232" y="4700016"/>
            <a:ext cx="566928" cy="566928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28232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64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45628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RN-22 · Un plan vigente por mascota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49103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duplica la suscripción del mismo producto para la misma mascota.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Connect · Demo del sistema · Equipo 4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ingreso que llega sin que nadie lo pida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52044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contrata su plan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alimento, mascota y frecuencia.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103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26280" y="1554480"/>
            <a:ext cx="352044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0060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madrugada, 3:00 a. m.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suscripciones:despachar revisa lo que venció.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103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503920" y="1554480"/>
            <a:ext cx="352044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77824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emite el pedido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Descuenta stock, salta el ciclo y avisa por correo.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794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RN-22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97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planes duplicados para la misma mascota y producto.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379476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83280" y="3794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4297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o cancelar cuando quiera; lo cancelado no se reactiva.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79476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0" y="3794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4297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despachar, el próximo toca un ciclo completo más tarde.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52560" y="379476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52560" y="3794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RN-12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4297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stock no se despacha y la fecha NO avanza: se reintenta solo.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Connect · Demo del sistema · Equipo 4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Salud que se recuerda sola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7007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 digital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atención guarda diagnóstico, tratamiento y próxima fecha.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548640" cy="5486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70662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sin choques (RN-17)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017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veterinario no puede tener dos citas a la misma hora: lo impide el motor.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49040"/>
            <a:ext cx="548640" cy="5486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7124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Desenlace profesional (RN-18)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023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veterinario cierra la cita: ATENDIDA, CANCELADA o NO_ASISTIO.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4754880"/>
            <a:ext cx="548640" cy="5486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</a:t>
            </a:r>
            <a:endParaRPr lang="en-US" sz="132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7183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RN-04 · la mascota es del cliente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029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mascota pertenece a una cuenta y solo su dueño la ve.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417320"/>
            <a:ext cx="534924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836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recordatorio que no se olvida (RN-20)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949440" y="3291840"/>
            <a:ext cx="4023360" cy="0"/>
          </a:xfrm>
          <a:prstGeom prst="line">
            <a:avLst/>
          </a:prstGeom>
          <a:noFill/>
          <a:ln w="38100">
            <a:solidFill>
              <a:srgbClr val="D9E5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0840" y="3108960"/>
            <a:ext cx="365760" cy="365760"/>
          </a:xfrm>
          <a:prstGeom prst="ellipse">
            <a:avLst/>
          </a:prstGeom>
          <a:solidFill>
            <a:srgbClr val="2C7A6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6364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el control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58200" y="310896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0100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 días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al cliente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241280" y="3108960"/>
            <a:ext cx="365760" cy="365760"/>
          </a:xfrm>
          <a:prstGeom prst="ellipse">
            <a:avLst/>
          </a:prstGeom>
          <a:solidFill>
            <a:srgbClr val="14524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78408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55548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 aplicada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4480560"/>
            <a:ext cx="4663440" cy="384048"/>
          </a:xfrm>
          <a:prstGeom prst="roundRect">
            <a:avLst>
              <a:gd name="adj" fmla="val 50000"/>
            </a:avLst>
          </a:prstGeom>
          <a:solidFill>
            <a:srgbClr val="EEF5F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83680" y="44805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a. m. · una sola vez por control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4983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Deduplicación por caché: el cron corre cada día, pero el cliente recibe UN aviso por control.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Connect · Demo del sistema · Equipo 4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Ocho correos, dos direcciones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9496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→ cliente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no-reply@vetpetsurco.pe · asunto con " | VetPet Surco"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33172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Bienvenida al crear cuenta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Pedido registrado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Comprobante con IGV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Cita confirmada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Cambio de suscripción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Despacho mensual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💉 Recordatorio de salud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349240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836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→ empresa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contacto@vetpetsurco.pe · Reply-To del cliente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0" y="23774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EF5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23774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[PEDIDO]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377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sobre su compra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9260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EF5F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29260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[CONSULTA VET]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926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 hora médica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347472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EF5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3474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[SALUD]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474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vacunas y desparasitación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0233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EF5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0" y="40233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[GROOMING]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023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baño y peluquería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45720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EF5F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0" y="4572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[SUSCRIPCION]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572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plan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749808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55778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fallo de correo nunca rompe una compra (CorreoService)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5577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 marca con color por tipo · fuente única: config/correos.php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Connect · Demo del sistema · Equipo 4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Pelusa: el asistente que consulta la base de datos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76072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760720" cy="640080"/>
          </a:xfrm>
          <a:prstGeom prst="roundRect">
            <a:avLst>
              <a:gd name="adj" fmla="val 20000"/>
            </a:avLst>
          </a:prstGeom>
          <a:solidFill>
            <a:srgbClr val="14524A"/>
          </a:solidFill>
          <a:ln/>
        </p:spPr>
      </p:sp>
      <p:sp>
        <p:nvSpPr>
          <p:cNvPr id="9" name="Shape 7"/>
          <p:cNvSpPr/>
          <p:nvPr/>
        </p:nvSpPr>
        <p:spPr>
          <a:xfrm>
            <a:off x="845637" y="1518636"/>
            <a:ext cx="62179" cy="870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38906" y="1493764"/>
            <a:ext cx="62179" cy="994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032175" y="1518636"/>
            <a:ext cx="62179" cy="870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1574597"/>
            <a:ext cx="385511" cy="2735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1371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Pelusa · Asistente VetPet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2286000"/>
            <a:ext cx="3840480" cy="685800"/>
          </a:xfrm>
          <a:prstGeom prst="roundRect">
            <a:avLst>
              <a:gd name="adj" fmla="val 18667"/>
            </a:avLst>
          </a:prstGeom>
          <a:solidFill>
            <a:srgbClr val="1452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68880" y="2286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 mi pedido?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200400"/>
            <a:ext cx="4206240" cy="1371600"/>
          </a:xfrm>
          <a:prstGeom prst="roundRect">
            <a:avLst>
              <a:gd name="adj" fmla="val 933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2918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son tus últimos pedidos: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Pedido 38 del 22/09/2026: S/ 225.40 — Pagado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Pedido 37 del 22/09/2026: S/ 299.80 — Pagado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84632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EEF5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8463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¿Cuánto tarda?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48463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EF5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108960" y="4846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Menú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349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 de la cuenta del usuario, no respuestas inventadas.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1645920"/>
            <a:ext cx="548640" cy="5486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32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16093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de intenciones en español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1920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y palabras clave ponderadas, con normalización de acentos. Sin IA externa.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2743200"/>
            <a:ext cx="548640" cy="5486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751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32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27066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la base, no un modelo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Pedidos, stock, precios, carrito, citas y suscripciones vía endpoint autenticado.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3840480"/>
            <a:ext cx="548640" cy="5486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751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32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38039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RN-01/RN-04 + throttling + CSRF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responde con datos del propio usuario. Nada de salidas de tono.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0" y="4937760"/>
            <a:ext cx="548640" cy="548640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7512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🛟</a:t>
            </a:r>
            <a:endParaRPr lang="en-US" sz="1320" dirty="0"/>
          </a:p>
        </p:txBody>
      </p:sp>
      <p:sp>
        <p:nvSpPr>
          <p:cNvPr id="37" name="Text 35"/>
          <p:cNvSpPr txBox="1"/>
          <p:nvPr/>
        </p:nvSpPr>
        <p:spPr>
          <a:xfrm>
            <a:off x="7406640" y="49011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entiende, lo admite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406640" y="5212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 temas en vez de inventar: sin alucinaciones de precios ni stock.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Connect · Demo del sistema · Equipo 4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del Perú: IGV y comprobante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023360" cy="411480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1737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IGV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031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6576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de venta al público con tributo incluido (D.S. 055-99-EF). El desglose aparece en carrito, checkout y comprobante.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676656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212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por correo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057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B001-000035 · Pedido 35 · 22/09/2026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 perro adulto 15 kg  1 × 189.90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784080" y="2514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189.90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212080" y="2971800"/>
            <a:ext cx="6126480" cy="0"/>
          </a:xfrm>
          <a:prstGeom prst="line">
            <a:avLst/>
          </a:prstGeom>
          <a:noFill/>
          <a:ln w="9525">
            <a:solidFill>
              <a:srgbClr val="D9E5DF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21208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sanitaria 10 kg  1 × 25.50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784080" y="3017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25.50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212080" y="3474720"/>
            <a:ext cx="6126480" cy="0"/>
          </a:xfrm>
          <a:prstGeom prst="line">
            <a:avLst/>
          </a:prstGeom>
          <a:noFill/>
          <a:ln w="9525">
            <a:solidFill>
              <a:srgbClr val="D9E5DF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21208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(sin IGV)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3520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180.85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212080" y="3977640"/>
            <a:ext cx="6126480" cy="0"/>
          </a:xfrm>
          <a:prstGeom prst="line">
            <a:avLst/>
          </a:prstGeom>
          <a:noFill/>
          <a:ln w="9525">
            <a:solidFill>
              <a:srgbClr val="D9E5DF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521208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IGV 18%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784080" y="4023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34.55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212080" y="4480560"/>
            <a:ext cx="6126480" cy="0"/>
          </a:xfrm>
          <a:prstGeom prst="line">
            <a:avLst/>
          </a:prstGeom>
          <a:noFill/>
          <a:ln w="9525">
            <a:solidFill>
              <a:srgbClr val="D9E5DF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5212080" y="4526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pagado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4526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215.40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212080" y="502920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EEF5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212080" y="5029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sin validez tributaria (proyecto académico)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Connect · Demo del sistema · Equipo 4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prueba es parte del sistema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65176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ejecutadas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265176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83280" y="1920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346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aserciones verdes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65176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0" y="1920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1645920"/>
            <a:ext cx="265176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52560" y="1920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por regla (app + motor)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  <a:effectLst>
            <a:outerShdw sx="100000" sy="100000" kx="0" ky="0" algn="bl" rotWithShape="0" blurRad="101600" dist="38100" dir="5400000">
              <a:srgbClr val="14524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MySQL real, no contra un simulador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9377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comprueban cada regla en la aplicación y en el motor (ENUM, UNIQUE, CHECK, claves foráneas), sobre una base vetpet_connect_test aislada con RefreshDatabase. Corre igual en Docker y con MySQL local.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Connect · Demo del sistema · Equipo 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482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3" name="Shape 1"/>
          <p:cNvSpPr/>
          <p:nvPr/>
        </p:nvSpPr>
        <p:spPr>
          <a:xfrm>
            <a:off x="11301984" y="429768"/>
            <a:ext cx="91440" cy="146304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4" name="Shape 2"/>
          <p:cNvSpPr/>
          <p:nvPr/>
        </p:nvSpPr>
        <p:spPr>
          <a:xfrm>
            <a:off x="11439144" y="466344"/>
            <a:ext cx="91440" cy="12801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548640"/>
            <a:ext cx="566928" cy="402336"/>
          </a:xfrm>
          <a:prstGeom prst="ellipse">
            <a:avLst/>
          </a:prstGeom>
          <a:solidFill>
            <a:srgbClr val="EE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11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Guion de la demo en vivo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institucional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783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contacto → llega al buzón con su cola [PEDIDO], [CONSULTA VET]…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como cliente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7432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con IGV → checkout con tarjeta 3D → rechazo y luego pago aprobado con confeti.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Pelusa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703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"¿Dónde está mi pedido?" y "¿cuánto cuesta el alimento?": respuestas con datos reales.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admin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6634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inventario, pedidos que avanzan de estado y recordatorios de salud.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30352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5303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5257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5623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suscripciones:despachar y vetpet:recordatorios: los correos salen solos.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Connect · Demo del sistema · Equipo 4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5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9450" y="4264762"/>
            <a:ext cx="402336" cy="56327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72954" y="4103827"/>
            <a:ext cx="402336" cy="643738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6458" y="4264762"/>
            <a:ext cx="402336" cy="56327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4626864"/>
            <a:ext cx="2494483" cy="1770278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1014" y="636422"/>
            <a:ext cx="146304" cy="204826"/>
          </a:xfrm>
          <a:prstGeom prst="ellipse">
            <a:avLst/>
          </a:prstGeom>
          <a:solidFill>
            <a:srgbClr val="E8A33D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0470" y="577901"/>
            <a:ext cx="146304" cy="234086"/>
          </a:xfrm>
          <a:prstGeom prst="ellipse">
            <a:avLst/>
          </a:prstGeom>
          <a:solidFill>
            <a:srgbClr val="E8A33D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239926" y="636422"/>
            <a:ext cx="146304" cy="204826"/>
          </a:xfrm>
          <a:prstGeom prst="ellipse">
            <a:avLst/>
          </a:prstGeom>
          <a:solidFill>
            <a:srgbClr val="E8A33D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768096"/>
            <a:ext cx="907085" cy="643738"/>
          </a:xfrm>
          <a:prstGeom prst="ellipse">
            <a:avLst/>
          </a:prstGeom>
          <a:solidFill>
            <a:srgbClr val="E8A33D">
              <a:alpha val="6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945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VetPet Connect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9184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E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mostrador de Surco al comercio electrónico, sin perder el trato de barrio.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438912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297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· ¿preguntas?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4 · Curso de E-business · 2026 · Empresa ficticia con fines académicos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VetPet Connect — Demo del sistema</dc:title>
  <dc:subject>PptxGenJS Presentation</dc:subject>
  <dc:creator>Equipo 4 — Curso de E-business</dc:creator>
  <cp:lastModifiedBy>Equipo 4 — Curso de E-business</cp:lastModifiedBy>
  <cp:revision>1</cp:revision>
  <dcterms:created xsi:type="dcterms:W3CDTF">2026-09-23T00:30:22Z</dcterms:created>
  <dcterms:modified xsi:type="dcterms:W3CDTF">2026-09-23T00:30:22Z</dcterms:modified>
</cp:coreProperties>
</file>