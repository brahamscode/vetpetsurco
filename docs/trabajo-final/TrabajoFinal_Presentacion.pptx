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tardes. Voy a presentar VetPet Connect, la plataforma de comercio electrónico y salud animal que desarrollé para VetPet Surco, una veterinaria de barrio de Santiago de Surco.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bloques. El hilo es siempre el mismo: cada decisión técnica responde a un problema del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cinco problemas son el origen de todo. Cada requerimiento del sistema responde a uno de ellos, y eso está trazado en el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objetivos se miden con información que la propia plataforma registra: no hay que montar un estudio aparte para evaluarlos.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B2C porque el comprador es el consumidor final, el precio es público y uniforme, y el volumen por transacción es pequeño con frecuencia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el SRM: lo reconocemos como brecha y sabemos en qué orden cerrarla. Primero el kardex y el precio de compra, después el proveedor y la orden de compra.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PHP 8.2 y no una versión más nueva es una decisión: Laravel 12 es la última rama que lo admite, y 8.2 es lo que ofrecen los hostings peruanos económicos.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implementado es una tienda virtual, pero acoplada a un módulo de salud animal: esa combinación es la que genera el motivo del siguiente contacto.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entre decir que el sistema cumple las reglas y demostrarlo: si un cambio futuro rompe una, la prueba lo dice en el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captura de abajo es el sistema real bloqueando una compra sin stock, con la regla RN-12 señalada sobre el aviso.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cobro rechazado deja el pedido pendiente con el intento registrado y el cliente puede reintentar: eso es la regla RN-21.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de fondo: las reglas críticas no se hacen cumplir solo en la pantalla. La pantalla cambia y el código se equivoca; una restricción en la tabla rechaza el dato venga de donde venga.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del CMS conviene decirlo en positivo: no es que no supiéramos usar WordPress, es que el núcleo del problema no es de comercio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muestra la URL pública del despliegue. El blog es parte de la misma plataforma, no un sitio aparte.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cinco lecciones son las del documento. La quinta es la que más defiende el trabajo: reconocer la brecha del SRM con su razón y su plan vale más que una presentación sin fisuras.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Quedo atento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VetPetSurco/b8d13659-c8d7-578f-913d-52522fae5ff2/scratchpad/ppt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66544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514600" y="159105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Superior SISE  ·  Desarrollo de Sistemas de Información  ·  E-Business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2514600" y="201168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VetPet Connect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2514600" y="292608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integral de comercio electrónico y salud animal para VetPet Surco E.I.R.L.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514600" y="3474720"/>
            <a:ext cx="3200400" cy="384048"/>
          </a:xfrm>
          <a:prstGeom prst="roundRect">
            <a:avLst>
              <a:gd name="adj" fmla="val 119048"/>
            </a:avLst>
          </a:prstGeom>
          <a:solidFill>
            <a:srgbClr val="2C7A6B"/>
          </a:solidFill>
          <a:ln w="12700">
            <a:solidFill>
              <a:srgbClr val="2C7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14600" y="3474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Investigación Aplicada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23036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 Brahams Paredes Paulino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VI  ·  Año académico 2026  ·  Lima, Perú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veremos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problema del negocio al sistema funcionando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82496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828800"/>
            <a:ext cx="402336" cy="402336"/>
          </a:xfrm>
          <a:prstGeom prst="ellipse">
            <a:avLst/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1737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negocio y su problema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02996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Diagnóstico, misión, visión y objetivos medibles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2633472"/>
            <a:ext cx="402336" cy="402336"/>
          </a:xfrm>
          <a:prstGeom prst="ellipse">
            <a:avLst/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26464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e-Business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426464" y="28346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y la integración con CRM, ERP, SRM y E-Procurement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3438144"/>
            <a:ext cx="402336" cy="402336"/>
          </a:xfrm>
          <a:prstGeom prst="ellipse">
            <a:avLst/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26464" y="33467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contenidos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36393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está construido y qué publica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96512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4242816"/>
            <a:ext cx="402336" cy="402336"/>
          </a:xfrm>
          <a:prstGeom prst="ellipse">
            <a:avLst/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26464" y="4151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Reglas, carrito y pago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426464" y="44439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22 reglas, el flujo de compra y la pasarela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901184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" y="5047488"/>
            <a:ext cx="402336" cy="402336"/>
          </a:xfrm>
          <a:prstGeom prst="ellipse">
            <a:avLst/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5047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26464" y="49560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CMS y marketing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26464" y="52486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protege y cómo se da a conocer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705856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" y="5852160"/>
            <a:ext cx="402336" cy="402336"/>
          </a:xfrm>
          <a:prstGeom prst="ellipse">
            <a:avLst/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9536" y="5852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426464" y="5760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y conclusiones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1426464" y="60533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puede ver funcionando hoy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empresa y su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MYPE de un local, seis colaboradores, operación totalmente manual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10911535" cy="713232"/>
          </a:xfrm>
          <a:prstGeom prst="roundRect">
            <a:avLst>
              <a:gd name="adj" fmla="val 641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0078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N-01  Agenda telefónica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00784"/>
            <a:ext cx="70710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por llamada y WhatsApp: dos mascotas podían quedar con el mismo veterinario a la misma hora.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10911535" cy="713232"/>
          </a:xfrm>
          <a:prstGeom prst="roundRect">
            <a:avLst>
              <a:gd name="adj" fmla="val 641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53288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N-02  Fichas de cartón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532888"/>
            <a:ext cx="70710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clínico archivado en el local, imposible de consultar de forma remota.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64992"/>
            <a:ext cx="10911535" cy="713232"/>
          </a:xfrm>
          <a:prstGeom prst="roundRect">
            <a:avLst>
              <a:gd name="adj" fmla="val 641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36499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N-03  Inventario en cuaderno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364992"/>
            <a:ext cx="70710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Quiebres de stock del alimento, que es lo que más rota.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197096"/>
            <a:ext cx="10911535" cy="713232"/>
          </a:xfrm>
          <a:prstGeom prst="roundRect">
            <a:avLst>
              <a:gd name="adj" fmla="val 641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19709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N-04  Sin canal en línea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197096"/>
            <a:ext cx="70710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ingreso dependía del tránsito peatonal y caía fuera de campaña.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911535" cy="713232"/>
          </a:xfrm>
          <a:prstGeom prst="roundRect">
            <a:avLst>
              <a:gd name="adj" fmla="val 641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02920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N-05  Sin recordatorios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5029200"/>
            <a:ext cx="70710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olvidaba la vacuna y la recompra: se perdía la fidelización.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276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entrevistas a gerencia, veterinarios y encargada de tienda, más la observación de una jornada completa de atención.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Misión, visión y objetivos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empresa quiere y cómo sabremos si se logró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36896" cy="1883664"/>
          </a:xfrm>
          <a:prstGeom prst="roundRect">
            <a:avLst>
              <a:gd name="adj" fmla="val 242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47088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39696"/>
            <a:ext cx="482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Hacerlo simple y predecible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96896"/>
            <a:ext cx="482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la salud de las mascotas de Surco y que para sus dueños sea simple atender a su animal: comprar, reservar su cita y conocer su historia clínica en cualquier momento.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4720" y="1645920"/>
            <a:ext cx="5336896" cy="1883664"/>
          </a:xfrm>
          <a:prstGeom prst="roundRect">
            <a:avLst>
              <a:gd name="adj" fmla="val 2427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0752" y="1847088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70752" y="2139696"/>
            <a:ext cx="482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 de Lima Sur al 2030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70752" y="2596896"/>
            <a:ext cx="482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Reconocidos porque ningún cliente olvida un control de salud de su mascota ni se queda sin su alimento.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3503066" cy="2103120"/>
          </a:xfrm>
          <a:prstGeom prst="roundRect">
            <a:avLst>
              <a:gd name="adj" fmla="val 2174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85616"/>
            <a:ext cx="35030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535424"/>
            <a:ext cx="3503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OE-1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4632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recurrentes por suscripción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60093" y="5358384"/>
            <a:ext cx="1463040" cy="310896"/>
          </a:xfrm>
          <a:prstGeom prst="roundRect">
            <a:avLst>
              <a:gd name="adj" fmla="val 14705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60093" y="53583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4314" y="3657600"/>
            <a:ext cx="3503066" cy="2103120"/>
          </a:xfrm>
          <a:prstGeom prst="roundRect">
            <a:avLst>
              <a:gd name="adj" fmla="val 2174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44314" y="3785616"/>
            <a:ext cx="35030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−40%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4344314" y="4535424"/>
            <a:ext cx="3503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618634" y="484632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Inasistencias a controles de salud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64328" y="5358384"/>
            <a:ext cx="1463040" cy="310896"/>
          </a:xfrm>
          <a:prstGeom prst="roundRect">
            <a:avLst>
              <a:gd name="adj" fmla="val 14705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64328" y="53583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8549" y="3657600"/>
            <a:ext cx="3503066" cy="2103120"/>
          </a:xfrm>
          <a:prstGeom prst="roundRect">
            <a:avLst>
              <a:gd name="adj" fmla="val 2174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8549" y="3785616"/>
            <a:ext cx="35030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8048549" y="4535424"/>
            <a:ext cx="3503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OE-3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322869" y="484632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con descuento de inventario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68562" y="5358384"/>
            <a:ext cx="1463040" cy="310896"/>
          </a:xfrm>
          <a:prstGeom prst="roundRect">
            <a:avLst>
              <a:gd name="adj" fmla="val 14705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68562" y="53583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negocio: B2C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vende directo al consumidor final, sin intermediarios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82496"/>
            <a:ext cx="10911535" cy="868680"/>
          </a:xfrm>
          <a:prstGeom prst="roundRect">
            <a:avLst>
              <a:gd name="adj" fmla="val 5263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682496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mascota come todos los meses: el gasto es recurrente y predecible. Quien captura esa recurrencia estabiliza su caja.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503066" cy="1920240"/>
          </a:xfrm>
          <a:prstGeom prst="roundRect">
            <a:avLst>
              <a:gd name="adj" fmla="val 238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944368"/>
            <a:ext cx="2991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236976"/>
            <a:ext cx="29910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 directa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694176"/>
            <a:ext cx="29910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en línea con stock real. Ingreso variable, igual que en el mostrador.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4314" y="2743200"/>
            <a:ext cx="3503066" cy="1920240"/>
          </a:xfrm>
          <a:prstGeom prst="roundRect">
            <a:avLst>
              <a:gd name="adj" fmla="val 2381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0346" y="2944368"/>
            <a:ext cx="2991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2 · EL EJE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600346" y="3236976"/>
            <a:ext cx="29910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Suscripción mensual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00346" y="3694176"/>
            <a:ext cx="29910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planes: Básico S/ 99, Cuidado S/ 149, Integral S/ 219. Se conoce antes de que empiece el 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8549" y="2743200"/>
            <a:ext cx="3503066" cy="1920240"/>
          </a:xfrm>
          <a:prstGeom prst="roundRect">
            <a:avLst>
              <a:gd name="adj" fmla="val 238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4581" y="2944368"/>
            <a:ext cx="2991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304581" y="3236976"/>
            <a:ext cx="29910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veterinarios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04581" y="3694176"/>
            <a:ext cx="29910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Consulta, vacunación, desparasitación y grooming. Traen al cliente y con él la venta cruzada.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882896"/>
            <a:ext cx="10911535" cy="877824"/>
          </a:xfrm>
          <a:prstGeom prst="roundRect">
            <a:avLst>
              <a:gd name="adj" fmla="val 52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882896"/>
            <a:ext cx="1036289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oportunidad.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peruano de mascotas crece de forma sostenida, pero la venta por canal electrónico sigue siendo una fracción menor del total. Esa brecha es el espacio para un negocio independiente.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 la gestión empresarial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pilares tiene la plataforma y cuál falta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3503066" cy="3200400"/>
          </a:xfrm>
          <a:prstGeom prst="roundRect">
            <a:avLst>
              <a:gd name="adj" fmla="val 142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65376"/>
            <a:ext cx="29544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0592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816352"/>
            <a:ext cx="15544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8163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10128"/>
            <a:ext cx="29544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cliente y sus mascotas, historia clínica, pedidos y suscripciones. Ocho correos automáticos y el recordatorio de control a 15 días.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4314" y="1700784"/>
            <a:ext cx="3503066" cy="3200400"/>
          </a:xfrm>
          <a:prstGeom prst="roundRect">
            <a:avLst>
              <a:gd name="adj" fmla="val 142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8634" y="1865376"/>
            <a:ext cx="29544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18634" y="2450592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recursos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8634" y="2816352"/>
            <a:ext cx="1554480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8634" y="28163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18634" y="3310128"/>
            <a:ext cx="29544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con descuento en tiempo real, punto de reorden, semáforo y pedidos con sus estados. Falta el kardex y el precio de compra.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8549" y="1700784"/>
            <a:ext cx="3503066" cy="3200400"/>
          </a:xfrm>
          <a:prstGeom prst="roundRect">
            <a:avLst>
              <a:gd name="adj" fmla="val 142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2869" y="1865376"/>
            <a:ext cx="29544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SRM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322869" y="2450592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proveedores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2869" y="2816352"/>
            <a:ext cx="1554480" cy="347472"/>
          </a:xfrm>
          <a:prstGeom prst="roundRect">
            <a:avLst>
              <a:gd name="adj" fmla="val 131579"/>
            </a:avLst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2869" y="28163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22869" y="3310128"/>
            <a:ext cx="29544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existe. El semáforo avisa que hay que reponer, pero nadie emite la orden de compra: ahí se corta el proceso.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047488"/>
            <a:ext cx="10911535" cy="841248"/>
          </a:xfrm>
          <a:prstGeom prst="roundRect">
            <a:avLst>
              <a:gd name="adj" fmla="val 5435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0976" y="5047488"/>
            <a:ext cx="1028974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E-Procurement.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dos o tres proveedores locales no corresponde un modelo completo con subastas ni catálogos de proveedor. Sí corresponde la compra directa automatizada: el semáforo detecta, el sistema arma la orden y el administrador la aprueba.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qué está construido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estándar y gratuito: la empresa debe poder cambiar de programador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2577008" cy="2286000"/>
          </a:xfrm>
          <a:prstGeom prst="roundRect">
            <a:avLst>
              <a:gd name="adj" fmla="val 200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865376"/>
            <a:ext cx="213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139696"/>
            <a:ext cx="213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8.2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651760"/>
            <a:ext cx="2138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12.69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Blade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servicios de dominio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8027" y="1700784"/>
            <a:ext cx="2577008" cy="2286000"/>
          </a:xfrm>
          <a:prstGeom prst="roundRect">
            <a:avLst>
              <a:gd name="adj" fmla="val 200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7483" y="1865376"/>
            <a:ext cx="213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637483" y="2139696"/>
            <a:ext cx="213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8.0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37483" y="2651760"/>
            <a:ext cx="2138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tablas, InnoDB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en el motor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versionadas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5974" y="1700784"/>
            <a:ext cx="2577008" cy="2286000"/>
          </a:xfrm>
          <a:prstGeom prst="roundRect">
            <a:avLst>
              <a:gd name="adj" fmla="val 2000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5430" y="1865376"/>
            <a:ext cx="213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15430" y="2139696"/>
            <a:ext cx="213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15430" y="2651760"/>
            <a:ext cx="2138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php:8.2-apache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mysql:8.0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MailHog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73922" y="1700784"/>
            <a:ext cx="2577008" cy="2286000"/>
          </a:xfrm>
          <a:prstGeom prst="roundRect">
            <a:avLst>
              <a:gd name="adj" fmla="val 200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93378" y="1865376"/>
            <a:ext cx="213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193378" y="2139696"/>
            <a:ext cx="213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PHPUnit 11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93378" y="2651760"/>
            <a:ext cx="2138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 pruebas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Pint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 ramas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16966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decisión que sostiene todo lo demás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535424"/>
            <a:ext cx="5336896" cy="1426464"/>
          </a:xfrm>
          <a:prstGeom prst="roundRect">
            <a:avLst>
              <a:gd name="adj" fmla="val 320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4736592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· LA APLICACIÓN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029200"/>
            <a:ext cx="482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servicio decide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5486400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la regla y responde en lenguaje del cliente.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4720" y="4535424"/>
            <a:ext cx="5336896" cy="1426464"/>
          </a:xfrm>
          <a:prstGeom prst="roundRect">
            <a:avLst>
              <a:gd name="adj" fmla="val 320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70752" y="4736592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 · LA BASE DE DATOS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70752" y="5029200"/>
            <a:ext cx="482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la garantiza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70752" y="5486400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un error futuro se salte la capa anterior, el dato inválido no entra.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publica la plataforma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estático y contenido que sale de la base de datos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5336896" cy="4023360"/>
          </a:xfrm>
          <a:prstGeom prst="roundRect">
            <a:avLst>
              <a:gd name="adj" fmla="val 1136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01952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482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lee sin cuenta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51760"/>
            <a:ext cx="482483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Inicio, Nosotros, Productos y Contacto.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corporativo con cuatro artículos que publican el caso del negocio.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y condiciones: pago, despacho, suscripción, derecho de retracto y libro de reclamaciones.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privacidad conforme a la Ley N.° 29733, con derechos ARCO y uso de cookies.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4720" y="1700784"/>
            <a:ext cx="5336896" cy="4023360"/>
          </a:xfrm>
          <a:prstGeom prst="roundRect">
            <a:avLst>
              <a:gd name="adj" fmla="val 1136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0752" y="1901952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70752" y="2194560"/>
            <a:ext cx="482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sale de los datos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70752" y="2651760"/>
            <a:ext cx="482483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el stock real y el semáforo de reposición.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persistente con subtotales recalculados.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pedidos con su estado y el resultado del cobro.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que muestra solo los horarios realmente libres.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con la fecha del próximo control.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sitio generado desde las páginas y los artículos.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22 reglas del negocio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la empresa, no decisiones técnicas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10911535" cy="621792"/>
          </a:xfrm>
          <a:prstGeom prst="roundRect">
            <a:avLst>
              <a:gd name="adj" fmla="val 735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007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y mascotas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21024" y="1856232"/>
            <a:ext cx="1737360" cy="310896"/>
          </a:xfrm>
          <a:prstGeom prst="roundRect">
            <a:avLst>
              <a:gd name="adj" fmla="val 147059"/>
            </a:avLst>
          </a:prstGeom>
          <a:solidFill>
            <a:srgbClr val="2C7A6B"/>
          </a:solidFill>
          <a:ln w="12700">
            <a:solidFill>
              <a:srgbClr val="2C7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21024" y="18562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RN-01 a RN-04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700784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perfil por persona, un correo por cuenta, contraseñas que nadie puede leer y toda mascota con dueño.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14016"/>
            <a:ext cx="10911535" cy="621792"/>
          </a:xfrm>
          <a:prstGeom prst="roundRect">
            <a:avLst>
              <a:gd name="adj" fmla="val 735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241401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e inventario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21024" y="2569464"/>
            <a:ext cx="1737360" cy="310896"/>
          </a:xfrm>
          <a:prstGeom prst="roundRect">
            <a:avLst>
              <a:gd name="adj" fmla="val 147059"/>
            </a:avLst>
          </a:prstGeom>
          <a:solidFill>
            <a:srgbClr val="2C7A6B"/>
          </a:solidFill>
          <a:ln w="12700">
            <a:solidFill>
              <a:srgbClr val="2C7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25694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RN-05 a RN-08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414016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irrepetible, nunca precio cero, stock que no baja de cero y aviso al llegar al punto de reorden.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27248"/>
            <a:ext cx="10911535" cy="621792"/>
          </a:xfrm>
          <a:prstGeom prst="roundRect">
            <a:avLst>
              <a:gd name="adj" fmla="val 735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312724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Carrito y pedido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21024" y="3282696"/>
            <a:ext cx="1737360" cy="310896"/>
          </a:xfrm>
          <a:prstGeom prst="roundRect">
            <a:avLst>
              <a:gd name="adj" fmla="val 147059"/>
            </a:avLst>
          </a:prstGeom>
          <a:solidFill>
            <a:srgbClr val="2C7A6B"/>
          </a:solidFill>
          <a:ln w="12700">
            <a:solidFill>
              <a:srgbClr val="2C7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21024" y="32826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RN-09 a RN-14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127248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por pedido, cantidades positivas, precio congelado, pedido todo o nada y estados que no se saltan.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10911535" cy="621792"/>
          </a:xfrm>
          <a:prstGeom prst="roundRect">
            <a:avLst>
              <a:gd name="adj" fmla="val 735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38404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Suscripción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21024" y="3995928"/>
            <a:ext cx="1737360" cy="310896"/>
          </a:xfrm>
          <a:prstGeom prst="roundRect">
            <a:avLst>
              <a:gd name="adj" fmla="val 147059"/>
            </a:avLst>
          </a:prstGeom>
          <a:solidFill>
            <a:srgbClr val="2C7A6B"/>
          </a:solidFill>
          <a:ln w="12700">
            <a:solidFill>
              <a:srgbClr val="2C7A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21024" y="3995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RN-15, RN-16, RN-22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840480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pausa o cancela cuando quiera, frecuencia fija de 30 días y sin planes duplicados.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53712"/>
            <a:ext cx="10911535" cy="621792"/>
          </a:xfrm>
          <a:prstGeom prst="roundRect">
            <a:avLst>
              <a:gd name="adj" fmla="val 735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45537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y clínica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21024" y="4709160"/>
            <a:ext cx="1737360" cy="310896"/>
          </a:xfrm>
          <a:prstGeom prst="roundRect">
            <a:avLst>
              <a:gd name="adj" fmla="val 147059"/>
            </a:avLst>
          </a:prstGeom>
          <a:solidFill>
            <a:srgbClr val="2C7A6B"/>
          </a:solidFill>
          <a:ln w="12700">
            <a:solidFill>
              <a:srgbClr val="2C7A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21024" y="4709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RN-17 a RN-20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4553712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horario por veterinario, toda cita con desenlace, una historia por atención y aviso 15 días antes.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266944"/>
            <a:ext cx="10911535" cy="621792"/>
          </a:xfrm>
          <a:prstGeom prst="roundRect">
            <a:avLst>
              <a:gd name="adj" fmla="val 735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" y="52669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21024" y="5422392"/>
            <a:ext cx="1737360" cy="310896"/>
          </a:xfrm>
          <a:prstGeom prst="roundRect">
            <a:avLst>
              <a:gd name="adj" fmla="val 147059"/>
            </a:avLst>
          </a:prstGeom>
          <a:solidFill>
            <a:srgbClr val="2C7A6B"/>
          </a:solidFill>
          <a:ln w="12700">
            <a:solidFill>
              <a:srgbClr val="2C7A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21024" y="54223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RN-21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5266944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 pasa a pagado solo si la pasarela aprueba el cobro.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276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de las 22 reglas tiene al menos una prueba automatizada que se ejecuta contra base de datos real antes de cada entrega.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recorrido de compra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catálogo al pago, paso a paso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036003" cy="2011680"/>
          </a:xfrm>
          <a:prstGeom prst="roundRect">
            <a:avLst>
              <a:gd name="adj" fmla="val 227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9482" y="1883664"/>
            <a:ext cx="457200" cy="457200"/>
          </a:xfrm>
          <a:prstGeom prst="ellipse">
            <a:avLst/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29482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14016"/>
            <a:ext cx="2036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61488"/>
            <a:ext cx="167024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categoría y ve el stock real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58963" y="1719072"/>
            <a:ext cx="2036003" cy="2011680"/>
          </a:xfrm>
          <a:prstGeom prst="roundRect">
            <a:avLst>
              <a:gd name="adj" fmla="val 227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8365" y="1883664"/>
            <a:ext cx="457200" cy="457200"/>
          </a:xfrm>
          <a:prstGeom prst="ellipse">
            <a:avLst/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48365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58963" y="2414016"/>
            <a:ext cx="2036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41843" y="2761488"/>
            <a:ext cx="167024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Acumula, ajusta cantidades, precio congelado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77846" y="1719072"/>
            <a:ext cx="2036003" cy="2011680"/>
          </a:xfrm>
          <a:prstGeom prst="roundRect">
            <a:avLst>
              <a:gd name="adj" fmla="val 2273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67248" y="1883664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6724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77846" y="2414016"/>
            <a:ext cx="2036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60726" y="2761488"/>
            <a:ext cx="167024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nada: bloquea, verifica y descuenta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96729" y="1719072"/>
            <a:ext cx="2036003" cy="2011680"/>
          </a:xfrm>
          <a:prstGeom prst="roundRect">
            <a:avLst>
              <a:gd name="adj" fmla="val 227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86131" y="1883664"/>
            <a:ext cx="457200" cy="457200"/>
          </a:xfrm>
          <a:prstGeom prst="ellipse">
            <a:avLst/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86131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96729" y="2414016"/>
            <a:ext cx="2036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61488"/>
            <a:ext cx="167024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pasarela aprueba o rechaza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15612" y="1719072"/>
            <a:ext cx="2036003" cy="2011680"/>
          </a:xfrm>
          <a:prstGeom prst="roundRect">
            <a:avLst>
              <a:gd name="adj" fmla="val 227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05014" y="1883664"/>
            <a:ext cx="457200" cy="457200"/>
          </a:xfrm>
          <a:prstGeom prst="ellipse">
            <a:avLst/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05014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515612" y="2414016"/>
            <a:ext cx="2036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Recibe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8492" y="2761488"/>
            <a:ext cx="167024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Confirmación, comprobante y alerta de reposición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931920"/>
            <a:ext cx="10911535" cy="1024128"/>
          </a:xfrm>
          <a:prstGeom prst="roundRect">
            <a:avLst>
              <a:gd name="adj" fmla="val 4464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0976" y="3931920"/>
            <a:ext cx="1028974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3 es donde se juega la integridad.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dos clientes compran la última unidad en el mismo instante, el bloqueo por fila garantiza que uno obtenga el pedido y el otro reciba el aviso de falta de stock. El inventario nunca queda en negativo y no se emiten pedidos incompletos.</a:t>
            </a:r>
            <a:endParaRPr lang="en-US" sz="1200" dirty="0"/>
          </a:p>
        </p:txBody>
      </p:sp>
      <p:pic>
        <p:nvPicPr>
          <p:cNvPr id="31" name="Image 0" descr="/home/user/VetPetSurco/docs/capturas-reglas/05-carrito-bloquea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5084064"/>
            <a:ext cx="10911535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Pasarela de pagos y normativa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real sin guardar datos de tarjeta</a:t>
            </a:r>
            <a:endParaRPr lang="en-US" sz="1400" dirty="0"/>
          </a:p>
        </p:txBody>
      </p:sp>
      <p:pic>
        <p:nvPicPr>
          <p:cNvPr id="4" name="Image 0" descr="/tmp/claude-0/-home-user-VetPetSurco/b8d13659-c8d7-578f-913d-52522fae5ff2/scratchpad/ppt/assets/pa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00784"/>
            <a:ext cx="49377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700784"/>
            <a:ext cx="5605272" cy="1828800"/>
          </a:xfrm>
          <a:prstGeom prst="roundRect">
            <a:avLst>
              <a:gd name="adj" fmla="val 250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99632" y="1901952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COBRO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199632" y="2194560"/>
            <a:ext cx="5093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Culqi tras una interfaz propia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199632" y="2651760"/>
            <a:ext cx="5093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pasarela es intercambiable: cambiar de proveedor es escribir otra implementación sin tocar el resto. No guardamos números de tarjeta: solo la marca, los cuatro últimos dígitos y el resultado.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3675888"/>
            <a:ext cx="5605272" cy="2139696"/>
          </a:xfrm>
          <a:prstGeom prst="roundRect">
            <a:avLst>
              <a:gd name="adj" fmla="val 2137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99632" y="3877056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LEGAL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199632" y="4169664"/>
            <a:ext cx="5093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Accesible sin cuenta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199632" y="4626864"/>
            <a:ext cx="50932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y condiciones con el derecho de retracto del Código del Consumidor (Ley 29571) y el libro de reclamaciones.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privacidad conforme a la Ley 29733, con los derechos ARCO.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las transacciones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Capas, porque una sola medida no alcanza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36896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773936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en tránsito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048256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TLS sobre HTTPS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523744"/>
            <a:ext cx="5336896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560320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Contraseñas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834640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un solo sentido: nadie puede leerlas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5336896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346704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 tarjeta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3621024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Tokenizados por la pasarela; no se almacenan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96512"/>
            <a:ext cx="5336896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4133088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ajeno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407408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por perfil: un cliente no entra al panel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882896"/>
            <a:ext cx="5336896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4919472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Falsificación de peticiones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59536" y="5193792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Testigo anti-CSRF en todos los formularios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4720" y="1737360"/>
            <a:ext cx="5336896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4176" y="1773936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Inyección de SQL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34176" y="2048256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parametrizadas, sin concatenar entrada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4720" y="2523744"/>
            <a:ext cx="5336896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34176" y="2560320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Abuso de formularios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34176" y="2834640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peticiones por minuto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4720" y="3310128"/>
            <a:ext cx="5336896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34176" y="3346704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Sobreventa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34176" y="3621024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por fila dentro de la transacción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4720" y="4096512"/>
            <a:ext cx="5336896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34176" y="4133088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de programación futuro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34176" y="4407408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en las propias tablas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4720" y="4882896"/>
            <a:ext cx="5336896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34176" y="4919472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 de configuración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34176" y="5193792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raíz pública apunta a public/, no al proyecto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Gestor de contenidos y marketing digital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un CMS genérico, y cómo se da a conocer el sitio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5336896" cy="2103120"/>
          </a:xfrm>
          <a:prstGeom prst="roundRect">
            <a:avLst>
              <a:gd name="adj" fmla="val 2174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01952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482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Gestor propio, no WordPress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51760"/>
            <a:ext cx="4824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CMS genérico resuelve la vitrina y el carrito, pero no la agenda sin cruces, ni la historia clínica, ni la suscripción que se posterga si falta stock. Habría que desarrollar a medida lo específico, sobre una base ajena.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4720" y="1700784"/>
            <a:ext cx="5336896" cy="2103120"/>
          </a:xfrm>
          <a:prstGeom prst="roundRect">
            <a:avLst>
              <a:gd name="adj" fmla="val 2174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0752" y="1901952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GESTOR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70752" y="2194560"/>
            <a:ext cx="482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piezas, tres editores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70752" y="2651760"/>
            <a:ext cx="4824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Administrador para el contenido diario. Archivos de contenido editorial para el blog y el asistente. Plantillas de presentación con diseño heredado.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31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E-Marketing: cómo llega el cliente y cómo se queda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370832"/>
            <a:ext cx="10911535" cy="402336"/>
          </a:xfrm>
          <a:prstGeom prst="roundRect">
            <a:avLst>
              <a:gd name="adj" fmla="val 11364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4370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Captación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370832"/>
            <a:ext cx="79854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orgánico en redes, campañas segmentadas por distrito y programa de referidos.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911535" cy="402336"/>
          </a:xfrm>
          <a:prstGeom prst="roundRect">
            <a:avLst>
              <a:gd name="adj" fmla="val 11364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48463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Boletín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4846320"/>
            <a:ext cx="79854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 consentimiento expreso, separado de los avisos del servicio, y baja con un clic.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321808"/>
            <a:ext cx="10911535" cy="402336"/>
          </a:xfrm>
          <a:prstGeom prst="roundRect">
            <a:avLst>
              <a:gd name="adj" fmla="val 11364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5321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5321808"/>
            <a:ext cx="79854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por página, Open Graph, enlace canónico, sitemap.xml generado y robots.txt que bloquea la plataforma.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797296"/>
            <a:ext cx="10911535" cy="402336"/>
          </a:xfrm>
          <a:prstGeom prst="roundRect">
            <a:avLst>
              <a:gd name="adj" fmla="val 11364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7824" y="57972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en buscadores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5797296"/>
            <a:ext cx="79854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Google Search Console y Bing Webmaster Tools, enviando el mapa del sitio.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entregable digital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publicado y la evidencia de la plataforma</a:t>
            </a:r>
            <a:endParaRPr lang="en-US" sz="1400" dirty="0"/>
          </a:p>
        </p:txBody>
      </p:sp>
      <p:pic>
        <p:nvPicPr>
          <p:cNvPr id="4" name="Image 0" descr="/tmp/claude-0/-home-user-VetPetSurco/b8d13659-c8d7-578f-913d-52522fae5ff2/scratchpad/ppt/assets/bl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00784"/>
            <a:ext cx="54864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700784"/>
            <a:ext cx="5056632" cy="2286000"/>
          </a:xfrm>
          <a:prstGeom prst="roundRect">
            <a:avLst>
              <a:gd name="adj" fmla="val 200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48272" y="1901952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CORPORATIVO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748272" y="2194560"/>
            <a:ext cx="4544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artículos en /blog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748272" y="2651760"/>
            <a:ext cx="4544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vender en línea · Cómo funciona la suscripción · Las 22 reglas que protegen cada compra · Lo que aprendimos alineando TI con el negocio.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4059936"/>
            <a:ext cx="5056632" cy="1664208"/>
          </a:xfrm>
          <a:prstGeom prst="roundRect">
            <a:avLst>
              <a:gd name="adj" fmla="val 2747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48272" y="4261104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748272" y="4553712"/>
            <a:ext cx="4544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de la simulación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748272" y="5010912"/>
            <a:ext cx="4544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Carrito, carrito bloqueado por stock, pasarela de pago, agenda, historia clínica e inventario, con su regla señalada.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gana la empresa y qué aprendimos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5336896" cy="4023360"/>
          </a:xfrm>
          <a:prstGeom prst="roundRect">
            <a:avLst>
              <a:gd name="adj" fmla="val 1136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01952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COMPETITIVAS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482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gana el negocio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51760"/>
            <a:ext cx="482483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ingreso deja de depender del tránsito peatonal: una parte del mes siguiente se conoce por adelantado.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opera fuera del horario del local, sin ampliar la planilla.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deja de perderse: el historial pasa de archivo muerto a generar ingresos.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comunicación propio, sin pagar por cada contacto.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dejan de depender de las personas.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4720" y="1700784"/>
            <a:ext cx="5336896" cy="4023360"/>
          </a:xfrm>
          <a:prstGeom prst="roundRect">
            <a:avLst>
              <a:gd name="adj" fmla="val 1136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0752" y="1901952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70752" y="2194560"/>
            <a:ext cx="482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dejó el proyecto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70752" y="2651760"/>
            <a:ext cx="482483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requerimiento manda y la tecnología obedece.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no es resolver: el semáforo no repone.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también sirve para descubrir requerimientos.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mide, no se entregó.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lo que queda fuera es parte del trabajo.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283464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reglas del negocio viven en el sistema.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3566160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 la pantalla ni en la memoria del personal: por eso se comprueban solas. Y por eso una veterinaria de barrio puede saber, antes de que empiece el mes, cuánto va a facturar.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206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 Brahams Paredes Paulino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 ·  E-Business  ·  Instituto Superior SISE  ·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Instituto Superior SISE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VetPet Connect - Trabajo Final de E-Business</dc:title>
  <dc:subject>PptxGenJS Presentation</dc:subject>
  <dc:creator>Antony Brahams Paredes Paulino</dc:creator>
  <cp:lastModifiedBy>Antony Brahams Paredes Paulino</cp:lastModifiedBy>
  <cp:revision>1</cp:revision>
  <dcterms:created xsi:type="dcterms:W3CDTF">2026-10-13T01:59:45Z</dcterms:created>
  <dcterms:modified xsi:type="dcterms:W3CDTF">2026-10-13T01:59:45Z</dcterms:modified>
</cp:coreProperties>
</file>